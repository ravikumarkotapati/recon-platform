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 id="2157483763" r:id="rId2"/>
  </p:sldMasterIdLst>
  <p:notesMasterIdLst>
    <p:notesMasterId r:id="rId29"/>
  </p:notesMasterIdLst>
  <p:sldIdLst>
    <p:sldId id="256" r:id="rId3"/>
    <p:sldId id="257" r:id="rId4"/>
    <p:sldId id="258" r:id="rId5"/>
    <p:sldId id="275" r:id="rId6"/>
    <p:sldId id="274" r:id="rId7"/>
    <p:sldId id="276" r:id="rId8"/>
    <p:sldId id="297" r:id="rId9"/>
    <p:sldId id="298" r:id="rId10"/>
    <p:sldId id="277" r:id="rId11"/>
    <p:sldId id="278" r:id="rId12"/>
    <p:sldId id="279" r:id="rId13"/>
    <p:sldId id="280" r:id="rId14"/>
    <p:sldId id="281" r:id="rId15"/>
    <p:sldId id="282" r:id="rId16"/>
    <p:sldId id="283" r:id="rId17"/>
    <p:sldId id="284" r:id="rId18"/>
    <p:sldId id="287" r:id="rId19"/>
    <p:sldId id="288" r:id="rId20"/>
    <p:sldId id="289" r:id="rId21"/>
    <p:sldId id="290" r:id="rId22"/>
    <p:sldId id="291" r:id="rId23"/>
    <p:sldId id="292" r:id="rId24"/>
    <p:sldId id="294" r:id="rId25"/>
    <p:sldId id="295" r:id="rId26"/>
    <p:sldId id="296" r:id="rId27"/>
    <p:sldId id="273" r:id="rId2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8" d="100"/>
          <a:sy n="98" d="100"/>
        </p:scale>
        <p:origin x="1038" y="43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11.05.2026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0A7C0-03D5-31C3-B65E-2D5B6C28F9F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6261A93-B0C4-CC96-696A-A6F3A73E27D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32251EC-8CC5-3525-BF66-6E548F5FADA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A783AC56-1B86-5EB4-A03C-4A7349E56A4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45B4F40-C70D-5E3B-229D-9D94ACE8AC7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a:extLst>
              <a:ext uri="{FF2B5EF4-FFF2-40B4-BE49-F238E27FC236}">
                <a16:creationId xmlns:a16="http://schemas.microsoft.com/office/drawing/2014/main" id="{C9B2ACDD-CFBE-FB26-DF2A-D4CEF377193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B049871D-E6B8-0805-3371-162BEE54191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995246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13F339-13B2-D755-E456-25CC4C8591D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49631E73-1FE0-7F9D-CAB3-5D24E8C0CB4A}"/>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792BD4A5-C008-6C57-5349-330C6D03D592}"/>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7FFC51B-7F16-DB97-CEDA-164A1CC72781}"/>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B5FC0FA-DFB6-3058-9821-1F95FBE8B83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a:extLst>
              <a:ext uri="{FF2B5EF4-FFF2-40B4-BE49-F238E27FC236}">
                <a16:creationId xmlns:a16="http://schemas.microsoft.com/office/drawing/2014/main" id="{6F653994-5C42-33C1-F319-4814F34B56B2}"/>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014992A-09B4-94C6-DF58-20877723586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192383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标题幻灯片" type="title">
  <p:cSld name="TITLE">
    <p:spTree>
      <p:nvGrpSpPr>
        <p:cNvPr id="1" name="Shape 11"/>
        <p:cNvGrpSpPr/>
        <p:nvPr/>
      </p:nvGrpSpPr>
      <p:grpSpPr>
        <a:xfrm>
          <a:off x="0" y="0"/>
          <a:ext cx="0" cy="0"/>
          <a:chOff x="0" y="0"/>
          <a:chExt cx="0" cy="0"/>
        </a:xfrm>
      </p:grpSpPr>
      <p:sp>
        <p:nvSpPr>
          <p:cNvPr id="12" name="Shape 3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3" name="Shape 31"/>
          <p:cNvSpPr txBox="1">
            <a:spLocks noGrp="1"/>
          </p:cNvSpPr>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4" name="Shape 3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5" name="Shape 3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6" name="Shape 3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标题和内容" type="obj">
  <p:cSld name="OBJECT">
    <p:spTree>
      <p:nvGrpSpPr>
        <p:cNvPr id="1" name="Shape 17"/>
        <p:cNvGrpSpPr/>
        <p:nvPr/>
      </p:nvGrpSpPr>
      <p:grpSpPr>
        <a:xfrm>
          <a:off x="0" y="0"/>
          <a:ext cx="0" cy="0"/>
          <a:chOff x="0" y="0"/>
          <a:chExt cx="0" cy="0"/>
        </a:xfrm>
      </p:grpSpPr>
      <p:sp>
        <p:nvSpPr>
          <p:cNvPr id="18" name="Shape 54"/>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9" name="Shape 55"/>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 name="Shape 5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 name="Shape 5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 name="Shape 5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节标题" type="secHead">
  <p:cSld name="SECTION_HEADER">
    <p:spTree>
      <p:nvGrpSpPr>
        <p:cNvPr id="1" name="Shape 23"/>
        <p:cNvGrpSpPr/>
        <p:nvPr/>
      </p:nvGrpSpPr>
      <p:grpSpPr>
        <a:xfrm>
          <a:off x="0" y="0"/>
          <a:ext cx="0" cy="0"/>
          <a:chOff x="0" y="0"/>
          <a:chExt cx="0" cy="0"/>
        </a:xfrm>
      </p:grpSpPr>
      <p:sp>
        <p:nvSpPr>
          <p:cNvPr id="24" name="Shape 59"/>
          <p:cNvSpPr txBox="1">
            <a:spLocks noGrp="1"/>
          </p:cNvSpPr>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5" name="Shape 60"/>
          <p:cNvSpPr txBox="1">
            <a:spLocks noGrp="1"/>
          </p:cNvSpPr>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Shape 6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7" name="Shape 6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8" name="Shape 6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两栏内容" type="twoObj">
  <p:cSld name="TWO_OBJECTS">
    <p:spTree>
      <p:nvGrpSpPr>
        <p:cNvPr id="1" name="Shape 29"/>
        <p:cNvGrpSpPr/>
        <p:nvPr/>
      </p:nvGrpSpPr>
      <p:grpSpPr>
        <a:xfrm>
          <a:off x="0" y="0"/>
          <a:ext cx="0" cy="0"/>
          <a:chOff x="0" y="0"/>
          <a:chExt cx="0" cy="0"/>
        </a:xfrm>
      </p:grpSpPr>
      <p:sp>
        <p:nvSpPr>
          <p:cNvPr id="30" name="Shape 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1" name="Shape 10"/>
          <p:cNvSpPr txBox="1">
            <a:spLocks noGrp="1"/>
          </p:cNvSpPr>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Shape 11"/>
          <p:cNvSpPr txBox="1">
            <a:spLocks noGrp="1"/>
          </p:cNvSpPr>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Shape 1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4" name="Shape 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5" name="Shape 1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较" type="twoTxTwoObj">
  <p:cSld name="TWO_OBJECTS_WITH_TEXT">
    <p:spTree>
      <p:nvGrpSpPr>
        <p:cNvPr id="1" name="Shape 36"/>
        <p:cNvGrpSpPr/>
        <p:nvPr/>
      </p:nvGrpSpPr>
      <p:grpSpPr>
        <a:xfrm>
          <a:off x="0" y="0"/>
          <a:ext cx="0" cy="0"/>
          <a:chOff x="0" y="0"/>
          <a:chExt cx="0" cy="0"/>
        </a:xfrm>
      </p:grpSpPr>
      <p:sp>
        <p:nvSpPr>
          <p:cNvPr id="37" name="Shape 35"/>
          <p:cNvSpPr txBox="1">
            <a:spLocks noGrp="1"/>
          </p:cNvSpPr>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8" name="Shape 36"/>
          <p:cNvSpPr txBox="1">
            <a:spLocks noGrp="1"/>
          </p:cNvSpPr>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Shape 37"/>
          <p:cNvSpPr txBox="1">
            <a:spLocks noGrp="1"/>
          </p:cNvSpPr>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Shape 38"/>
          <p:cNvSpPr txBox="1">
            <a:spLocks noGrp="1"/>
          </p:cNvSpPr>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Shape 39"/>
          <p:cNvSpPr txBox="1">
            <a:spLocks noGrp="1"/>
          </p:cNvSpPr>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Shape 40"/>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3" name="Shape 41"/>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4" name="Shape 42"/>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仅标题" type="titleOnly">
  <p:cSld name="TITLE_ONLY">
    <p:spTree>
      <p:nvGrpSpPr>
        <p:cNvPr id="1" name="Shape 45"/>
        <p:cNvGrpSpPr/>
        <p:nvPr/>
      </p:nvGrpSpPr>
      <p:grpSpPr>
        <a:xfrm>
          <a:off x="0" y="0"/>
          <a:ext cx="0" cy="0"/>
          <a:chOff x="0" y="0"/>
          <a:chExt cx="0" cy="0"/>
        </a:xfrm>
      </p:grpSpPr>
      <p:sp>
        <p:nvSpPr>
          <p:cNvPr id="46" name="Shape 20"/>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47" name="Shape 2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8" name="Shape 2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9" name="Shape 2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空白" type="blank">
  <p:cSld name="BLANK">
    <p:spTree>
      <p:nvGrpSpPr>
        <p:cNvPr id="1" name="Shape 50"/>
        <p:cNvGrpSpPr/>
        <p:nvPr/>
      </p:nvGrpSpPr>
      <p:grpSpPr>
        <a:xfrm>
          <a:off x="0" y="0"/>
          <a:ext cx="0" cy="0"/>
          <a:chOff x="0" y="0"/>
          <a:chExt cx="0" cy="0"/>
        </a:xfrm>
      </p:grpSpPr>
      <p:sp>
        <p:nvSpPr>
          <p:cNvPr id="51" name="Shape 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2" name="Shape 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3" name="Shape 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内容与标题" type="objTx">
  <p:cSld name="OBJECT_WITH_CAPTION_TEXT">
    <p:spTree>
      <p:nvGrpSpPr>
        <p:cNvPr id="1" name="Shape 54"/>
        <p:cNvGrpSpPr/>
        <p:nvPr/>
      </p:nvGrpSpPr>
      <p:grpSpPr>
        <a:xfrm>
          <a:off x="0" y="0"/>
          <a:ext cx="0" cy="0"/>
          <a:chOff x="0" y="0"/>
          <a:chExt cx="0" cy="0"/>
        </a:xfrm>
      </p:grpSpPr>
      <p:sp>
        <p:nvSpPr>
          <p:cNvPr id="55" name="Shape 43"/>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56" name="Shape 44"/>
          <p:cNvSpPr txBox="1">
            <a:spLocks noGrp="1"/>
          </p:cNvSpPr>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7" name="Shape 45"/>
          <p:cNvSpPr txBox="1">
            <a:spLocks noGrp="1"/>
          </p:cNvSpPr>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8" name="Shape 4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9" name="Shape 4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0" name="Shape 4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图片与标题" type="picTx">
  <p:cSld name="PICTURE_WITH_CAPTION_TEXT">
    <p:spTree>
      <p:nvGrpSpPr>
        <p:cNvPr id="1" name="Shape 61"/>
        <p:cNvGrpSpPr/>
        <p:nvPr/>
      </p:nvGrpSpPr>
      <p:grpSpPr>
        <a:xfrm>
          <a:off x="0" y="0"/>
          <a:ext cx="0" cy="0"/>
          <a:chOff x="0" y="0"/>
          <a:chExt cx="0" cy="0"/>
        </a:xfrm>
      </p:grpSpPr>
      <p:sp>
        <p:nvSpPr>
          <p:cNvPr id="62" name="Shape 24"/>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63" name="Shape 25"/>
          <p:cNvSpPr>
            <a:spLocks noGrp="1"/>
          </p:cNvSpPr>
          <p:nvPr>
            <p:ph type="pic" idx="2"/>
          </p:nvPr>
        </p:nvSpPr>
        <p:spPr>
          <a:xfrm>
            <a:off x="3887391" y="740569"/>
            <a:ext cx="4629150" cy="3655219"/>
          </a:xfrm>
          <a:prstGeom prst="rect">
            <a:avLst/>
          </a:prstGeom>
          <a:noFill/>
          <a:ln>
            <a:noFill/>
          </a:ln>
        </p:spPr>
      </p:sp>
      <p:sp>
        <p:nvSpPr>
          <p:cNvPr id="64" name="Shape 26"/>
          <p:cNvSpPr txBox="1">
            <a:spLocks noGrp="1"/>
          </p:cNvSpPr>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5" name="Shape 2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6" name="Shape 2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7" name="Shape 2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标题和竖排文字" type="vertTx">
  <p:cSld name="VERTICAL_TEXT">
    <p:spTree>
      <p:nvGrpSpPr>
        <p:cNvPr id="1" name="Shape 68"/>
        <p:cNvGrpSpPr/>
        <p:nvPr/>
      </p:nvGrpSpPr>
      <p:grpSpPr>
        <a:xfrm>
          <a:off x="0" y="0"/>
          <a:ext cx="0" cy="0"/>
          <a:chOff x="0" y="0"/>
          <a:chExt cx="0" cy="0"/>
        </a:xfrm>
      </p:grpSpPr>
      <p:sp>
        <p:nvSpPr>
          <p:cNvPr id="69" name="Shape 4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0" name="Shape 50"/>
          <p:cNvSpPr txBox="1">
            <a:spLocks noGrp="1"/>
          </p:cNvSpPr>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1" name="Shape 5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2" name="Shape 5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3" name="Shape 5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竖排标题与文本" type="vertTitleAndTx">
  <p:cSld name="VERTICAL_TITLE_AND_VERTICAL_TEXT">
    <p:spTree>
      <p:nvGrpSpPr>
        <p:cNvPr id="1" name="Shape 74"/>
        <p:cNvGrpSpPr/>
        <p:nvPr/>
      </p:nvGrpSpPr>
      <p:grpSpPr>
        <a:xfrm>
          <a:off x="0" y="0"/>
          <a:ext cx="0" cy="0"/>
          <a:chOff x="0" y="0"/>
          <a:chExt cx="0" cy="0"/>
        </a:xfrm>
      </p:grpSpPr>
      <p:sp>
        <p:nvSpPr>
          <p:cNvPr id="75" name="Shape 15"/>
          <p:cNvSpPr txBox="1">
            <a:spLocks noGrp="1"/>
          </p:cNvSpPr>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6" name="Shape 16"/>
          <p:cNvSpPr txBox="1">
            <a:spLocks noGrp="1"/>
          </p:cNvSpPr>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7" name="Shape 1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8" name="Shape 1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9" name="Shape 1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818F4-9B51-FFBD-ABEB-4CAF39D70E7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8A2855-FC7D-718B-9E44-D32447E37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CAF173-DFF1-1226-FE9F-A989B50BAC60}"/>
              </a:ext>
            </a:extLst>
          </p:cNvPr>
          <p:cNvSpPr>
            <a:spLocks noGrp="1"/>
          </p:cNvSpPr>
          <p:nvPr>
            <p:ph type="dt" sz="half" idx="10"/>
          </p:nvPr>
        </p:nvSpPr>
        <p:spPr/>
        <p:txBody>
          <a:bodyPr/>
          <a:lstStyle/>
          <a:p>
            <a:fld id="{2ED708D7-D1F8-4BDF-A1AA-9E222B9877F5}" type="datetimeFigureOut">
              <a:rPr lang="en-US" smtClean="0"/>
              <a:t>5/11/2026</a:t>
            </a:fld>
            <a:endParaRPr lang="en-US"/>
          </a:p>
        </p:txBody>
      </p:sp>
      <p:sp>
        <p:nvSpPr>
          <p:cNvPr id="5" name="Footer Placeholder 4">
            <a:extLst>
              <a:ext uri="{FF2B5EF4-FFF2-40B4-BE49-F238E27FC236}">
                <a16:creationId xmlns:a16="http://schemas.microsoft.com/office/drawing/2014/main" id="{C47D3379-8875-343E-1244-296777C99D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0531D4-ED5E-BB23-115C-251A8064BA9C}"/>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3998895845"/>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A9EB2-BEB0-07A3-30E2-C505ADB5A6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D1851D-30AE-A2C0-B827-2C51A97C18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47D021-5DF5-D841-79CB-61AB885E9DB3}"/>
              </a:ext>
            </a:extLst>
          </p:cNvPr>
          <p:cNvSpPr>
            <a:spLocks noGrp="1"/>
          </p:cNvSpPr>
          <p:nvPr>
            <p:ph type="dt" sz="half" idx="10"/>
          </p:nvPr>
        </p:nvSpPr>
        <p:spPr/>
        <p:txBody>
          <a:bodyPr/>
          <a:lstStyle/>
          <a:p>
            <a:fld id="{2ED708D7-D1F8-4BDF-A1AA-9E222B9877F5}" type="datetimeFigureOut">
              <a:rPr lang="en-US" smtClean="0"/>
              <a:t>5/11/2026</a:t>
            </a:fld>
            <a:endParaRPr lang="en-US"/>
          </a:p>
        </p:txBody>
      </p:sp>
      <p:sp>
        <p:nvSpPr>
          <p:cNvPr id="5" name="Footer Placeholder 4">
            <a:extLst>
              <a:ext uri="{FF2B5EF4-FFF2-40B4-BE49-F238E27FC236}">
                <a16:creationId xmlns:a16="http://schemas.microsoft.com/office/drawing/2014/main" id="{F8CD7692-CF96-1895-D1BB-9D465D13EF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58C8D5-4C1A-5F52-2F53-3981CCAFDAE5}"/>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275416191"/>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328E3-E158-A76A-9929-337ED2D7C2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CF6F2DA-1732-95BB-4AEC-6DB80C9E84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FCF973C-167B-1620-5690-9A94B8069632}"/>
              </a:ext>
            </a:extLst>
          </p:cNvPr>
          <p:cNvSpPr>
            <a:spLocks noGrp="1"/>
          </p:cNvSpPr>
          <p:nvPr>
            <p:ph type="dt" sz="half" idx="10"/>
          </p:nvPr>
        </p:nvSpPr>
        <p:spPr/>
        <p:txBody>
          <a:bodyPr/>
          <a:lstStyle/>
          <a:p>
            <a:fld id="{2ED708D7-D1F8-4BDF-A1AA-9E222B9877F5}" type="datetimeFigureOut">
              <a:rPr lang="en-US" smtClean="0"/>
              <a:t>5/11/2026</a:t>
            </a:fld>
            <a:endParaRPr lang="en-US"/>
          </a:p>
        </p:txBody>
      </p:sp>
      <p:sp>
        <p:nvSpPr>
          <p:cNvPr id="5" name="Footer Placeholder 4">
            <a:extLst>
              <a:ext uri="{FF2B5EF4-FFF2-40B4-BE49-F238E27FC236}">
                <a16:creationId xmlns:a16="http://schemas.microsoft.com/office/drawing/2014/main" id="{03C0A857-5B30-3745-9472-1DDCF4F4CC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24BD30-CF69-4533-27F9-F3A7ECC40CDB}"/>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3498027887"/>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672822-6E39-7332-ED8A-32C8C2D6E9D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D014D2D-2F6E-89EE-562C-0BE6A207995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6946757-07FC-8EC0-DC6A-07176DCD1B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798474-02C3-0430-D28F-2031AA4EDB22}"/>
              </a:ext>
            </a:extLst>
          </p:cNvPr>
          <p:cNvSpPr>
            <a:spLocks noGrp="1"/>
          </p:cNvSpPr>
          <p:nvPr>
            <p:ph type="dt" sz="half" idx="10"/>
          </p:nvPr>
        </p:nvSpPr>
        <p:spPr/>
        <p:txBody>
          <a:bodyPr/>
          <a:lstStyle/>
          <a:p>
            <a:fld id="{2ED708D7-D1F8-4BDF-A1AA-9E222B9877F5}" type="datetimeFigureOut">
              <a:rPr lang="en-US" smtClean="0"/>
              <a:t>5/11/2026</a:t>
            </a:fld>
            <a:endParaRPr lang="en-US"/>
          </a:p>
        </p:txBody>
      </p:sp>
      <p:sp>
        <p:nvSpPr>
          <p:cNvPr id="6" name="Footer Placeholder 5">
            <a:extLst>
              <a:ext uri="{FF2B5EF4-FFF2-40B4-BE49-F238E27FC236}">
                <a16:creationId xmlns:a16="http://schemas.microsoft.com/office/drawing/2014/main" id="{E64E76DA-AD43-FB85-CBA0-3C7B22DE16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A06568-5A6B-0435-55F2-75DCA502CC5D}"/>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3075856412"/>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483F3-1750-6F54-D698-8EBC902B5A4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ECFB02-D2D2-59B6-8C6F-C397852D3C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7653394-B80C-CF5E-0537-8ECD83ECFD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71936F-6371-7337-9FBF-9501BB4DF6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DDE7CE-530D-D73B-6AD8-A360F38B43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D4943B-650B-ECF0-D086-16E61D88189D}"/>
              </a:ext>
            </a:extLst>
          </p:cNvPr>
          <p:cNvSpPr>
            <a:spLocks noGrp="1"/>
          </p:cNvSpPr>
          <p:nvPr>
            <p:ph type="dt" sz="half" idx="10"/>
          </p:nvPr>
        </p:nvSpPr>
        <p:spPr/>
        <p:txBody>
          <a:bodyPr/>
          <a:lstStyle/>
          <a:p>
            <a:fld id="{2ED708D7-D1F8-4BDF-A1AA-9E222B9877F5}" type="datetimeFigureOut">
              <a:rPr lang="en-US" smtClean="0"/>
              <a:t>5/11/2026</a:t>
            </a:fld>
            <a:endParaRPr lang="en-US"/>
          </a:p>
        </p:txBody>
      </p:sp>
      <p:sp>
        <p:nvSpPr>
          <p:cNvPr id="8" name="Footer Placeholder 7">
            <a:extLst>
              <a:ext uri="{FF2B5EF4-FFF2-40B4-BE49-F238E27FC236}">
                <a16:creationId xmlns:a16="http://schemas.microsoft.com/office/drawing/2014/main" id="{9940A044-33AC-F4D0-B2B7-F8D2A90C84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989F98-05A1-25FA-94F4-4708FEF25D87}"/>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4281285433"/>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0FC89-7470-9C10-93FF-AC5233620A7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A154219-5644-5DD9-D0DF-48B2930E8FD0}"/>
              </a:ext>
            </a:extLst>
          </p:cNvPr>
          <p:cNvSpPr>
            <a:spLocks noGrp="1"/>
          </p:cNvSpPr>
          <p:nvPr>
            <p:ph type="dt" sz="half" idx="10"/>
          </p:nvPr>
        </p:nvSpPr>
        <p:spPr/>
        <p:txBody>
          <a:bodyPr/>
          <a:lstStyle/>
          <a:p>
            <a:fld id="{2ED708D7-D1F8-4BDF-A1AA-9E222B9877F5}" type="datetimeFigureOut">
              <a:rPr lang="en-US" smtClean="0"/>
              <a:t>5/11/2026</a:t>
            </a:fld>
            <a:endParaRPr lang="en-US"/>
          </a:p>
        </p:txBody>
      </p:sp>
      <p:sp>
        <p:nvSpPr>
          <p:cNvPr id="4" name="Footer Placeholder 3">
            <a:extLst>
              <a:ext uri="{FF2B5EF4-FFF2-40B4-BE49-F238E27FC236}">
                <a16:creationId xmlns:a16="http://schemas.microsoft.com/office/drawing/2014/main" id="{DB9555A0-BAB0-C4C9-2B64-5001BC34796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1195E53-F2F6-F2A9-2F5E-DA95F15C47D9}"/>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595122614"/>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13F09D7-BE28-9439-2689-CE7EEF665D0E}"/>
              </a:ext>
            </a:extLst>
          </p:cNvPr>
          <p:cNvSpPr>
            <a:spLocks noGrp="1"/>
          </p:cNvSpPr>
          <p:nvPr>
            <p:ph type="dt" sz="half" idx="10"/>
          </p:nvPr>
        </p:nvSpPr>
        <p:spPr/>
        <p:txBody>
          <a:bodyPr/>
          <a:lstStyle/>
          <a:p>
            <a:fld id="{161B1412-6706-42F6-851C-DD42227CC309}" type="datetimeFigureOut">
              <a:rPr lang="en-US" smtClean="0"/>
              <a:t>5/11/2026</a:t>
            </a:fld>
            <a:endParaRPr lang="en-US"/>
          </a:p>
        </p:txBody>
      </p:sp>
      <p:sp>
        <p:nvSpPr>
          <p:cNvPr id="3" name="Footer Placeholder 2">
            <a:extLst>
              <a:ext uri="{FF2B5EF4-FFF2-40B4-BE49-F238E27FC236}">
                <a16:creationId xmlns:a16="http://schemas.microsoft.com/office/drawing/2014/main" id="{506AF31A-B4E5-18BB-687D-A71E9F9F0EE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E08795-5646-5B04-73F4-F219A0AE95BC}"/>
              </a:ext>
            </a:extLst>
          </p:cNvPr>
          <p:cNvSpPr>
            <a:spLocks noGrp="1"/>
          </p:cNvSpPr>
          <p:nvPr>
            <p:ph type="sldNum" sz="quarter" idx="12"/>
          </p:nvPr>
        </p:nvSpPr>
        <p:spPr/>
        <p:txBody>
          <a:bodyPr/>
          <a:lstStyle/>
          <a:p>
            <a:fld id="{33A82F04-C584-4F96-A406-6BD08FCADB53}" type="slidenum">
              <a:rPr lang="en-US" smtClean="0"/>
              <a:t>‹#›</a:t>
            </a:fld>
            <a:endParaRPr lang="en-US"/>
          </a:p>
        </p:txBody>
      </p:sp>
    </p:spTree>
    <p:extLst>
      <p:ext uri="{BB962C8B-B14F-4D97-AF65-F5344CB8AC3E}">
        <p14:creationId xmlns:p14="http://schemas.microsoft.com/office/powerpoint/2010/main" val="118308630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FE81E-AE82-F358-E83C-DC1BAE0E16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DEF983E-1CDB-C924-3D25-7AF79A4C3B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213232B-9A77-B86B-5101-E50BA8BCCA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F53AAD4-0DF1-2C6D-D672-E455EBBBF3E2}"/>
              </a:ext>
            </a:extLst>
          </p:cNvPr>
          <p:cNvSpPr>
            <a:spLocks noGrp="1"/>
          </p:cNvSpPr>
          <p:nvPr>
            <p:ph type="dt" sz="half" idx="10"/>
          </p:nvPr>
        </p:nvSpPr>
        <p:spPr/>
        <p:txBody>
          <a:bodyPr/>
          <a:lstStyle/>
          <a:p>
            <a:fld id="{2ED708D7-D1F8-4BDF-A1AA-9E222B9877F5}" type="datetimeFigureOut">
              <a:rPr lang="en-US" smtClean="0"/>
              <a:t>5/11/2026</a:t>
            </a:fld>
            <a:endParaRPr lang="en-US"/>
          </a:p>
        </p:txBody>
      </p:sp>
      <p:sp>
        <p:nvSpPr>
          <p:cNvPr id="6" name="Footer Placeholder 5">
            <a:extLst>
              <a:ext uri="{FF2B5EF4-FFF2-40B4-BE49-F238E27FC236}">
                <a16:creationId xmlns:a16="http://schemas.microsoft.com/office/drawing/2014/main" id="{39228B2B-8948-B40F-F290-AACF62EA4A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BF3642-3556-2B14-9CB7-672EEB5E835E}"/>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1021138677"/>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CD337-C5D7-7B56-00CA-03E3D7068B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04DA82-548D-D702-21C6-61804AD3A7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110B6F-9C19-B877-0924-7A779B4902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FB506AA-49B5-E61E-00F8-9931BE37E21C}"/>
              </a:ext>
            </a:extLst>
          </p:cNvPr>
          <p:cNvSpPr>
            <a:spLocks noGrp="1"/>
          </p:cNvSpPr>
          <p:nvPr>
            <p:ph type="dt" sz="half" idx="10"/>
          </p:nvPr>
        </p:nvSpPr>
        <p:spPr/>
        <p:txBody>
          <a:bodyPr/>
          <a:lstStyle/>
          <a:p>
            <a:fld id="{2ED708D7-D1F8-4BDF-A1AA-9E222B9877F5}" type="datetimeFigureOut">
              <a:rPr lang="en-US" smtClean="0"/>
              <a:t>5/11/2026</a:t>
            </a:fld>
            <a:endParaRPr lang="en-US"/>
          </a:p>
        </p:txBody>
      </p:sp>
      <p:sp>
        <p:nvSpPr>
          <p:cNvPr id="6" name="Footer Placeholder 5">
            <a:extLst>
              <a:ext uri="{FF2B5EF4-FFF2-40B4-BE49-F238E27FC236}">
                <a16:creationId xmlns:a16="http://schemas.microsoft.com/office/drawing/2014/main" id="{7A7D47B7-D617-E141-875B-DC2DAF31BC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C28C68-A5D2-8C26-3688-EC16D5B9E60A}"/>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1484773733"/>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0BE97-1D3A-497E-0876-7DA736DC032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41A7653-2BA7-13B5-4808-92FF45CD2E0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6043D35-6853-569D-F80C-7FD66DEC5FA3}"/>
              </a:ext>
            </a:extLst>
          </p:cNvPr>
          <p:cNvSpPr>
            <a:spLocks noGrp="1"/>
          </p:cNvSpPr>
          <p:nvPr>
            <p:ph type="dt" sz="half" idx="10"/>
          </p:nvPr>
        </p:nvSpPr>
        <p:spPr/>
        <p:txBody>
          <a:bodyPr/>
          <a:lstStyle/>
          <a:p>
            <a:fld id="{2ED708D7-D1F8-4BDF-A1AA-9E222B9877F5}" type="datetimeFigureOut">
              <a:rPr lang="en-US" smtClean="0"/>
              <a:t>5/11/2026</a:t>
            </a:fld>
            <a:endParaRPr lang="en-US"/>
          </a:p>
        </p:txBody>
      </p:sp>
      <p:sp>
        <p:nvSpPr>
          <p:cNvPr id="5" name="Footer Placeholder 4">
            <a:extLst>
              <a:ext uri="{FF2B5EF4-FFF2-40B4-BE49-F238E27FC236}">
                <a16:creationId xmlns:a16="http://schemas.microsoft.com/office/drawing/2014/main" id="{AF8B34E2-80D9-AE6E-A568-4DADE84866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C57F41-D1A4-BBCD-87A7-C87CBF3E82A5}"/>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2605842209"/>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400029-B0CF-A7DF-D128-07CF511773C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B42B8D-083A-B895-0B91-7E0409C5F01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FCBCB-0C41-057D-825B-3491DC07949F}"/>
              </a:ext>
            </a:extLst>
          </p:cNvPr>
          <p:cNvSpPr>
            <a:spLocks noGrp="1"/>
          </p:cNvSpPr>
          <p:nvPr>
            <p:ph type="dt" sz="half" idx="10"/>
          </p:nvPr>
        </p:nvSpPr>
        <p:spPr/>
        <p:txBody>
          <a:bodyPr/>
          <a:lstStyle/>
          <a:p>
            <a:fld id="{2ED708D7-D1F8-4BDF-A1AA-9E222B9877F5}" type="datetimeFigureOut">
              <a:rPr lang="en-US" smtClean="0"/>
              <a:t>5/11/2026</a:t>
            </a:fld>
            <a:endParaRPr lang="en-US"/>
          </a:p>
        </p:txBody>
      </p:sp>
      <p:sp>
        <p:nvSpPr>
          <p:cNvPr id="5" name="Footer Placeholder 4">
            <a:extLst>
              <a:ext uri="{FF2B5EF4-FFF2-40B4-BE49-F238E27FC236}">
                <a16:creationId xmlns:a16="http://schemas.microsoft.com/office/drawing/2014/main" id="{8CDD2113-DE03-393E-F1CB-1A30ED0877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D81DCA-070D-5CBE-457A-7FD5C9C19B4B}"/>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2429097174"/>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419874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AF41A-BD52-894B-7746-6E4620AC675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788D35A-1EB9-E331-02E9-16E0B4DF0DC8}"/>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CBD1A98B-4F20-AE07-FFDC-CCB9605C83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58B99B-560B-8263-D45C-3C443F91F88A}"/>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altLang="zh-CN" smtClean="0"/>
              <a:t>‹#›</a:t>
            </a:fld>
            <a:endParaRPr lang="zh-CN" altLang="en-US"/>
          </a:p>
        </p:txBody>
      </p:sp>
    </p:spTree>
    <p:extLst>
      <p:ext uri="{BB962C8B-B14F-4D97-AF65-F5344CB8AC3E}">
        <p14:creationId xmlns:p14="http://schemas.microsoft.com/office/powerpoint/2010/main" val="329601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1"/>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a:buNone/>
              <a:defRPr sz="3300" b="0" i="0" u="none" strike="noStrike" cap="none">
                <a:solidFill>
                  <a:schemeClr val="dk1"/>
                </a:solidFill>
                <a:latin typeface="Arial"/>
                <a:ea typeface="Arial"/>
                <a:cs typeface="Arial"/>
                <a:sym typeface="Arial"/>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7" name="Shape 2"/>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9pPr>
          </a:lstStyle>
          <a:p>
            <a:endParaRPr/>
          </a:p>
        </p:txBody>
      </p:sp>
      <p:sp>
        <p:nvSpPr>
          <p:cNvPr id="8" name="Shape 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a:ea typeface="Arial"/>
                <a:cs typeface="Arial"/>
                <a:sym typeface="Arial"/>
              </a:defRPr>
            </a:lvl1pPr>
            <a:lvl2pPr marR="0" lvl="1" algn="l" rtl="0">
              <a:spcBef>
                <a:spcPts val="0"/>
              </a:spcBef>
              <a:spcAft>
                <a:spcPts val="0"/>
              </a:spcAft>
              <a:buSzPts val="1100"/>
              <a:buNone/>
              <a:defRPr sz="1400" b="0" i="0" u="none" strike="noStrike" cap="none">
                <a:solidFill>
                  <a:schemeClr val="dk1"/>
                </a:solidFill>
                <a:latin typeface="Arial"/>
                <a:ea typeface="Arial"/>
                <a:cs typeface="Arial"/>
                <a:sym typeface="Arial"/>
              </a:defRPr>
            </a:lvl2pPr>
            <a:lvl3pPr marR="0" lvl="2" algn="l" rtl="0">
              <a:spcBef>
                <a:spcPts val="0"/>
              </a:spcBef>
              <a:spcAft>
                <a:spcPts val="0"/>
              </a:spcAft>
              <a:buSzPts val="1100"/>
              <a:buNone/>
              <a:defRPr sz="1400" b="0" i="0" u="none" strike="noStrike" cap="none">
                <a:solidFill>
                  <a:schemeClr val="dk1"/>
                </a:solidFill>
                <a:latin typeface="Arial"/>
                <a:ea typeface="Arial"/>
                <a:cs typeface="Arial"/>
                <a:sym typeface="Arial"/>
              </a:defRPr>
            </a:lvl3pPr>
            <a:lvl4pPr marR="0" lvl="3" algn="l" rtl="0">
              <a:spcBef>
                <a:spcPts val="0"/>
              </a:spcBef>
              <a:spcAft>
                <a:spcPts val="0"/>
              </a:spcAft>
              <a:buSzPts val="1100"/>
              <a:buNone/>
              <a:defRPr sz="1400" b="0" i="0" u="none" strike="noStrike" cap="none">
                <a:solidFill>
                  <a:schemeClr val="dk1"/>
                </a:solidFill>
                <a:latin typeface="Arial"/>
                <a:ea typeface="Arial"/>
                <a:cs typeface="Arial"/>
                <a:sym typeface="Arial"/>
              </a:defRPr>
            </a:lvl4pPr>
            <a:lvl5pPr marR="0" lvl="4" algn="l" rtl="0">
              <a:spcBef>
                <a:spcPts val="0"/>
              </a:spcBef>
              <a:spcAft>
                <a:spcPts val="0"/>
              </a:spcAft>
              <a:buSzPts val="1100"/>
              <a:buNone/>
              <a:defRPr sz="1400" b="0" i="0" u="none" strike="noStrike" cap="none">
                <a:solidFill>
                  <a:schemeClr val="dk1"/>
                </a:solidFill>
                <a:latin typeface="Arial"/>
                <a:ea typeface="Arial"/>
                <a:cs typeface="Arial"/>
                <a:sym typeface="Arial"/>
              </a:defRPr>
            </a:lvl5pPr>
            <a:lvl6pPr marR="0" lvl="5" algn="l" rtl="0">
              <a:spcBef>
                <a:spcPts val="0"/>
              </a:spcBef>
              <a:spcAft>
                <a:spcPts val="0"/>
              </a:spcAft>
              <a:buSzPts val="1100"/>
              <a:buNone/>
              <a:defRPr sz="1400" b="0" i="0" u="none" strike="noStrike" cap="none">
                <a:solidFill>
                  <a:schemeClr val="dk1"/>
                </a:solidFill>
                <a:latin typeface="Arial"/>
                <a:ea typeface="Arial"/>
                <a:cs typeface="Arial"/>
                <a:sym typeface="Arial"/>
              </a:defRPr>
            </a:lvl6pPr>
            <a:lvl7pPr marR="0" lvl="6" algn="l" rtl="0">
              <a:spcBef>
                <a:spcPts val="0"/>
              </a:spcBef>
              <a:spcAft>
                <a:spcPts val="0"/>
              </a:spcAft>
              <a:buSzPts val="1100"/>
              <a:buNone/>
              <a:defRPr sz="1400" b="0" i="0" u="none" strike="noStrike" cap="none">
                <a:solidFill>
                  <a:schemeClr val="dk1"/>
                </a:solidFill>
                <a:latin typeface="Arial"/>
                <a:ea typeface="Arial"/>
                <a:cs typeface="Arial"/>
                <a:sym typeface="Arial"/>
              </a:defRPr>
            </a:lvl7pPr>
            <a:lvl8pPr marR="0" lvl="7" algn="l" rtl="0">
              <a:spcBef>
                <a:spcPts val="0"/>
              </a:spcBef>
              <a:spcAft>
                <a:spcPts val="0"/>
              </a:spcAft>
              <a:buSzPts val="1100"/>
              <a:buNone/>
              <a:defRPr sz="1400" b="0" i="0" u="none" strike="noStrike" cap="none">
                <a:solidFill>
                  <a:schemeClr val="dk1"/>
                </a:solidFill>
                <a:latin typeface="Arial"/>
                <a:ea typeface="Arial"/>
                <a:cs typeface="Arial"/>
                <a:sym typeface="Arial"/>
              </a:defRPr>
            </a:lvl8pPr>
            <a:lvl9pPr marR="0" lvl="8" algn="l" rtl="0">
              <a:spcBef>
                <a:spcPts val="0"/>
              </a:spcBef>
              <a:spcAft>
                <a:spcPts val="0"/>
              </a:spcAft>
              <a:buSzPts val="1100"/>
              <a:buNone/>
              <a:defRPr sz="1400" b="0" i="0" u="none" strike="noStrike" cap="none">
                <a:solidFill>
                  <a:schemeClr val="dk1"/>
                </a:solidFill>
                <a:latin typeface="Arial"/>
                <a:ea typeface="Arial"/>
                <a:cs typeface="Arial"/>
                <a:sym typeface="Arial"/>
              </a:defRPr>
            </a:lvl9pPr>
          </a:lstStyle>
          <a:p>
            <a:endParaRPr/>
          </a:p>
        </p:txBody>
      </p:sp>
      <p:sp>
        <p:nvSpPr>
          <p:cNvPr id="9" name="Shape 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a:ea typeface="Arial"/>
                <a:cs typeface="Arial"/>
                <a:sym typeface="Arial"/>
              </a:defRPr>
            </a:lvl1pPr>
            <a:lvl2pPr marR="0" lvl="1" algn="l" rtl="0">
              <a:spcBef>
                <a:spcPts val="0"/>
              </a:spcBef>
              <a:spcAft>
                <a:spcPts val="0"/>
              </a:spcAft>
              <a:buSzPts val="1100"/>
              <a:buNone/>
              <a:defRPr sz="1400" b="0" i="0" u="none" strike="noStrike" cap="none">
                <a:solidFill>
                  <a:schemeClr val="dk1"/>
                </a:solidFill>
                <a:latin typeface="Arial"/>
                <a:ea typeface="Arial"/>
                <a:cs typeface="Arial"/>
                <a:sym typeface="Arial"/>
              </a:defRPr>
            </a:lvl2pPr>
            <a:lvl3pPr marR="0" lvl="2" algn="l" rtl="0">
              <a:spcBef>
                <a:spcPts val="0"/>
              </a:spcBef>
              <a:spcAft>
                <a:spcPts val="0"/>
              </a:spcAft>
              <a:buSzPts val="1100"/>
              <a:buNone/>
              <a:defRPr sz="1400" b="0" i="0" u="none" strike="noStrike" cap="none">
                <a:solidFill>
                  <a:schemeClr val="dk1"/>
                </a:solidFill>
                <a:latin typeface="Arial"/>
                <a:ea typeface="Arial"/>
                <a:cs typeface="Arial"/>
                <a:sym typeface="Arial"/>
              </a:defRPr>
            </a:lvl3pPr>
            <a:lvl4pPr marR="0" lvl="3" algn="l" rtl="0">
              <a:spcBef>
                <a:spcPts val="0"/>
              </a:spcBef>
              <a:spcAft>
                <a:spcPts val="0"/>
              </a:spcAft>
              <a:buSzPts val="1100"/>
              <a:buNone/>
              <a:defRPr sz="1400" b="0" i="0" u="none" strike="noStrike" cap="none">
                <a:solidFill>
                  <a:schemeClr val="dk1"/>
                </a:solidFill>
                <a:latin typeface="Arial"/>
                <a:ea typeface="Arial"/>
                <a:cs typeface="Arial"/>
                <a:sym typeface="Arial"/>
              </a:defRPr>
            </a:lvl4pPr>
            <a:lvl5pPr marR="0" lvl="4" algn="l" rtl="0">
              <a:spcBef>
                <a:spcPts val="0"/>
              </a:spcBef>
              <a:spcAft>
                <a:spcPts val="0"/>
              </a:spcAft>
              <a:buSzPts val="1100"/>
              <a:buNone/>
              <a:defRPr sz="1400" b="0" i="0" u="none" strike="noStrike" cap="none">
                <a:solidFill>
                  <a:schemeClr val="dk1"/>
                </a:solidFill>
                <a:latin typeface="Arial"/>
                <a:ea typeface="Arial"/>
                <a:cs typeface="Arial"/>
                <a:sym typeface="Arial"/>
              </a:defRPr>
            </a:lvl5pPr>
            <a:lvl6pPr marR="0" lvl="5" algn="l" rtl="0">
              <a:spcBef>
                <a:spcPts val="0"/>
              </a:spcBef>
              <a:spcAft>
                <a:spcPts val="0"/>
              </a:spcAft>
              <a:buSzPts val="1100"/>
              <a:buNone/>
              <a:defRPr sz="1400" b="0" i="0" u="none" strike="noStrike" cap="none">
                <a:solidFill>
                  <a:schemeClr val="dk1"/>
                </a:solidFill>
                <a:latin typeface="Arial"/>
                <a:ea typeface="Arial"/>
                <a:cs typeface="Arial"/>
                <a:sym typeface="Arial"/>
              </a:defRPr>
            </a:lvl6pPr>
            <a:lvl7pPr marR="0" lvl="6" algn="l" rtl="0">
              <a:spcBef>
                <a:spcPts val="0"/>
              </a:spcBef>
              <a:spcAft>
                <a:spcPts val="0"/>
              </a:spcAft>
              <a:buSzPts val="1100"/>
              <a:buNone/>
              <a:defRPr sz="1400" b="0" i="0" u="none" strike="noStrike" cap="none">
                <a:solidFill>
                  <a:schemeClr val="dk1"/>
                </a:solidFill>
                <a:latin typeface="Arial"/>
                <a:ea typeface="Arial"/>
                <a:cs typeface="Arial"/>
                <a:sym typeface="Arial"/>
              </a:defRPr>
            </a:lvl7pPr>
            <a:lvl8pPr marR="0" lvl="7" algn="l" rtl="0">
              <a:spcBef>
                <a:spcPts val="0"/>
              </a:spcBef>
              <a:spcAft>
                <a:spcPts val="0"/>
              </a:spcAft>
              <a:buSzPts val="1100"/>
              <a:buNone/>
              <a:defRPr sz="1400" b="0" i="0" u="none" strike="noStrike" cap="none">
                <a:solidFill>
                  <a:schemeClr val="dk1"/>
                </a:solidFill>
                <a:latin typeface="Arial"/>
                <a:ea typeface="Arial"/>
                <a:cs typeface="Arial"/>
                <a:sym typeface="Arial"/>
              </a:defRPr>
            </a:lvl8pPr>
            <a:lvl9pPr marR="0" lvl="8" algn="l" rtl="0">
              <a:spcBef>
                <a:spcPts val="0"/>
              </a:spcBef>
              <a:spcAft>
                <a:spcPts val="0"/>
              </a:spcAft>
              <a:buSzPts val="1100"/>
              <a:buNone/>
              <a:defRPr sz="1400" b="0" i="0" u="none" strike="noStrike" cap="none">
                <a:solidFill>
                  <a:schemeClr val="dk1"/>
                </a:solidFill>
                <a:latin typeface="Arial"/>
                <a:ea typeface="Arial"/>
                <a:cs typeface="Arial"/>
                <a:sym typeface="Arial"/>
              </a:defRPr>
            </a:lvl9pPr>
          </a:lstStyle>
          <a:p>
            <a:endParaRPr/>
          </a:p>
        </p:txBody>
      </p:sp>
      <p:sp>
        <p:nvSpPr>
          <p:cNvPr id="10" name="Shape 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a:ea typeface="Arial"/>
                <a:cs typeface="Arial"/>
                <a:sym typeface="Arial"/>
              </a:defRPr>
            </a:lvl1pPr>
            <a:lvl2pPr marL="0" marR="0" lvl="1" indent="0" algn="r" rtl="0">
              <a:spcBef>
                <a:spcPts val="0"/>
              </a:spcBef>
              <a:buNone/>
              <a:defRPr sz="900" b="0" i="0" u="none" strike="noStrike" cap="none">
                <a:solidFill>
                  <a:srgbClr val="888888"/>
                </a:solidFill>
                <a:latin typeface="Arial"/>
                <a:ea typeface="Arial"/>
                <a:cs typeface="Arial"/>
                <a:sym typeface="Arial"/>
              </a:defRPr>
            </a:lvl2pPr>
            <a:lvl3pPr marL="0" marR="0" lvl="2" indent="0" algn="r" rtl="0">
              <a:spcBef>
                <a:spcPts val="0"/>
              </a:spcBef>
              <a:buNone/>
              <a:defRPr sz="900" b="0" i="0" u="none" strike="noStrike" cap="none">
                <a:solidFill>
                  <a:srgbClr val="888888"/>
                </a:solidFill>
                <a:latin typeface="Arial"/>
                <a:ea typeface="Arial"/>
                <a:cs typeface="Arial"/>
                <a:sym typeface="Arial"/>
              </a:defRPr>
            </a:lvl3pPr>
            <a:lvl4pPr marL="0" marR="0" lvl="3" indent="0" algn="r" rtl="0">
              <a:spcBef>
                <a:spcPts val="0"/>
              </a:spcBef>
              <a:buNone/>
              <a:defRPr sz="900" b="0" i="0" u="none" strike="noStrike" cap="none">
                <a:solidFill>
                  <a:srgbClr val="888888"/>
                </a:solidFill>
                <a:latin typeface="Arial"/>
                <a:ea typeface="Arial"/>
                <a:cs typeface="Arial"/>
                <a:sym typeface="Arial"/>
              </a:defRPr>
            </a:lvl4pPr>
            <a:lvl5pPr marL="0" marR="0" lvl="4" indent="0" algn="r" rtl="0">
              <a:spcBef>
                <a:spcPts val="0"/>
              </a:spcBef>
              <a:buNone/>
              <a:defRPr sz="900" b="0" i="0" u="none" strike="noStrike" cap="none">
                <a:solidFill>
                  <a:srgbClr val="888888"/>
                </a:solidFill>
                <a:latin typeface="Arial"/>
                <a:ea typeface="Arial"/>
                <a:cs typeface="Arial"/>
                <a:sym typeface="Arial"/>
              </a:defRPr>
            </a:lvl5pPr>
            <a:lvl6pPr marL="0" marR="0" lvl="5" indent="0" algn="r" rtl="0">
              <a:spcBef>
                <a:spcPts val="0"/>
              </a:spcBef>
              <a:buNone/>
              <a:defRPr sz="900" b="0" i="0" u="none" strike="noStrike" cap="none">
                <a:solidFill>
                  <a:srgbClr val="888888"/>
                </a:solidFill>
                <a:latin typeface="Arial"/>
                <a:ea typeface="Arial"/>
                <a:cs typeface="Arial"/>
                <a:sym typeface="Arial"/>
              </a:defRPr>
            </a:lvl6pPr>
            <a:lvl7pPr marL="0" marR="0" lvl="6" indent="0" algn="r" rtl="0">
              <a:spcBef>
                <a:spcPts val="0"/>
              </a:spcBef>
              <a:buNone/>
              <a:defRPr sz="900" b="0" i="0" u="none" strike="noStrike" cap="none">
                <a:solidFill>
                  <a:srgbClr val="888888"/>
                </a:solidFill>
                <a:latin typeface="Arial"/>
                <a:ea typeface="Arial"/>
                <a:cs typeface="Arial"/>
                <a:sym typeface="Arial"/>
              </a:defRPr>
            </a:lvl7pPr>
            <a:lvl8pPr marL="0" marR="0" lvl="7" indent="0" algn="r" rtl="0">
              <a:spcBef>
                <a:spcPts val="0"/>
              </a:spcBef>
              <a:buNone/>
              <a:defRPr sz="900" b="0" i="0" u="none" strike="noStrike" cap="none">
                <a:solidFill>
                  <a:srgbClr val="888888"/>
                </a:solidFill>
                <a:latin typeface="Arial"/>
                <a:ea typeface="Arial"/>
                <a:cs typeface="Arial"/>
                <a:sym typeface="Arial"/>
              </a:defRPr>
            </a:lvl8pPr>
            <a:lvl9pPr marL="0" marR="0" lvl="8" indent="0" algn="r" rtl="0">
              <a:spcBef>
                <a:spcPts val="0"/>
              </a:spcBef>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zh-C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97A6665-0D3E-8478-3B38-CBC61B2869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AFEE2A-2039-8556-8A8D-C0159FEEC4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5336-6EBA-B1D2-1C2E-A10BE49681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EBBE2AF9-D3EC-78A1-31B4-40A7BBF41F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CCED5A4-B2C0-DA84-D8EB-717CECF105E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marL="0" lvl="0" indent="0" algn="r" rtl="0">
              <a:spcBef>
                <a:spcPts val="0"/>
              </a:spcBef>
              <a:spcAft>
                <a:spcPts val="0"/>
              </a:spcAft>
              <a:buNone/>
            </a:pPr>
            <a:fld id="{00000000-1234-1234-1234-123412341234}" type="slidenum">
              <a:rPr lang="en-US" altLang="zh-CN" smtClean="0"/>
              <a:t>‹#›</a:t>
            </a:fld>
            <a:endParaRPr lang="zh-CN" altLang="en-US"/>
          </a:p>
        </p:txBody>
      </p:sp>
    </p:spTree>
    <p:extLst>
      <p:ext uri="{BB962C8B-B14F-4D97-AF65-F5344CB8AC3E}">
        <p14:creationId xmlns:p14="http://schemas.microsoft.com/office/powerpoint/2010/main" val="479414146"/>
      </p:ext>
    </p:extLst>
  </p:cSld>
  <p:clrMap bg1="lt1" tx1="dk1" bg2="lt2" tx2="dk2" accent1="accent1" accent2="accent2" accent3="accent3" accent4="accent4" accent5="accent5" accent6="accent6" hlink="hlink" folHlink="folHlink"/>
  <p:sldLayoutIdLst>
    <p:sldLayoutId id="2157483764" r:id="rId1"/>
    <p:sldLayoutId id="2157483765" r:id="rId2"/>
    <p:sldLayoutId id="2157483766" r:id="rId3"/>
    <p:sldLayoutId id="2157483767" r:id="rId4"/>
    <p:sldLayoutId id="2157483768" r:id="rId5"/>
    <p:sldLayoutId id="2157483769" r:id="rId6"/>
    <p:sldLayoutId id="2157483770" r:id="rId7"/>
    <p:sldLayoutId id="2157483771" r:id="rId8"/>
    <p:sldLayoutId id="2157483772" r:id="rId9"/>
    <p:sldLayoutId id="2157483773" r:id="rId10"/>
    <p:sldLayoutId id="2157483774" r:id="rId11"/>
    <p:sldLayoutId id="2157483775" r:id="rId12"/>
    <p:sldLayoutId id="2157483776" r:id="rId13"/>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10" name="codex_template_right_wash">
            <a:extLst>
              <a:ext uri="{FF2B5EF4-FFF2-40B4-BE49-F238E27FC236}">
                <a16:creationId xmlns:a16="http://schemas.microsoft.com/office/drawing/2014/main" id="{7C28D89D-9EED-8BD6-B855-EFE08F512EB9}"/>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dex_template_header_band">
            <a:extLst>
              <a:ext uri="{FF2B5EF4-FFF2-40B4-BE49-F238E27FC236}">
                <a16:creationId xmlns:a16="http://schemas.microsoft.com/office/drawing/2014/main" id="{FAED20DF-A56C-6F85-1DDB-5175CC5D3734}"/>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dex_template_background">
            <a:extLst>
              <a:ext uri="{FF2B5EF4-FFF2-40B4-BE49-F238E27FC236}">
                <a16:creationId xmlns:a16="http://schemas.microsoft.com/office/drawing/2014/main" id="{9010C6DA-44AD-C6A9-652E-FED666D7DA23}"/>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dex_template_top_accent">
            <a:extLst>
              <a:ext uri="{FF2B5EF4-FFF2-40B4-BE49-F238E27FC236}">
                <a16:creationId xmlns:a16="http://schemas.microsoft.com/office/drawing/2014/main" id="{C55C2CAD-DF7A-E085-C2C0-7709C6505C6A}"/>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dex_template_footer">
            <a:extLst>
              <a:ext uri="{FF2B5EF4-FFF2-40B4-BE49-F238E27FC236}">
                <a16:creationId xmlns:a16="http://schemas.microsoft.com/office/drawing/2014/main" id="{F568119D-C3E2-0328-0DFA-C4E086771A9C}"/>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4" name="codex_template_slide_number">
            <a:extLst>
              <a:ext uri="{FF2B5EF4-FFF2-40B4-BE49-F238E27FC236}">
                <a16:creationId xmlns:a16="http://schemas.microsoft.com/office/drawing/2014/main" id="{53053DDA-87AB-D745-787D-158B10953BAE}"/>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a:t>
            </a:r>
          </a:p>
        </p:txBody>
      </p:sp>
      <p:sp>
        <p:nvSpPr>
          <p:cNvPr id="15" name="TextBox 14">
            <a:extLst>
              <a:ext uri="{FF2B5EF4-FFF2-40B4-BE49-F238E27FC236}">
                <a16:creationId xmlns:a16="http://schemas.microsoft.com/office/drawing/2014/main" id="{11DD7235-11B4-CA34-1C7F-3AE4DABC867A}"/>
              </a:ext>
            </a:extLst>
          </p:cNvPr>
          <p:cNvSpPr txBox="1"/>
          <p:nvPr/>
        </p:nvSpPr>
        <p:spPr>
          <a:xfrm>
            <a:off x="889000" y="1168400"/>
            <a:ext cx="4572000" cy="323165"/>
          </a:xfrm>
          <a:prstGeom prst="rect">
            <a:avLst/>
          </a:prstGeom>
          <a:noFill/>
        </p:spPr>
        <p:txBody>
          <a:bodyPr vert="horz" rtlCol="0">
            <a:spAutoFit/>
          </a:bodyPr>
          <a:lstStyle/>
          <a:p>
            <a:r>
              <a:rPr lang="en-US" sz="1500" b="1">
                <a:solidFill>
                  <a:srgbClr val="00A9E0"/>
                </a:solidFill>
                <a:latin typeface="Aptos" panose="020B0004020202020204" pitchFamily="34" charset="0"/>
              </a:rPr>
              <a:t>TECHNICAL ASSESSMENT</a:t>
            </a:r>
          </a:p>
        </p:txBody>
      </p:sp>
      <p:cxnSp>
        <p:nvCxnSpPr>
          <p:cNvPr id="16" name="Straight Connector 15">
            <a:extLst>
              <a:ext uri="{FF2B5EF4-FFF2-40B4-BE49-F238E27FC236}">
                <a16:creationId xmlns:a16="http://schemas.microsoft.com/office/drawing/2014/main" id="{D5023623-F96C-984D-42A6-74A34E2FEE9F}"/>
              </a:ext>
            </a:extLst>
          </p:cNvPr>
          <p:cNvCxnSpPr/>
          <p:nvPr/>
        </p:nvCxnSpPr>
        <p:spPr>
          <a:xfrm>
            <a:off x="889000" y="1625600"/>
            <a:ext cx="3302000" cy="0"/>
          </a:xfrm>
          <a:prstGeom prst="line">
            <a:avLst/>
          </a:prstGeom>
          <a:ln w="25400">
            <a:solidFill>
              <a:srgbClr val="00A9E0"/>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7702080C-47D2-4597-AD69-74AAF9EE6E43}"/>
              </a:ext>
            </a:extLst>
          </p:cNvPr>
          <p:cNvSpPr txBox="1"/>
          <p:nvPr/>
        </p:nvSpPr>
        <p:spPr>
          <a:xfrm>
            <a:off x="889000" y="2222500"/>
            <a:ext cx="9017000" cy="1292662"/>
          </a:xfrm>
          <a:prstGeom prst="rect">
            <a:avLst/>
          </a:prstGeom>
          <a:noFill/>
        </p:spPr>
        <p:txBody>
          <a:bodyPr vert="horz" rtlCol="0">
            <a:spAutoFit/>
          </a:bodyPr>
          <a:lstStyle/>
          <a:p>
            <a:r>
              <a:rPr lang="en-US" sz="3900" b="1">
                <a:solidFill>
                  <a:srgbClr val="142D4E"/>
                </a:solidFill>
                <a:latin typeface="Aptos" panose="020B0004020202020204" pitchFamily="34" charset="0"/>
              </a:rPr>
              <a:t>Enterprise-Grade</a:t>
            </a:r>
          </a:p>
          <a:p>
            <a:r>
              <a:rPr lang="en-US" sz="3900" b="1">
                <a:solidFill>
                  <a:srgbClr val="142D4E"/>
                </a:solidFill>
                <a:latin typeface="Aptos" panose="020B0004020202020204" pitchFamily="34" charset="0"/>
              </a:rPr>
              <a:t>Reconciliation Platform</a:t>
            </a:r>
          </a:p>
        </p:txBody>
      </p:sp>
      <p:sp>
        <p:nvSpPr>
          <p:cNvPr id="18" name="TextBox 17">
            <a:extLst>
              <a:ext uri="{FF2B5EF4-FFF2-40B4-BE49-F238E27FC236}">
                <a16:creationId xmlns:a16="http://schemas.microsoft.com/office/drawing/2014/main" id="{674F6952-ECC0-7627-48AB-8A57BC37823E}"/>
              </a:ext>
            </a:extLst>
          </p:cNvPr>
          <p:cNvSpPr txBox="1"/>
          <p:nvPr/>
        </p:nvSpPr>
        <p:spPr>
          <a:xfrm>
            <a:off x="939800" y="4064000"/>
            <a:ext cx="9652000" cy="646331"/>
          </a:xfrm>
          <a:prstGeom prst="rect">
            <a:avLst/>
          </a:prstGeom>
          <a:noFill/>
        </p:spPr>
        <p:txBody>
          <a:bodyPr vert="horz" rtlCol="0">
            <a:spAutoFit/>
          </a:bodyPr>
          <a:lstStyle/>
          <a:p>
            <a:r>
              <a:rPr lang="en-US" sz="1800">
                <a:solidFill>
                  <a:srgbClr val="566982"/>
                </a:solidFill>
                <a:latin typeface="Aptos" panose="020B0004020202020204" pitchFamily="34" charset="0"/>
              </a:rPr>
              <a:t>Principal Engineer / Architect assessment demonstrating production Java engineering, IBM MQ messaging, Kubernetes deployment, resiliency patterns and observability.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5" name="codex_template_right_wash">
            <a:extLst>
              <a:ext uri="{FF2B5EF4-FFF2-40B4-BE49-F238E27FC236}">
                <a16:creationId xmlns:a16="http://schemas.microsoft.com/office/drawing/2014/main" id="{2567CD54-3FD7-A610-21FB-E5939BAB88B1}"/>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a16:creationId xmlns:a16="http://schemas.microsoft.com/office/drawing/2014/main" id="{504D905E-72F6-0C0D-66F2-726C9D8E5D9F}"/>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a16:creationId xmlns:a16="http://schemas.microsoft.com/office/drawing/2014/main" id="{704A47A4-594D-CCF7-6E24-A8C78B1B6891}"/>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p:cNvSpPr/>
          <p:nvPr/>
        </p:nvSpPr>
        <p:spPr>
          <a:xfrm>
            <a:off x="789484" y="495235"/>
            <a:ext cx="10414000" cy="533400"/>
          </a:xfrm>
          <a:prstGeom prst="rect">
            <a:avLst/>
          </a:prstGeom>
          <a:solidFill>
            <a:scrgbClr r="0" g="0" b="0">
              <a:alpha val="0"/>
            </a:scrgbClr>
          </a:solidFill>
          <a:ln w="15875" cap="flat" cmpd="sng">
            <a:noFill/>
          </a:ln>
          <a:effectLst/>
        </p:spPr>
        <p:txBody>
          <a:bodyPr vert="horz" wrap="square" lIns="0" tIns="0" rIns="0" bIns="0" rtlCol="0" anchor="ctr" anchorCtr="0">
            <a:noAutofit/>
          </a:bodyPr>
          <a:lstStyle/>
          <a:p>
            <a:pPr>
              <a:lnSpc>
                <a:spcPct val="125000"/>
              </a:lnSpc>
              <a:defRPr/>
            </a:pPr>
            <a:r>
              <a:rPr lang="en-US" sz="2800" b="1" dirty="0">
                <a:solidFill>
                  <a:srgbClr val="142D4E"/>
                </a:solidFill>
                <a:latin typeface="Aptos Display" panose="020B0004020202020204" pitchFamily="34" charset="0"/>
                <a:sym typeface="Montserrat"/>
              </a:rPr>
              <a:t>Executive Summary</a:t>
            </a:r>
            <a:endParaRPr lang="en-US" sz="2800" b="1" dirty="0">
              <a:solidFill>
                <a:srgbClr val="142D4E"/>
              </a:solidFill>
              <a:latin typeface="Aptos Display" panose="020B0004020202020204" pitchFamily="34" charset="0"/>
            </a:endParaRPr>
          </a:p>
        </p:txBody>
      </p:sp>
      <p:sp>
        <p:nvSpPr>
          <p:cNvPr id="8" name="Subtitle">
            <a:extLst>
              <a:ext uri="{FF2B5EF4-FFF2-40B4-BE49-F238E27FC236}">
                <a16:creationId xmlns:a16="http://schemas.microsoft.com/office/drawing/2014/main" id="{D3E4C10D-835C-D400-CF8A-27776596A568}"/>
              </a:ext>
            </a:extLst>
          </p:cNvPr>
          <p:cNvSpPr/>
          <p:nvPr/>
        </p:nvSpPr>
        <p:spPr>
          <a:xfrm>
            <a:off x="762000" y="1258670"/>
            <a:ext cx="9572866" cy="548640"/>
          </a:xfrm>
          <a:prstGeom prst="rect">
            <a:avLst/>
          </a:prstGeom>
          <a:solidFill>
            <a:scrgbClr r="0" g="0" b="0">
              <a:alpha val="0"/>
            </a:scrgbClr>
          </a:solidFill>
          <a:ln w="15875">
            <a:noFill/>
          </a:ln>
          <a:effectLst/>
          <a:extLst>
            <a:ext uri="{AF507438-7753-43E0-B8FC-AC1667EBCBE1}">
              <a14:hiddenEffects xmlns:a14="http://schemas.microsoft.com/office/drawing/2010/main">
                <a:effectLst>
                  <a:outerShdw blurRad="63500" dist="28398" dir="3806086" rotWithShape="0">
                    <a:srgbClr val="B9CCE0">
                      <a:alpha val="22000"/>
                    </a:srgbClr>
                  </a:outerShdw>
                </a:effectLst>
              </a14:hiddenEffects>
            </a:ext>
          </a:extLst>
        </p:spPr>
        <p:txBody>
          <a:bodyPr wrap="square" lIns="101600" tIns="63500" rIns="101600" bIns="63500">
            <a:normAutofit/>
          </a:bodyPr>
          <a:lstStyle/>
          <a:p>
            <a:r>
              <a:rPr lang="en-US" sz="1350" dirty="0">
                <a:solidFill>
                  <a:srgbClr val="566982"/>
                </a:solidFill>
                <a:latin typeface="Aptos" panose="020B0004020202020204" pitchFamily="34" charset="0"/>
              </a:rPr>
              <a:t>This assessment defines the target architecture, integration flow, infrastructure model, and operational controls required to build a production-grade reconciliation platform.</a:t>
            </a:r>
          </a:p>
        </p:txBody>
      </p:sp>
      <p:sp>
        <p:nvSpPr>
          <p:cNvPr id="6" name="codex_template_top_accent">
            <a:extLst>
              <a:ext uri="{FF2B5EF4-FFF2-40B4-BE49-F238E27FC236}">
                <a16:creationId xmlns:a16="http://schemas.microsoft.com/office/drawing/2014/main" id="{F907DDE8-10F8-D91A-C9CC-5AE4DC0F3763}"/>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dex_template_footer">
            <a:extLst>
              <a:ext uri="{FF2B5EF4-FFF2-40B4-BE49-F238E27FC236}">
                <a16:creationId xmlns:a16="http://schemas.microsoft.com/office/drawing/2014/main" id="{9DC3B99D-0679-92AA-BCE2-669A1DEF2F73}"/>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1" name="codex_template_slide_number">
            <a:extLst>
              <a:ext uri="{FF2B5EF4-FFF2-40B4-BE49-F238E27FC236}">
                <a16:creationId xmlns:a16="http://schemas.microsoft.com/office/drawing/2014/main" id="{8930BD67-B59A-EEF9-2AD2-E00DDA348B9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2</a:t>
            </a:r>
          </a:p>
        </p:txBody>
      </p:sp>
      <p:cxnSp>
        <p:nvCxnSpPr>
          <p:cNvPr id="12" name="codex_template_title_rule">
            <a:extLst>
              <a:ext uri="{FF2B5EF4-FFF2-40B4-BE49-F238E27FC236}">
                <a16:creationId xmlns:a16="http://schemas.microsoft.com/office/drawing/2014/main" id="{8ED0C242-9D04-0B2B-590F-3A885B604215}"/>
              </a:ext>
            </a:extLst>
          </p:cNvPr>
          <p:cNvCxnSpPr/>
          <p:nvPr/>
        </p:nvCxnSpPr>
        <p:spPr>
          <a:xfrm>
            <a:off x="789484" y="1155635"/>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C775C44B-4F11-79AE-A6D6-6CD8BB9109DD}"/>
              </a:ext>
            </a:extLst>
          </p:cNvPr>
          <p:cNvPicPr>
            <a:picLocks noChangeAspect="1"/>
          </p:cNvPicPr>
          <p:nvPr/>
        </p:nvPicPr>
        <p:blipFill>
          <a:blip r:embed="rId3"/>
          <a:stretch>
            <a:fillRect/>
          </a:stretch>
        </p:blipFill>
        <p:spPr>
          <a:xfrm>
            <a:off x="789484" y="1910344"/>
            <a:ext cx="9545382" cy="438211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6" name="codex_template_right_wash">
            <a:extLst>
              <a:ext uri="{FF2B5EF4-FFF2-40B4-BE49-F238E27FC236}">
                <a16:creationId xmlns:a16="http://schemas.microsoft.com/office/drawing/2014/main" id="{28A3FFAF-F753-AE83-007E-BCC44CA4B33D}"/>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a16:creationId xmlns:a16="http://schemas.microsoft.com/office/drawing/2014/main" id="{8AF5EDE5-A986-C450-592F-69021BF47AF8}"/>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a16:creationId xmlns:a16="http://schemas.microsoft.com/office/drawing/2014/main" id="{16A1B5B7-76F8-F9B4-E54E-8DD8E5125887}"/>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p:cNvSpPr/>
          <p:nvPr/>
        </p:nvSpPr>
        <p:spPr>
          <a:xfrm>
            <a:off x="822528" y="482601"/>
            <a:ext cx="10414000" cy="533400"/>
          </a:xfrm>
          <a:prstGeom prst="rect">
            <a:avLst/>
          </a:prstGeom>
          <a:solidFill>
            <a:scrgbClr r="0" g="0" b="0">
              <a:alpha val="0"/>
            </a:scrgbClr>
          </a:solidFill>
          <a:ln w="15875" cap="flat" cmpd="sng">
            <a:noFill/>
          </a:ln>
          <a:effectLst/>
        </p:spPr>
        <p:txBody>
          <a:bodyPr vert="horz" wrap="square" lIns="0" tIns="0" rIns="0" bIns="0" rtlCol="0" anchor="ctr" anchorCtr="0">
            <a:noAutofit/>
          </a:bodyPr>
          <a:lstStyle/>
          <a:p>
            <a:pPr indent="0" algn="l">
              <a:lnSpc>
                <a:spcPct val="125000"/>
              </a:lnSpc>
              <a:defRPr/>
            </a:pPr>
            <a:r>
              <a:rPr lang="en-US" sz="2800" b="1" i="0" u="none" strike="noStrike" dirty="0">
                <a:solidFill>
                  <a:srgbClr val="142D4E"/>
                </a:solidFill>
                <a:latin typeface="Aptos Display" panose="020B0004020202020204" pitchFamily="34" charset="0"/>
                <a:ea typeface="Montserrat"/>
                <a:cs typeface="Montserrat"/>
                <a:sym typeface="Montserrat"/>
              </a:rPr>
              <a:t>High Level Functional Architecture</a:t>
            </a:r>
            <a:endParaRPr lang="en-US" sz="2800" b="1" dirty="0">
              <a:solidFill>
                <a:srgbClr val="142D4E"/>
              </a:solidFill>
              <a:latin typeface="Aptos Display" panose="020B0004020202020204" pitchFamily="34" charset="0"/>
            </a:endParaRPr>
          </a:p>
        </p:txBody>
      </p:sp>
      <p:sp>
        <p:nvSpPr>
          <p:cNvPr id="8" name="AutoShape 3">
            <a:extLst>
              <a:ext uri="{FF2B5EF4-FFF2-40B4-BE49-F238E27FC236}">
                <a16:creationId xmlns:a16="http://schemas.microsoft.com/office/drawing/2014/main" id="{1FDF8705-6977-B5A8-B505-D170F210B421}"/>
              </a:ext>
            </a:extLst>
          </p:cNvPr>
          <p:cNvSpPr/>
          <p:nvPr/>
        </p:nvSpPr>
        <p:spPr>
          <a:xfrm>
            <a:off x="7772271" y="1294454"/>
            <a:ext cx="3712723" cy="5055545"/>
          </a:xfrm>
          <a:prstGeom prst="rect">
            <a:avLst/>
          </a:prstGeom>
          <a:noFill/>
          <a:ln w="15875" cap="flat" cmpd="sng">
            <a:noFill/>
          </a:ln>
          <a:effectLst>
            <a:outerShdw blurRad="63500" dist="28398" dir="3806086" rotWithShape="0">
              <a:srgbClr val="B9CCE0">
                <a:alpha val="22000"/>
              </a:srgbClr>
            </a:outerShdw>
          </a:effectLst>
        </p:spPr>
        <p:txBody>
          <a:bodyPr vert="horz" wrap="square" lIns="101600" tIns="63500" rIns="101600" bIns="63500" rtlCol="0" anchor="t" anchorCtr="0">
            <a:normAutofit/>
          </a:bodyPr>
          <a:lstStyle/>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Producer Application generates valid and invalid reconciliation transactions, controls transaction volume using configurable TPS, and enriches every message with correlation and tracing metadata.</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IBM MQ decouples producer and consumer processing, buffers reconciliation messages reliably, and routes failed or </a:t>
            </a:r>
            <a:r>
              <a:rPr lang="en-US" sz="1100" dirty="0" err="1">
                <a:solidFill>
                  <a:srgbClr val="566982"/>
                </a:solidFill>
                <a:latin typeface="Aptos" panose="020B0004020202020204" pitchFamily="34" charset="0"/>
              </a:rPr>
              <a:t>unprocessable</a:t>
            </a:r>
            <a:r>
              <a:rPr lang="en-US" sz="1100" dirty="0">
                <a:solidFill>
                  <a:srgbClr val="566982"/>
                </a:solidFill>
                <a:latin typeface="Aptos" panose="020B0004020202020204" pitchFamily="34" charset="0"/>
              </a:rPr>
              <a:t> messages to the Dead Letter Queue.</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Consumer / Reconciliation Service validates messages, performs reconciliation logic, checks idempotency, processes messages concurrently, retries transient failures, and classifies permanent failures.</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Database stores reconciliation records, idempotency keys, processing status, and audit/error details for traceability and reporting.</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Observability captures logs, metrics, and traces across the full flow to support monitoring, troubleshooting, and end-to-end transaction tracking.</a:t>
            </a:r>
          </a:p>
        </p:txBody>
      </p:sp>
      <p:sp>
        <p:nvSpPr>
          <p:cNvPr id="7" name="codex_template_top_accent">
            <a:extLst>
              <a:ext uri="{FF2B5EF4-FFF2-40B4-BE49-F238E27FC236}">
                <a16:creationId xmlns:a16="http://schemas.microsoft.com/office/drawing/2014/main" id="{6B47816A-C7B4-466A-287A-F3A4D407B430}"/>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dex_template_footer">
            <a:extLst>
              <a:ext uri="{FF2B5EF4-FFF2-40B4-BE49-F238E27FC236}">
                <a16:creationId xmlns:a16="http://schemas.microsoft.com/office/drawing/2014/main" id="{D6903FC7-DAC0-526E-E335-7EFCE39935B2}"/>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1" name="codex_template_slide_number">
            <a:extLst>
              <a:ext uri="{FF2B5EF4-FFF2-40B4-BE49-F238E27FC236}">
                <a16:creationId xmlns:a16="http://schemas.microsoft.com/office/drawing/2014/main" id="{5A0CB67E-69DF-7927-EC8C-88E68CBA44B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3</a:t>
            </a:r>
          </a:p>
        </p:txBody>
      </p:sp>
      <p:cxnSp>
        <p:nvCxnSpPr>
          <p:cNvPr id="12" name="codex_template_title_rule">
            <a:extLst>
              <a:ext uri="{FF2B5EF4-FFF2-40B4-BE49-F238E27FC236}">
                <a16:creationId xmlns:a16="http://schemas.microsoft.com/office/drawing/2014/main" id="{C2AA7974-0AF7-7E05-D4B3-4938671AB611}"/>
              </a:ext>
            </a:extLst>
          </p:cNvPr>
          <p:cNvCxnSpPr/>
          <p:nvPr/>
        </p:nvCxnSpPr>
        <p:spPr>
          <a:xfrm>
            <a:off x="822528" y="114300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C1F2CC1C-E1D4-E368-D59D-628B4042BE88}"/>
              </a:ext>
            </a:extLst>
          </p:cNvPr>
          <p:cNvPicPr>
            <a:picLocks noChangeAspect="1"/>
          </p:cNvPicPr>
          <p:nvPr/>
        </p:nvPicPr>
        <p:blipFill>
          <a:blip r:embed="rId3"/>
          <a:stretch>
            <a:fillRect/>
          </a:stretch>
        </p:blipFill>
        <p:spPr>
          <a:xfrm>
            <a:off x="1160517" y="1558628"/>
            <a:ext cx="6401693" cy="424874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D70F3E62-A581-20EA-E3E5-12D203413A96}"/>
            </a:ext>
          </a:extLst>
        </p:cNvPr>
        <p:cNvGrpSpPr/>
        <p:nvPr/>
      </p:nvGrpSpPr>
      <p:grpSpPr>
        <a:xfrm>
          <a:off x="0" y="0"/>
          <a:ext cx="0" cy="0"/>
          <a:chOff x="0" y="0"/>
          <a:chExt cx="0" cy="0"/>
        </a:xfrm>
      </p:grpSpPr>
      <p:sp>
        <p:nvSpPr>
          <p:cNvPr id="7" name="codex_template_right_wash">
            <a:extLst>
              <a:ext uri="{FF2B5EF4-FFF2-40B4-BE49-F238E27FC236}">
                <a16:creationId xmlns:a16="http://schemas.microsoft.com/office/drawing/2014/main" id="{E0C8B624-7775-3261-390E-321F6D5FBFF2}"/>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a16:creationId xmlns:a16="http://schemas.microsoft.com/office/drawing/2014/main" id="{D7083C5C-E8BE-3012-9D0C-68C925E7AFF9}"/>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a16:creationId xmlns:a16="http://schemas.microsoft.com/office/drawing/2014/main" id="{3E490B9D-334A-7363-E06B-31C6AC4AF8D4}"/>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a:extLst>
              <a:ext uri="{FF2B5EF4-FFF2-40B4-BE49-F238E27FC236}">
                <a16:creationId xmlns:a16="http://schemas.microsoft.com/office/drawing/2014/main" id="{D76E8053-46C1-1FDC-38F1-DF6182D09ACF}"/>
              </a:ext>
            </a:extLst>
          </p:cNvPr>
          <p:cNvSpPr/>
          <p:nvPr/>
        </p:nvSpPr>
        <p:spPr>
          <a:xfrm>
            <a:off x="812800" y="499771"/>
            <a:ext cx="10414000" cy="533400"/>
          </a:xfrm>
          <a:prstGeom prst="rect">
            <a:avLst/>
          </a:prstGeom>
          <a:solidFill>
            <a:scrgbClr r="0" g="0" b="0">
              <a:alpha val="0"/>
            </a:scrgbClr>
          </a:solidFill>
          <a:ln w="15875" cap="flat" cmpd="sng">
            <a:noFill/>
          </a:ln>
          <a:effectLst/>
        </p:spPr>
        <p:txBody>
          <a:bodyPr vert="horz" wrap="square" lIns="0" tIns="0" rIns="0" bIns="0" rtlCol="0" anchor="ctr" anchorCtr="0">
            <a:noAutofit/>
          </a:bodyPr>
          <a:lstStyle/>
          <a:p>
            <a:pPr indent="0" algn="l">
              <a:lnSpc>
                <a:spcPct val="125000"/>
              </a:lnSpc>
              <a:defRPr/>
            </a:pPr>
            <a:r>
              <a:rPr lang="en-US" sz="2800" b="1" i="0" u="none" strike="noStrike" dirty="0">
                <a:solidFill>
                  <a:srgbClr val="142D4E"/>
                </a:solidFill>
                <a:latin typeface="Aptos Display" panose="020B0004020202020204" pitchFamily="34" charset="0"/>
                <a:ea typeface="Montserrat"/>
                <a:cs typeface="Montserrat"/>
                <a:sym typeface="Montserrat"/>
              </a:rPr>
              <a:t>High Level Technical Architecture</a:t>
            </a:r>
            <a:endParaRPr lang="en-US" sz="2800" b="1" dirty="0">
              <a:solidFill>
                <a:srgbClr val="142D4E"/>
              </a:solidFill>
              <a:latin typeface="Aptos Display" panose="020B0004020202020204" pitchFamily="34" charset="0"/>
            </a:endParaRPr>
          </a:p>
        </p:txBody>
      </p:sp>
      <p:sp>
        <p:nvSpPr>
          <p:cNvPr id="6" name="AutoShape 3">
            <a:extLst>
              <a:ext uri="{FF2B5EF4-FFF2-40B4-BE49-F238E27FC236}">
                <a16:creationId xmlns:a16="http://schemas.microsoft.com/office/drawing/2014/main" id="{7BABED48-DAEB-0456-ACC0-3BE5D0592CDC}"/>
              </a:ext>
            </a:extLst>
          </p:cNvPr>
          <p:cNvSpPr/>
          <p:nvPr/>
        </p:nvSpPr>
        <p:spPr>
          <a:xfrm>
            <a:off x="9330879" y="1886086"/>
            <a:ext cx="2581721" cy="4082914"/>
          </a:xfrm>
          <a:prstGeom prst="rect">
            <a:avLst/>
          </a:prstGeom>
          <a:noFill/>
          <a:ln w="15875" cap="flat" cmpd="sng">
            <a:noFill/>
          </a:ln>
          <a:effectLst>
            <a:outerShdw blurRad="63500" dist="28398" dir="3806086" rotWithShape="0">
              <a:srgbClr val="B9CCE0">
                <a:alpha val="22000"/>
              </a:srgbClr>
            </a:outerShdw>
          </a:effectLst>
        </p:spPr>
        <p:txBody>
          <a:bodyPr vert="horz" wrap="square" lIns="101600" tIns="63500" rIns="101600" bIns="63500" rtlCol="0" anchor="t" anchorCtr="0">
            <a:normAutofit/>
          </a:bodyPr>
          <a:lstStyle/>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The architecture separates transaction publishing, message buffering, reconciliation processing, and database persistence into clear runtime components.</a:t>
            </a:r>
          </a:p>
          <a:p>
            <a:pPr marL="457200" indent="-171450">
              <a:lnSpc>
                <a:spcPct val="135000"/>
              </a:lnSpc>
              <a:buFont typeface="Arial" panose="020B0604020202020204" pitchFamily="34" charset="0"/>
              <a:buChar char="•"/>
              <a:defRPr/>
            </a:pPr>
            <a:endParaRPr lang="en-US" sz="1100" dirty="0">
              <a:solidFill>
                <a:srgbClr val="566982"/>
              </a:solidFill>
              <a:latin typeface="Aptos" panose="020B0004020202020204" pitchFamily="34" charset="0"/>
            </a:endParaRP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IBM MQ provides reliable decoupling between producer and consumer, while correlation IDs help trace each reconciliation transaction end to end.</a:t>
            </a:r>
          </a:p>
        </p:txBody>
      </p:sp>
      <p:sp>
        <p:nvSpPr>
          <p:cNvPr id="8" name="codex_template_top_accent">
            <a:extLst>
              <a:ext uri="{FF2B5EF4-FFF2-40B4-BE49-F238E27FC236}">
                <a16:creationId xmlns:a16="http://schemas.microsoft.com/office/drawing/2014/main" id="{62DE8D3C-0D23-1D0B-7910-7E9B8134C964}"/>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dex_template_footer">
            <a:extLst>
              <a:ext uri="{FF2B5EF4-FFF2-40B4-BE49-F238E27FC236}">
                <a16:creationId xmlns:a16="http://schemas.microsoft.com/office/drawing/2014/main" id="{FF30A71E-E544-D5B5-8E1A-E7308E81726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1" name="codex_template_slide_number">
            <a:extLst>
              <a:ext uri="{FF2B5EF4-FFF2-40B4-BE49-F238E27FC236}">
                <a16:creationId xmlns:a16="http://schemas.microsoft.com/office/drawing/2014/main" id="{547FD8A8-D132-5FED-EF0F-48ACF47F6C4D}"/>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4</a:t>
            </a:r>
          </a:p>
        </p:txBody>
      </p:sp>
      <p:cxnSp>
        <p:nvCxnSpPr>
          <p:cNvPr id="12" name="codex_template_title_rule">
            <a:extLst>
              <a:ext uri="{FF2B5EF4-FFF2-40B4-BE49-F238E27FC236}">
                <a16:creationId xmlns:a16="http://schemas.microsoft.com/office/drawing/2014/main" id="{9B46C064-CD11-163B-6BC8-0899FEEC7ED3}"/>
              </a:ext>
            </a:extLst>
          </p:cNvPr>
          <p:cNvCxnSpPr/>
          <p:nvPr/>
        </p:nvCxnSpPr>
        <p:spPr>
          <a:xfrm>
            <a:off x="812800" y="116017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468C420-5AEF-EA40-C7DF-4B789DA1B50B}"/>
              </a:ext>
            </a:extLst>
          </p:cNvPr>
          <p:cNvPicPr>
            <a:picLocks noChangeAspect="1"/>
          </p:cNvPicPr>
          <p:nvPr/>
        </p:nvPicPr>
        <p:blipFill>
          <a:blip r:embed="rId3"/>
          <a:stretch>
            <a:fillRect/>
          </a:stretch>
        </p:blipFill>
        <p:spPr>
          <a:xfrm>
            <a:off x="812800" y="1786941"/>
            <a:ext cx="8430802" cy="4182059"/>
          </a:xfrm>
          <a:prstGeom prst="rect">
            <a:avLst/>
          </a:prstGeom>
        </p:spPr>
      </p:pic>
    </p:spTree>
    <p:extLst>
      <p:ext uri="{BB962C8B-B14F-4D97-AF65-F5344CB8AC3E}">
        <p14:creationId xmlns:p14="http://schemas.microsoft.com/office/powerpoint/2010/main" val="36996137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6C6AE876-F04E-E1B3-B9D0-9D644B5C8AE3}"/>
            </a:ext>
          </a:extLst>
        </p:cNvPr>
        <p:cNvGrpSpPr/>
        <p:nvPr/>
      </p:nvGrpSpPr>
      <p:grpSpPr>
        <a:xfrm>
          <a:off x="0" y="0"/>
          <a:ext cx="0" cy="0"/>
          <a:chOff x="0" y="0"/>
          <a:chExt cx="0" cy="0"/>
        </a:xfrm>
      </p:grpSpPr>
      <p:sp>
        <p:nvSpPr>
          <p:cNvPr id="5" name="codex_template_right_wash">
            <a:extLst>
              <a:ext uri="{FF2B5EF4-FFF2-40B4-BE49-F238E27FC236}">
                <a16:creationId xmlns:a16="http://schemas.microsoft.com/office/drawing/2014/main" id="{84E27C99-E891-CE46-BD6A-17A133FD9213}"/>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a16:creationId xmlns:a16="http://schemas.microsoft.com/office/drawing/2014/main" id="{6A95F72E-F50C-471D-10EA-D3364B19B473}"/>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a16:creationId xmlns:a16="http://schemas.microsoft.com/office/drawing/2014/main" id="{B44660F2-6476-BC34-3CCC-EDF3792564DD}"/>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a:extLst>
              <a:ext uri="{FF2B5EF4-FFF2-40B4-BE49-F238E27FC236}">
                <a16:creationId xmlns:a16="http://schemas.microsoft.com/office/drawing/2014/main" id="{B79E406D-5E37-D4E3-C1BA-654DD26B6175}"/>
              </a:ext>
            </a:extLst>
          </p:cNvPr>
          <p:cNvSpPr/>
          <p:nvPr/>
        </p:nvSpPr>
        <p:spPr>
          <a:xfrm>
            <a:off x="812800" y="482839"/>
            <a:ext cx="10414000" cy="533400"/>
          </a:xfrm>
          <a:prstGeom prst="rect">
            <a:avLst/>
          </a:prstGeom>
          <a:solidFill>
            <a:scrgbClr r="0" g="0" b="0">
              <a:alpha val="0"/>
            </a:scrgbClr>
          </a:solidFill>
          <a:ln w="15875" cap="flat" cmpd="sng">
            <a:noFill/>
          </a:ln>
          <a:effectLst/>
        </p:spPr>
        <p:txBody>
          <a:bodyPr vert="horz" wrap="square" lIns="0" tIns="0" rIns="0" bIns="0" rtlCol="0" anchor="ctr" anchorCtr="0">
            <a:noAutofit/>
          </a:bodyPr>
          <a:lstStyle/>
          <a:p>
            <a:pPr indent="0" algn="l">
              <a:lnSpc>
                <a:spcPct val="125000"/>
              </a:lnSpc>
              <a:defRPr/>
            </a:pPr>
            <a:r>
              <a:rPr lang="en-US" sz="2800" b="1" i="0" u="none" strike="noStrike" dirty="0">
                <a:solidFill>
                  <a:srgbClr val="142D4E"/>
                </a:solidFill>
                <a:latin typeface="Aptos Display" panose="020B0004020202020204" pitchFamily="34" charset="0"/>
                <a:ea typeface="Montserrat"/>
                <a:cs typeface="Montserrat"/>
                <a:sym typeface="Montserrat"/>
              </a:rPr>
              <a:t>High Level Infra Architecture</a:t>
            </a:r>
            <a:endParaRPr lang="en-US" sz="2800" b="1" dirty="0">
              <a:solidFill>
                <a:srgbClr val="142D4E"/>
              </a:solidFill>
              <a:latin typeface="Aptos Display" panose="020B0004020202020204" pitchFamily="34" charset="0"/>
            </a:endParaRPr>
          </a:p>
        </p:txBody>
      </p:sp>
      <p:sp>
        <p:nvSpPr>
          <p:cNvPr id="7" name="codex_template_top_accent">
            <a:extLst>
              <a:ext uri="{FF2B5EF4-FFF2-40B4-BE49-F238E27FC236}">
                <a16:creationId xmlns:a16="http://schemas.microsoft.com/office/drawing/2014/main" id="{11468EC5-7B03-728C-D480-4C65770530DF}"/>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dex_template_footer">
            <a:extLst>
              <a:ext uri="{FF2B5EF4-FFF2-40B4-BE49-F238E27FC236}">
                <a16:creationId xmlns:a16="http://schemas.microsoft.com/office/drawing/2014/main" id="{240539CD-68F0-9586-2040-61049CAEAD73}"/>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0" name="codex_template_slide_number">
            <a:extLst>
              <a:ext uri="{FF2B5EF4-FFF2-40B4-BE49-F238E27FC236}">
                <a16:creationId xmlns:a16="http://schemas.microsoft.com/office/drawing/2014/main" id="{7DBD281F-8F0F-DDD6-FAC1-26CE67CF2CE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5</a:t>
            </a:r>
          </a:p>
        </p:txBody>
      </p:sp>
      <p:cxnSp>
        <p:nvCxnSpPr>
          <p:cNvPr id="11" name="codex_template_title_rule">
            <a:extLst>
              <a:ext uri="{FF2B5EF4-FFF2-40B4-BE49-F238E27FC236}">
                <a16:creationId xmlns:a16="http://schemas.microsoft.com/office/drawing/2014/main" id="{CE115411-2256-8C0F-12F8-9CF0AB00845A}"/>
              </a:ext>
            </a:extLst>
          </p:cNvPr>
          <p:cNvCxnSpPr/>
          <p:nvPr/>
        </p:nvCxnSpPr>
        <p:spPr>
          <a:xfrm>
            <a:off x="812800" y="114323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
        <p:nvSpPr>
          <p:cNvPr id="12" name="AutoShape 3">
            <a:extLst>
              <a:ext uri="{FF2B5EF4-FFF2-40B4-BE49-F238E27FC236}">
                <a16:creationId xmlns:a16="http://schemas.microsoft.com/office/drawing/2014/main" id="{79254302-A816-57FF-D4A2-874440E1D8CC}"/>
              </a:ext>
            </a:extLst>
          </p:cNvPr>
          <p:cNvSpPr/>
          <p:nvPr/>
        </p:nvSpPr>
        <p:spPr>
          <a:xfrm>
            <a:off x="9122038" y="2095029"/>
            <a:ext cx="2821021" cy="4331170"/>
          </a:xfrm>
          <a:prstGeom prst="rect">
            <a:avLst/>
          </a:prstGeom>
          <a:noFill/>
          <a:ln w="15875" cap="flat" cmpd="sng">
            <a:noFill/>
          </a:ln>
          <a:effectLst>
            <a:outerShdw blurRad="63500" dist="28398" dir="3806086" rotWithShape="0">
              <a:srgbClr val="B9CCE0">
                <a:alpha val="22000"/>
              </a:srgbClr>
            </a:outerShdw>
          </a:effectLst>
        </p:spPr>
        <p:txBody>
          <a:bodyPr vert="horz" wrap="square" lIns="101600" tIns="63500" rIns="101600" bIns="63500" rtlCol="0" anchor="t" anchorCtr="0">
            <a:normAutofit/>
          </a:bodyPr>
          <a:lstStyle/>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AWS EKS runs the producer, consumer, and dashboard services as scalable Kubernetes deployments.</a:t>
            </a:r>
          </a:p>
          <a:p>
            <a:pPr marL="457200" indent="-171450">
              <a:lnSpc>
                <a:spcPct val="135000"/>
              </a:lnSpc>
              <a:buFont typeface="Arial" panose="020B0604020202020204" pitchFamily="34" charset="0"/>
              <a:buChar char="•"/>
              <a:defRPr/>
            </a:pPr>
            <a:endParaRPr lang="en-US" sz="1100" dirty="0">
              <a:solidFill>
                <a:srgbClr val="566982"/>
              </a:solidFill>
              <a:latin typeface="Aptos" panose="020B0004020202020204" pitchFamily="34" charset="0"/>
            </a:endParaRP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IBM MQ and PostgreSQL provide reliable messaging and durable reconciliation storage with persistent volumes/backups.</a:t>
            </a:r>
          </a:p>
          <a:p>
            <a:pPr marL="457200" indent="-171450">
              <a:lnSpc>
                <a:spcPct val="135000"/>
              </a:lnSpc>
              <a:buFont typeface="Arial" panose="020B0604020202020204" pitchFamily="34" charset="0"/>
              <a:buChar char="•"/>
              <a:defRPr/>
            </a:pPr>
            <a:endParaRPr lang="en-US" sz="1100" dirty="0">
              <a:solidFill>
                <a:srgbClr val="566982"/>
              </a:solidFill>
              <a:latin typeface="Aptos" panose="020B0004020202020204" pitchFamily="34" charset="0"/>
            </a:endParaRP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AWS Secrets Manager, IAM roles, security groups, and observability tools secure and monitor the platform end to end.</a:t>
            </a:r>
          </a:p>
        </p:txBody>
      </p:sp>
      <p:pic>
        <p:nvPicPr>
          <p:cNvPr id="13" name="Picture 12">
            <a:extLst>
              <a:ext uri="{FF2B5EF4-FFF2-40B4-BE49-F238E27FC236}">
                <a16:creationId xmlns:a16="http://schemas.microsoft.com/office/drawing/2014/main" id="{F03845D7-401E-CBB2-59FA-EA5873B4FA39}"/>
              </a:ext>
            </a:extLst>
          </p:cNvPr>
          <p:cNvPicPr>
            <a:picLocks noChangeAspect="1"/>
          </p:cNvPicPr>
          <p:nvPr/>
        </p:nvPicPr>
        <p:blipFill>
          <a:blip r:embed="rId3"/>
          <a:stretch>
            <a:fillRect/>
          </a:stretch>
        </p:blipFill>
        <p:spPr>
          <a:xfrm>
            <a:off x="839360" y="1339636"/>
            <a:ext cx="8040222" cy="4763165"/>
          </a:xfrm>
          <a:prstGeom prst="rect">
            <a:avLst/>
          </a:prstGeom>
        </p:spPr>
      </p:pic>
    </p:spTree>
    <p:extLst>
      <p:ext uri="{BB962C8B-B14F-4D97-AF65-F5344CB8AC3E}">
        <p14:creationId xmlns:p14="http://schemas.microsoft.com/office/powerpoint/2010/main" val="1117809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codex_template_right_wash">
            <a:extLst>
              <a:ext uri="{FF2B5EF4-FFF2-40B4-BE49-F238E27FC236}">
                <a16:creationId xmlns:a16="http://schemas.microsoft.com/office/drawing/2014/main" id="{938D850B-BBCB-4507-02DF-08DF3EA567A9}"/>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dex_template_header_band">
            <a:extLst>
              <a:ext uri="{FF2B5EF4-FFF2-40B4-BE49-F238E27FC236}">
                <a16:creationId xmlns:a16="http://schemas.microsoft.com/office/drawing/2014/main" id="{A2EA9034-7171-6AC2-CEBA-6648F7945534}"/>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dex_template_background">
            <a:extLst>
              <a:ext uri="{FF2B5EF4-FFF2-40B4-BE49-F238E27FC236}">
                <a16:creationId xmlns:a16="http://schemas.microsoft.com/office/drawing/2014/main" id="{445B3358-FE74-499A-8EAC-E4574DF067BE}"/>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6D8D296-3529-F8C2-F77A-99AF9FF22BC7}"/>
              </a:ext>
            </a:extLst>
          </p:cNvPr>
          <p:cNvSpPr txBox="1"/>
          <p:nvPr/>
        </p:nvSpPr>
        <p:spPr>
          <a:xfrm>
            <a:off x="812800" y="571229"/>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End-to-End Message Flow</a:t>
            </a:r>
          </a:p>
        </p:txBody>
      </p:sp>
      <p:sp>
        <p:nvSpPr>
          <p:cNvPr id="14" name="Rectangle: Rounded Corners 13">
            <a:extLst>
              <a:ext uri="{FF2B5EF4-FFF2-40B4-BE49-F238E27FC236}">
                <a16:creationId xmlns:a16="http://schemas.microsoft.com/office/drawing/2014/main" id="{4CCF5B9A-2BF4-4142-9A41-618E6840680D}"/>
              </a:ext>
            </a:extLst>
          </p:cNvPr>
          <p:cNvSpPr/>
          <p:nvPr/>
        </p:nvSpPr>
        <p:spPr>
          <a:xfrm>
            <a:off x="571500" y="2159000"/>
            <a:ext cx="1841500" cy="1117600"/>
          </a:xfrm>
          <a:prstGeom prst="roundRect">
            <a:avLst/>
          </a:prstGeom>
          <a:solidFill>
            <a:srgbClr val="E2F1FF"/>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76D2"/>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Producer</a:t>
            </a:r>
          </a:p>
          <a:p>
            <a:pPr algn="ctr"/>
            <a:r>
              <a:rPr lang="en-US" sz="1300" b="1">
                <a:solidFill>
                  <a:srgbClr val="566982"/>
                </a:solidFill>
                <a:latin typeface="Aptos" panose="020B0004020202020204" pitchFamily="34" charset="0"/>
              </a:rPr>
              <a:t>Java 17</a:t>
            </a:r>
          </a:p>
          <a:p>
            <a:pPr algn="ctr"/>
            <a:r>
              <a:rPr lang="en-US" sz="1300" b="1">
                <a:solidFill>
                  <a:srgbClr val="566982"/>
                </a:solidFill>
                <a:latin typeface="Aptos" panose="020B0004020202020204" pitchFamily="34" charset="0"/>
              </a:rPr>
              <a:t>Random transactions</a:t>
            </a:r>
          </a:p>
        </p:txBody>
      </p:sp>
      <p:sp>
        <p:nvSpPr>
          <p:cNvPr id="15" name="Rectangle: Rounded Corners 14">
            <a:extLst>
              <a:ext uri="{FF2B5EF4-FFF2-40B4-BE49-F238E27FC236}">
                <a16:creationId xmlns:a16="http://schemas.microsoft.com/office/drawing/2014/main" id="{D3F54D78-350F-B0FB-734B-05C35FB156DF}"/>
              </a:ext>
            </a:extLst>
          </p:cNvPr>
          <p:cNvSpPr/>
          <p:nvPr/>
        </p:nvSpPr>
        <p:spPr>
          <a:xfrm>
            <a:off x="2984500" y="2006600"/>
            <a:ext cx="1905000" cy="1498600"/>
          </a:xfrm>
          <a:prstGeom prst="roundRect">
            <a:avLst/>
          </a:prstGeom>
          <a:solidFill>
            <a:srgbClr val="FFF2DD"/>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fr-FR" sz="1300" b="1">
                <a:solidFill>
                  <a:srgbClr val="566982"/>
                </a:solidFill>
                <a:latin typeface="Aptos" panose="020B0004020202020204" pitchFamily="34" charset="0"/>
              </a:rPr>
              <a:t>IBM MQ</a:t>
            </a:r>
          </a:p>
          <a:p>
            <a:pPr algn="ctr"/>
            <a:r>
              <a:rPr lang="fr-FR" sz="1300" b="1">
                <a:solidFill>
                  <a:srgbClr val="566982"/>
                </a:solidFill>
                <a:latin typeface="Aptos" panose="020B0004020202020204" pitchFamily="34" charset="0"/>
              </a:rPr>
              <a:t>RECON.IN</a:t>
            </a:r>
          </a:p>
          <a:p>
            <a:pPr algn="ctr"/>
            <a:r>
              <a:rPr lang="fr-FR" sz="1300" b="1">
                <a:solidFill>
                  <a:srgbClr val="566982"/>
                </a:solidFill>
                <a:latin typeface="Aptos" panose="020B0004020202020204" pitchFamily="34" charset="0"/>
              </a:rPr>
              <a:t>Persistent message</a:t>
            </a:r>
            <a:endParaRPr lang="en-US" sz="1300" b="1">
              <a:solidFill>
                <a:srgbClr val="566982"/>
              </a:solidFill>
              <a:latin typeface="Aptos" panose="020B0004020202020204" pitchFamily="34" charset="0"/>
            </a:endParaRPr>
          </a:p>
        </p:txBody>
      </p:sp>
      <p:sp>
        <p:nvSpPr>
          <p:cNvPr id="16" name="Rectangle: Rounded Corners 15">
            <a:extLst>
              <a:ext uri="{FF2B5EF4-FFF2-40B4-BE49-F238E27FC236}">
                <a16:creationId xmlns:a16="http://schemas.microsoft.com/office/drawing/2014/main" id="{339A2ACB-9B13-10C8-76B1-8387CDE9001B}"/>
              </a:ext>
            </a:extLst>
          </p:cNvPr>
          <p:cNvSpPr/>
          <p:nvPr/>
        </p:nvSpPr>
        <p:spPr>
          <a:xfrm>
            <a:off x="5461000" y="2159000"/>
            <a:ext cx="2032000" cy="1117600"/>
          </a:xfrm>
          <a:prstGeom prst="roundRect">
            <a:avLst/>
          </a:prstGeom>
          <a:solidFill>
            <a:srgbClr val="E1F8F4"/>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998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Consumer</a:t>
            </a:r>
          </a:p>
          <a:p>
            <a:pPr algn="ctr"/>
            <a:r>
              <a:rPr lang="en-US" sz="1300" b="1">
                <a:solidFill>
                  <a:srgbClr val="566982"/>
                </a:solidFill>
                <a:latin typeface="Aptos" panose="020B0004020202020204" pitchFamily="34" charset="0"/>
              </a:rPr>
              <a:t>Concurrent JMS</a:t>
            </a:r>
          </a:p>
          <a:p>
            <a:pPr algn="ctr"/>
            <a:r>
              <a:rPr lang="en-US" sz="1300" b="1">
                <a:solidFill>
                  <a:srgbClr val="566982"/>
                </a:solidFill>
                <a:latin typeface="Aptos" panose="020B0004020202020204" pitchFamily="34" charset="0"/>
              </a:rPr>
              <a:t>Reconcile</a:t>
            </a:r>
          </a:p>
        </p:txBody>
      </p:sp>
      <p:sp>
        <p:nvSpPr>
          <p:cNvPr id="17" name="Rectangle: Rounded Corners 16">
            <a:extLst>
              <a:ext uri="{FF2B5EF4-FFF2-40B4-BE49-F238E27FC236}">
                <a16:creationId xmlns:a16="http://schemas.microsoft.com/office/drawing/2014/main" id="{29FC7821-9640-8593-F2FE-40E6D942797C}"/>
              </a:ext>
            </a:extLst>
          </p:cNvPr>
          <p:cNvSpPr/>
          <p:nvPr/>
        </p:nvSpPr>
        <p:spPr>
          <a:xfrm>
            <a:off x="8255000" y="2006600"/>
            <a:ext cx="2159000" cy="1498600"/>
          </a:xfrm>
          <a:prstGeom prst="roundRect">
            <a:avLst/>
          </a:prstGeom>
          <a:solidFill>
            <a:srgbClr val="EFEBFF"/>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705EC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fr-FR" sz="1300" b="1">
                <a:solidFill>
                  <a:srgbClr val="566982"/>
                </a:solidFill>
                <a:latin typeface="Aptos" panose="020B0004020202020204" pitchFamily="34" charset="0"/>
              </a:rPr>
              <a:t>PostgreSQL</a:t>
            </a:r>
          </a:p>
          <a:p>
            <a:pPr algn="ctr"/>
            <a:r>
              <a:rPr lang="fr-FR" sz="1300" b="1">
                <a:solidFill>
                  <a:srgbClr val="566982"/>
                </a:solidFill>
                <a:latin typeface="Aptos" panose="020B0004020202020204" pitchFamily="34" charset="0"/>
              </a:rPr>
              <a:t>reconciliation_record</a:t>
            </a:r>
          </a:p>
          <a:p>
            <a:pPr algn="ctr"/>
            <a:r>
              <a:rPr lang="fr-FR" sz="1300" b="1">
                <a:solidFill>
                  <a:srgbClr val="566982"/>
                </a:solidFill>
                <a:latin typeface="Aptos" panose="020B0004020202020204" pitchFamily="34" charset="0"/>
              </a:rPr>
              <a:t>Status + audit</a:t>
            </a:r>
            <a:endParaRPr lang="en-US" sz="1300" b="1">
              <a:solidFill>
                <a:srgbClr val="566982"/>
              </a:solidFill>
              <a:latin typeface="Aptos" panose="020B0004020202020204" pitchFamily="34" charset="0"/>
            </a:endParaRPr>
          </a:p>
        </p:txBody>
      </p:sp>
      <p:sp>
        <p:nvSpPr>
          <p:cNvPr id="18" name="Rectangle: Rounded Corners 17">
            <a:extLst>
              <a:ext uri="{FF2B5EF4-FFF2-40B4-BE49-F238E27FC236}">
                <a16:creationId xmlns:a16="http://schemas.microsoft.com/office/drawing/2014/main" id="{0114FF1E-55B6-4BAE-B774-B0594B5B7D33}"/>
              </a:ext>
            </a:extLst>
          </p:cNvPr>
          <p:cNvSpPr/>
          <p:nvPr/>
        </p:nvSpPr>
        <p:spPr>
          <a:xfrm>
            <a:off x="5461000" y="4191000"/>
            <a:ext cx="2032000" cy="1143000"/>
          </a:xfrm>
          <a:prstGeom prst="roundRect">
            <a:avLst/>
          </a:prstGeom>
          <a:solidFill>
            <a:srgbClr val="F7FAFD"/>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5B6E8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Dashboard API</a:t>
            </a:r>
          </a:p>
          <a:p>
            <a:pPr algn="ctr"/>
            <a:r>
              <a:rPr lang="en-US" sz="1300" b="1">
                <a:solidFill>
                  <a:srgbClr val="566982"/>
                </a:solidFill>
                <a:latin typeface="Aptos" panose="020B0004020202020204" pitchFamily="34" charset="0"/>
              </a:rPr>
              <a:t>Status / failed</a:t>
            </a:r>
          </a:p>
          <a:p>
            <a:pPr algn="ctr"/>
            <a:r>
              <a:rPr lang="en-US" sz="1300" b="1">
                <a:solidFill>
                  <a:srgbClr val="566982"/>
                </a:solidFill>
                <a:latin typeface="Aptos" panose="020B0004020202020204" pitchFamily="34" charset="0"/>
              </a:rPr>
              <a:t>Queue / replay</a:t>
            </a:r>
          </a:p>
        </p:txBody>
      </p:sp>
      <p:sp>
        <p:nvSpPr>
          <p:cNvPr id="19" name="Rectangle: Rounded Corners 18">
            <a:extLst>
              <a:ext uri="{FF2B5EF4-FFF2-40B4-BE49-F238E27FC236}">
                <a16:creationId xmlns:a16="http://schemas.microsoft.com/office/drawing/2014/main" id="{1BB3F8C7-E085-86E2-3284-72D6431A46FC}"/>
              </a:ext>
            </a:extLst>
          </p:cNvPr>
          <p:cNvSpPr/>
          <p:nvPr/>
        </p:nvSpPr>
        <p:spPr>
          <a:xfrm>
            <a:off x="2984500" y="4191000"/>
            <a:ext cx="1905000" cy="1143000"/>
          </a:xfrm>
          <a:prstGeom prst="roundRect">
            <a:avLst/>
          </a:prstGeom>
          <a:solidFill>
            <a:srgbClr val="FFE8E8"/>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D54F4F"/>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Retry / Backout</a:t>
            </a:r>
          </a:p>
          <a:p>
            <a:pPr algn="ctr"/>
            <a:r>
              <a:rPr lang="en-US" sz="1300" b="1">
                <a:solidFill>
                  <a:srgbClr val="566982"/>
                </a:solidFill>
                <a:latin typeface="Aptos" panose="020B0004020202020204" pitchFamily="34" charset="0"/>
              </a:rPr>
              <a:t>DLQ paths</a:t>
            </a:r>
          </a:p>
          <a:p>
            <a:pPr algn="ctr"/>
            <a:r>
              <a:rPr lang="en-US" sz="1300" b="1">
                <a:solidFill>
                  <a:srgbClr val="566982"/>
                </a:solidFill>
                <a:latin typeface="Aptos" panose="020B0004020202020204" pitchFamily="34" charset="0"/>
              </a:rPr>
              <a:t>Replay support</a:t>
            </a:r>
          </a:p>
        </p:txBody>
      </p:sp>
      <p:cxnSp>
        <p:nvCxnSpPr>
          <p:cNvPr id="20" name="Straight Connector 19">
            <a:extLst>
              <a:ext uri="{FF2B5EF4-FFF2-40B4-BE49-F238E27FC236}">
                <a16:creationId xmlns:a16="http://schemas.microsoft.com/office/drawing/2014/main" id="{F00A52CB-612A-CA73-BF1E-42410CC1F23A}"/>
              </a:ext>
            </a:extLst>
          </p:cNvPr>
          <p:cNvCxnSpPr/>
          <p:nvPr/>
        </p:nvCxnSpPr>
        <p:spPr>
          <a:xfrm>
            <a:off x="2413000" y="2717800"/>
            <a:ext cx="571500" cy="0"/>
          </a:xfrm>
          <a:prstGeom prst="line">
            <a:avLst/>
          </a:prstGeom>
          <a:ln w="22860">
            <a:solidFill>
              <a:srgbClr val="0076D2"/>
            </a:solidFill>
            <a:tailEnd type="arrow"/>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E2D3916-4F1E-BECE-6119-DDF9FD8DD50C}"/>
              </a:ext>
            </a:extLst>
          </p:cNvPr>
          <p:cNvCxnSpPr/>
          <p:nvPr/>
        </p:nvCxnSpPr>
        <p:spPr>
          <a:xfrm>
            <a:off x="4889500" y="2717800"/>
            <a:ext cx="571500" cy="0"/>
          </a:xfrm>
          <a:prstGeom prst="line">
            <a:avLst/>
          </a:prstGeom>
          <a:ln w="22860">
            <a:solidFill>
              <a:srgbClr val="009988"/>
            </a:solidFill>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7964E2EF-98A7-5AAD-A919-8AE9DB0DD95E}"/>
              </a:ext>
            </a:extLst>
          </p:cNvPr>
          <p:cNvCxnSpPr/>
          <p:nvPr/>
        </p:nvCxnSpPr>
        <p:spPr>
          <a:xfrm>
            <a:off x="7493000" y="2717800"/>
            <a:ext cx="762000" cy="0"/>
          </a:xfrm>
          <a:prstGeom prst="line">
            <a:avLst/>
          </a:prstGeom>
          <a:ln w="22860">
            <a:solidFill>
              <a:srgbClr val="705EC6"/>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13CDC078-8B28-30F5-8753-AAF6133CFFD4}"/>
              </a:ext>
            </a:extLst>
          </p:cNvPr>
          <p:cNvCxnSpPr/>
          <p:nvPr/>
        </p:nvCxnSpPr>
        <p:spPr>
          <a:xfrm flipV="1">
            <a:off x="6477000" y="3276600"/>
            <a:ext cx="0" cy="91440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B2E5399C-AFC6-93AB-F4DA-643941ABF638}"/>
              </a:ext>
            </a:extLst>
          </p:cNvPr>
          <p:cNvCxnSpPr/>
          <p:nvPr/>
        </p:nvCxnSpPr>
        <p:spPr>
          <a:xfrm flipH="1">
            <a:off x="4889500" y="4749800"/>
            <a:ext cx="571500" cy="0"/>
          </a:xfrm>
          <a:prstGeom prst="line">
            <a:avLst/>
          </a:prstGeom>
          <a:ln w="22860">
            <a:solidFill>
              <a:srgbClr val="D54F4F"/>
            </a:solidFill>
            <a:tailEnd type="arrow"/>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079ED0A-A276-DF9E-4F8D-9466F917944F}"/>
              </a:ext>
            </a:extLst>
          </p:cNvPr>
          <p:cNvSpPr txBox="1"/>
          <p:nvPr/>
        </p:nvSpPr>
        <p:spPr>
          <a:xfrm>
            <a:off x="812800" y="1600199"/>
            <a:ext cx="10795000" cy="431800"/>
          </a:xfrm>
          <a:prstGeom prst="rect">
            <a:avLst/>
          </a:prstGeom>
          <a:solidFill>
            <a:scrgbClr r="0" g="0" b="0">
              <a:alpha val="0"/>
            </a:scrgbClr>
          </a:solidFill>
          <a:ln w="15875">
            <a:noFill/>
          </a:ln>
          <a:effectLst/>
        </p:spPr>
        <p:txBody>
          <a:bodyPr vert="horz" wrap="square" lIns="0" tIns="0" rIns="0" bIns="0" rtlCol="0">
            <a:noAutofit/>
          </a:bodyPr>
          <a:lstStyle/>
          <a:p>
            <a:r>
              <a:rPr lang="en-US">
                <a:solidFill>
                  <a:srgbClr val="566982"/>
                </a:solidFill>
                <a:latin typeface="Aptos" panose="020B0004020202020204" pitchFamily="34" charset="0"/>
              </a:rPr>
              <a:t>The message is the contract boundary: JSON TextMessage plus JMSCorrelationID and W3C tracing headers.</a:t>
            </a:r>
          </a:p>
        </p:txBody>
      </p:sp>
      <p:sp>
        <p:nvSpPr>
          <p:cNvPr id="26" name="TextBox 25">
            <a:extLst>
              <a:ext uri="{FF2B5EF4-FFF2-40B4-BE49-F238E27FC236}">
                <a16:creationId xmlns:a16="http://schemas.microsoft.com/office/drawing/2014/main" id="{89F734B7-FB28-3BA9-BBEF-96395195D0B2}"/>
              </a:ext>
            </a:extLst>
          </p:cNvPr>
          <p:cNvSpPr txBox="1"/>
          <p:nvPr/>
        </p:nvSpPr>
        <p:spPr>
          <a:xfrm>
            <a:off x="762000" y="5333999"/>
            <a:ext cx="11112500" cy="914400"/>
          </a:xfrm>
          <a:prstGeom prst="rect">
            <a:avLst/>
          </a:prstGeom>
          <a:solidFill>
            <a:scrgbClr r="0" g="0" b="0">
              <a:alpha val="0"/>
            </a:scrgbClr>
          </a:solid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sz="1300">
                <a:solidFill>
                  <a:srgbClr val="566982"/>
                </a:solidFill>
                <a:latin typeface="Aptos" panose="020B0004020202020204" pitchFamily="34" charset="0"/>
              </a:rPr>
              <a:t>- Business invalid transactions are persisted as INVALID, not silently dropped</a:t>
            </a:r>
          </a:p>
          <a:p>
            <a:r>
              <a:rPr lang="en-US" sz="1300">
                <a:solidFill>
                  <a:srgbClr val="566982"/>
                </a:solidFill>
                <a:latin typeface="Aptos" panose="020B0004020202020204" pitchFamily="34" charset="0"/>
              </a:rPr>
              <a:t>- Retryable technical failures follow retry/backout/DLQ paths</a:t>
            </a:r>
          </a:p>
          <a:p>
            <a:r>
              <a:rPr lang="en-US" sz="1300">
                <a:solidFill>
                  <a:srgbClr val="566982"/>
                </a:solidFill>
                <a:latin typeface="Aptos" panose="020B0004020202020204" pitchFamily="34" charset="0"/>
              </a:rPr>
              <a:t>- Dashboard can prove current status and replay recoverable failures</a:t>
            </a:r>
          </a:p>
        </p:txBody>
      </p:sp>
      <p:sp>
        <p:nvSpPr>
          <p:cNvPr id="30" name="codex_template_top_accent">
            <a:extLst>
              <a:ext uri="{FF2B5EF4-FFF2-40B4-BE49-F238E27FC236}">
                <a16:creationId xmlns:a16="http://schemas.microsoft.com/office/drawing/2014/main" id="{A96FA859-D83F-E56C-4D5F-7B2CA64F9BFA}"/>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codex_template_footer">
            <a:extLst>
              <a:ext uri="{FF2B5EF4-FFF2-40B4-BE49-F238E27FC236}">
                <a16:creationId xmlns:a16="http://schemas.microsoft.com/office/drawing/2014/main" id="{FCCB8017-19A9-2F21-0F6C-7CA3A89B208D}"/>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33" name="codex_template_slide_number">
            <a:extLst>
              <a:ext uri="{FF2B5EF4-FFF2-40B4-BE49-F238E27FC236}">
                <a16:creationId xmlns:a16="http://schemas.microsoft.com/office/drawing/2014/main" id="{26799BD8-FC68-B606-0426-20C95733C4F5}"/>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6</a:t>
            </a:r>
          </a:p>
        </p:txBody>
      </p:sp>
      <p:cxnSp>
        <p:nvCxnSpPr>
          <p:cNvPr id="34" name="codex_template_title_rule">
            <a:extLst>
              <a:ext uri="{FF2B5EF4-FFF2-40B4-BE49-F238E27FC236}">
                <a16:creationId xmlns:a16="http://schemas.microsoft.com/office/drawing/2014/main" id="{5899E1A5-A97E-E944-E331-9AA6A23C8FAF}"/>
              </a:ext>
            </a:extLst>
          </p:cNvPr>
          <p:cNvCxnSpPr/>
          <p:nvPr/>
        </p:nvCxnSpPr>
        <p:spPr>
          <a:xfrm>
            <a:off x="812800" y="123162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99151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D456D-1BD0-30B0-380A-4B3D5CEE10EF}"/>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CFB5DDE1-7E49-96E3-CE41-5E877386702A}"/>
              </a:ext>
            </a:extLst>
          </p:cNvPr>
          <p:cNvSpPr txBox="1"/>
          <p:nvPr/>
        </p:nvSpPr>
        <p:spPr>
          <a:xfrm>
            <a:off x="812800" y="571229"/>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Retry and DLQ Architecture</a:t>
            </a:r>
          </a:p>
        </p:txBody>
      </p:sp>
      <p:sp>
        <p:nvSpPr>
          <p:cNvPr id="30" name="codex_template_top_accent">
            <a:extLst>
              <a:ext uri="{FF2B5EF4-FFF2-40B4-BE49-F238E27FC236}">
                <a16:creationId xmlns:a16="http://schemas.microsoft.com/office/drawing/2014/main" id="{614EA47A-5313-D5AC-2D7E-2D0CCAF171C5}"/>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codex_template_footer">
            <a:extLst>
              <a:ext uri="{FF2B5EF4-FFF2-40B4-BE49-F238E27FC236}">
                <a16:creationId xmlns:a16="http://schemas.microsoft.com/office/drawing/2014/main" id="{B23E3017-6C8F-67AD-12B8-989F36A737D3}"/>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33" name="codex_template_slide_number">
            <a:extLst>
              <a:ext uri="{FF2B5EF4-FFF2-40B4-BE49-F238E27FC236}">
                <a16:creationId xmlns:a16="http://schemas.microsoft.com/office/drawing/2014/main" id="{AB1DC3C2-B306-E586-9F08-EDBDC1E9A46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6</a:t>
            </a:r>
          </a:p>
        </p:txBody>
      </p:sp>
      <p:cxnSp>
        <p:nvCxnSpPr>
          <p:cNvPr id="34" name="codex_template_title_rule">
            <a:extLst>
              <a:ext uri="{FF2B5EF4-FFF2-40B4-BE49-F238E27FC236}">
                <a16:creationId xmlns:a16="http://schemas.microsoft.com/office/drawing/2014/main" id="{456326FC-18CE-6B56-CE37-09532EDEEBAA}"/>
              </a:ext>
            </a:extLst>
          </p:cNvPr>
          <p:cNvCxnSpPr/>
          <p:nvPr/>
        </p:nvCxnSpPr>
        <p:spPr>
          <a:xfrm>
            <a:off x="812800" y="123162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916752F0-117E-F983-36CC-41821E5B5042}"/>
              </a:ext>
            </a:extLst>
          </p:cNvPr>
          <p:cNvPicPr>
            <a:picLocks noChangeAspect="1"/>
          </p:cNvPicPr>
          <p:nvPr/>
        </p:nvPicPr>
        <p:blipFill>
          <a:blip r:embed="rId2"/>
          <a:stretch>
            <a:fillRect/>
          </a:stretch>
        </p:blipFill>
        <p:spPr>
          <a:xfrm>
            <a:off x="812800" y="1257968"/>
            <a:ext cx="10178374" cy="5239712"/>
          </a:xfrm>
          <a:prstGeom prst="rect">
            <a:avLst/>
          </a:prstGeom>
        </p:spPr>
      </p:pic>
    </p:spTree>
    <p:extLst>
      <p:ext uri="{BB962C8B-B14F-4D97-AF65-F5344CB8AC3E}">
        <p14:creationId xmlns:p14="http://schemas.microsoft.com/office/powerpoint/2010/main" val="175301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28687-1E82-4299-6507-D2700F636DBA}"/>
            </a:ext>
          </a:extLst>
        </p:cNvPr>
        <p:cNvGrpSpPr/>
        <p:nvPr/>
      </p:nvGrpSpPr>
      <p:grpSpPr>
        <a:xfrm>
          <a:off x="0" y="0"/>
          <a:ext cx="0" cy="0"/>
          <a:chOff x="0" y="0"/>
          <a:chExt cx="0" cy="0"/>
        </a:xfrm>
      </p:grpSpPr>
      <p:sp>
        <p:nvSpPr>
          <p:cNvPr id="25" name="codex_template_right_wash">
            <a:extLst>
              <a:ext uri="{FF2B5EF4-FFF2-40B4-BE49-F238E27FC236}">
                <a16:creationId xmlns:a16="http://schemas.microsoft.com/office/drawing/2014/main" id="{905C9511-E7EE-559D-71CC-19CB9C108179}"/>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codex_template_header_band">
            <a:extLst>
              <a:ext uri="{FF2B5EF4-FFF2-40B4-BE49-F238E27FC236}">
                <a16:creationId xmlns:a16="http://schemas.microsoft.com/office/drawing/2014/main" id="{007AD69A-5C0B-C8E3-7132-E383240AEBE6}"/>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background">
            <a:extLst>
              <a:ext uri="{FF2B5EF4-FFF2-40B4-BE49-F238E27FC236}">
                <a16:creationId xmlns:a16="http://schemas.microsoft.com/office/drawing/2014/main" id="{A9B4E948-CE26-5EA9-B5ED-F5BD1E9E97B9}"/>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557EBCA-AE74-0CE2-80CC-2386EDF75E2D}"/>
              </a:ext>
            </a:extLst>
          </p:cNvPr>
          <p:cNvSpPr txBox="1"/>
          <p:nvPr/>
        </p:nvSpPr>
        <p:spPr>
          <a:xfrm>
            <a:off x="822528" y="588488"/>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Key Security Considerations</a:t>
            </a:r>
          </a:p>
        </p:txBody>
      </p:sp>
      <p:sp>
        <p:nvSpPr>
          <p:cNvPr id="15" name="TextBox 14">
            <a:extLst>
              <a:ext uri="{FF2B5EF4-FFF2-40B4-BE49-F238E27FC236}">
                <a16:creationId xmlns:a16="http://schemas.microsoft.com/office/drawing/2014/main" id="{765D91C2-A0AE-7C93-37B7-2EBBC8373C08}"/>
              </a:ext>
            </a:extLst>
          </p:cNvPr>
          <p:cNvSpPr txBox="1"/>
          <p:nvPr/>
        </p:nvSpPr>
        <p:spPr>
          <a:xfrm>
            <a:off x="6378642" y="1248888"/>
            <a:ext cx="5178358" cy="5113811"/>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lnSpcReduction="10000"/>
          </a:bodyPr>
          <a:lstStyle/>
          <a:p>
            <a:pPr marL="285750" indent="-285750">
              <a:lnSpc>
                <a:spcPct val="120000"/>
              </a:lnSpc>
              <a:buFont typeface="Arial"/>
              <a:buChar char="•"/>
            </a:pPr>
            <a:r>
              <a:rPr lang="en-US" dirty="0">
                <a:solidFill>
                  <a:srgbClr val="566982"/>
                </a:solidFill>
                <a:latin typeface="Aptos" panose="020B0004020202020204" pitchFamily="34" charset="0"/>
              </a:rPr>
              <a:t>Secrets are externalized using AWS Secrets Manager, MQ, DB, and runtime credentials are not hardcoded in source code or property files.</a:t>
            </a:r>
          </a:p>
          <a:p>
            <a:pPr marL="285750" indent="-285750">
              <a:lnSpc>
                <a:spcPct val="120000"/>
              </a:lnSpc>
              <a:buFont typeface="Arial"/>
              <a:buChar char="•"/>
            </a:pPr>
            <a:r>
              <a:rPr lang="en-US" dirty="0">
                <a:solidFill>
                  <a:srgbClr val="566982"/>
                </a:solidFill>
                <a:latin typeface="Aptos" panose="020B0004020202020204" pitchFamily="34" charset="0"/>
              </a:rPr>
              <a:t>Workload identity is controlled through Kubernetes service accounts and AWS IAM role integration, avoiding static AWS credentials inside pods.</a:t>
            </a:r>
          </a:p>
          <a:p>
            <a:pPr marL="285750" indent="-285750">
              <a:lnSpc>
                <a:spcPct val="120000"/>
              </a:lnSpc>
              <a:buFont typeface="Arial"/>
              <a:buChar char="•"/>
            </a:pPr>
            <a:r>
              <a:rPr lang="en-US" dirty="0">
                <a:solidFill>
                  <a:srgbClr val="566982"/>
                </a:solidFill>
                <a:latin typeface="Aptos" panose="020B0004020202020204" pitchFamily="34" charset="0"/>
              </a:rPr>
              <a:t>Network access is restricted by keeping PostgreSQL/RDS private and allowing access only through VPC security groups from the EKS workload network.</a:t>
            </a:r>
          </a:p>
          <a:p>
            <a:pPr marL="285750" indent="-285750">
              <a:lnSpc>
                <a:spcPct val="120000"/>
              </a:lnSpc>
              <a:buFont typeface="Arial"/>
              <a:buChar char="•"/>
            </a:pPr>
            <a:r>
              <a:rPr lang="en-US" dirty="0">
                <a:solidFill>
                  <a:srgbClr val="566982"/>
                </a:solidFill>
                <a:latin typeface="Aptos" panose="020B0004020202020204" pitchFamily="34" charset="0"/>
              </a:rPr>
              <a:t>IBM MQ access is least-privilege based using a dedicated app principal with explicit OAM permissions for input, retry, backout, replay, and DLQ queues.</a:t>
            </a:r>
          </a:p>
          <a:p>
            <a:pPr marL="285750" indent="-285750">
              <a:lnSpc>
                <a:spcPct val="120000"/>
              </a:lnSpc>
              <a:buFont typeface="Arial"/>
              <a:buChar char="•"/>
            </a:pPr>
            <a:r>
              <a:rPr lang="en-US" dirty="0">
                <a:solidFill>
                  <a:srgbClr val="566982"/>
                </a:solidFill>
                <a:latin typeface="Aptos" panose="020B0004020202020204" pitchFamily="34" charset="0"/>
              </a:rPr>
              <a:t>Container and Kubernetes security controls include private ECR images, non-root pod execution, restricted container privileges, readiness/liveness probes, and </a:t>
            </a:r>
            <a:r>
              <a:rPr lang="en-US" dirty="0" err="1">
                <a:solidFill>
                  <a:srgbClr val="566982"/>
                </a:solidFill>
                <a:latin typeface="Aptos" panose="020B0004020202020204" pitchFamily="34" charset="0"/>
              </a:rPr>
              <a:t>ConfigMaps</a:t>
            </a:r>
            <a:r>
              <a:rPr lang="en-US" dirty="0">
                <a:solidFill>
                  <a:srgbClr val="566982"/>
                </a:solidFill>
                <a:latin typeface="Aptos" panose="020B0004020202020204" pitchFamily="34" charset="0"/>
              </a:rPr>
              <a:t> for non-sensitive config only.</a:t>
            </a:r>
          </a:p>
          <a:p>
            <a:pPr marL="285750" indent="-285750">
              <a:lnSpc>
                <a:spcPct val="120000"/>
              </a:lnSpc>
              <a:buFont typeface="Arial"/>
              <a:buChar char="•"/>
            </a:pPr>
            <a:r>
              <a:rPr lang="en-US" dirty="0">
                <a:solidFill>
                  <a:srgbClr val="566982"/>
                </a:solidFill>
                <a:latin typeface="Aptos" panose="020B0004020202020204" pitchFamily="34" charset="0"/>
              </a:rPr>
              <a:t>Operational security is considered through structured logging without secrets, trace/correlation IDs for auditability, and the recommendation to protect Grafana, Jaeger, MQ console, and dashboard APIs with enterprise authentication in production.</a:t>
            </a:r>
          </a:p>
        </p:txBody>
      </p:sp>
      <p:sp>
        <p:nvSpPr>
          <p:cNvPr id="26" name="codex_template_top_accent">
            <a:extLst>
              <a:ext uri="{FF2B5EF4-FFF2-40B4-BE49-F238E27FC236}">
                <a16:creationId xmlns:a16="http://schemas.microsoft.com/office/drawing/2014/main" id="{98D06990-7FC4-CBF8-D1A3-9F848D0DC352}"/>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codex_template_footer">
            <a:extLst>
              <a:ext uri="{FF2B5EF4-FFF2-40B4-BE49-F238E27FC236}">
                <a16:creationId xmlns:a16="http://schemas.microsoft.com/office/drawing/2014/main" id="{AB7D1C06-FDFC-2105-80C0-4CEF1E8EDAB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9" name="codex_template_slide_number">
            <a:extLst>
              <a:ext uri="{FF2B5EF4-FFF2-40B4-BE49-F238E27FC236}">
                <a16:creationId xmlns:a16="http://schemas.microsoft.com/office/drawing/2014/main" id="{6CABB9C1-B9DA-FB4D-3369-7D38634DC91D}"/>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7</a:t>
            </a:r>
          </a:p>
        </p:txBody>
      </p:sp>
      <p:cxnSp>
        <p:nvCxnSpPr>
          <p:cNvPr id="30" name="codex_template_title_rule">
            <a:extLst>
              <a:ext uri="{FF2B5EF4-FFF2-40B4-BE49-F238E27FC236}">
                <a16:creationId xmlns:a16="http://schemas.microsoft.com/office/drawing/2014/main" id="{583F84A3-5FB7-D6B6-FC8C-DA0994B827CA}"/>
              </a:ext>
            </a:extLst>
          </p:cNvPr>
          <p:cNvCxnSpPr/>
          <p:nvPr/>
        </p:nvCxnSpPr>
        <p:spPr>
          <a:xfrm>
            <a:off x="822528" y="1248888"/>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D5F9228D-9031-F0B2-D101-F21DB5B0F4BD}"/>
              </a:ext>
            </a:extLst>
          </p:cNvPr>
          <p:cNvPicPr>
            <a:picLocks noChangeAspect="1"/>
          </p:cNvPicPr>
          <p:nvPr/>
        </p:nvPicPr>
        <p:blipFill>
          <a:blip r:embed="rId2"/>
          <a:stretch>
            <a:fillRect/>
          </a:stretch>
        </p:blipFill>
        <p:spPr>
          <a:xfrm>
            <a:off x="407182" y="1794518"/>
            <a:ext cx="5971460" cy="3725694"/>
          </a:xfrm>
          <a:prstGeom prst="rect">
            <a:avLst/>
          </a:prstGeom>
        </p:spPr>
      </p:pic>
    </p:spTree>
    <p:extLst>
      <p:ext uri="{BB962C8B-B14F-4D97-AF65-F5344CB8AC3E}">
        <p14:creationId xmlns:p14="http://schemas.microsoft.com/office/powerpoint/2010/main" val="8758225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codex_template_right_wash">
            <a:extLst>
              <a:ext uri="{FF2B5EF4-FFF2-40B4-BE49-F238E27FC236}">
                <a16:creationId xmlns:a16="http://schemas.microsoft.com/office/drawing/2014/main" id="{E5B8FD6D-741D-B5D8-ADE8-1B688C7B5CDF}"/>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codex_template_header_band">
            <a:extLst>
              <a:ext uri="{FF2B5EF4-FFF2-40B4-BE49-F238E27FC236}">
                <a16:creationId xmlns:a16="http://schemas.microsoft.com/office/drawing/2014/main" id="{178960AB-1AF0-83E9-74B5-EF917BD4F425}"/>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background">
            <a:extLst>
              <a:ext uri="{FF2B5EF4-FFF2-40B4-BE49-F238E27FC236}">
                <a16:creationId xmlns:a16="http://schemas.microsoft.com/office/drawing/2014/main" id="{F88461EC-4F7D-11A6-DA15-79F934D7857A}"/>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F809DA32-C6FF-9E30-6413-E4740134D23A}"/>
              </a:ext>
            </a:extLst>
          </p:cNvPr>
          <p:cNvSpPr txBox="1"/>
          <p:nvPr/>
        </p:nvSpPr>
        <p:spPr>
          <a:xfrm>
            <a:off x="822528" y="588488"/>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Producer Engineering Design</a:t>
            </a:r>
          </a:p>
        </p:txBody>
      </p:sp>
      <p:sp>
        <p:nvSpPr>
          <p:cNvPr id="14" name="Rectangle: Rounded Corners 13">
            <a:extLst>
              <a:ext uri="{FF2B5EF4-FFF2-40B4-BE49-F238E27FC236}">
                <a16:creationId xmlns:a16="http://schemas.microsoft.com/office/drawing/2014/main" id="{9062A608-FEFA-6538-30A1-B2B9F900FD25}"/>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FBA95231-89DE-B0F2-16C4-82911202E6EF}"/>
              </a:ext>
            </a:extLst>
          </p:cNvPr>
          <p:cNvSpPr txBox="1"/>
          <p:nvPr/>
        </p:nvSpPr>
        <p:spPr>
          <a:xfrm>
            <a:off x="973171" y="2604581"/>
            <a:ext cx="4635500" cy="1877437"/>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Configurable TPS using PRODUCER_TPS and PRODUCER_INTERVAL_MS</a:t>
            </a:r>
          </a:p>
          <a:p>
            <a:r>
              <a:rPr lang="en-US" dirty="0">
                <a:solidFill>
                  <a:srgbClr val="566982"/>
                </a:solidFill>
                <a:latin typeface="Aptos" panose="020B0004020202020204" pitchFamily="34" charset="0"/>
              </a:rPr>
              <a:t>- Random valid and invalid transaction generation</a:t>
            </a:r>
          </a:p>
          <a:p>
            <a:r>
              <a:rPr lang="en-US" dirty="0">
                <a:solidFill>
                  <a:srgbClr val="566982"/>
                </a:solidFill>
                <a:latin typeface="Aptos" panose="020B0004020202020204" pitchFamily="34" charset="0"/>
              </a:rPr>
              <a:t>- Correlation metadata: </a:t>
            </a:r>
            <a:r>
              <a:rPr lang="en-US" dirty="0" err="1">
                <a:solidFill>
                  <a:srgbClr val="566982"/>
                </a:solidFill>
                <a:latin typeface="Aptos" panose="020B0004020202020204" pitchFamily="34" charset="0"/>
              </a:rPr>
              <a:t>correlationId</a:t>
            </a:r>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traceId</a:t>
            </a:r>
            <a:r>
              <a:rPr lang="en-US" dirty="0">
                <a:solidFill>
                  <a:srgbClr val="566982"/>
                </a:solidFill>
                <a:latin typeface="Aptos" panose="020B0004020202020204" pitchFamily="34" charset="0"/>
              </a:rPr>
              <a:t> and </a:t>
            </a:r>
            <a:r>
              <a:rPr lang="en-US" dirty="0" err="1">
                <a:solidFill>
                  <a:srgbClr val="566982"/>
                </a:solidFill>
                <a:latin typeface="Aptos" panose="020B0004020202020204" pitchFamily="34" charset="0"/>
              </a:rPr>
              <a:t>traceparent</a:t>
            </a:r>
            <a:endParaRPr lang="en-US" dirty="0">
              <a:solidFill>
                <a:srgbClr val="566982"/>
              </a:solidFill>
              <a:latin typeface="Aptos" panose="020B0004020202020204" pitchFamily="34" charset="0"/>
            </a:endParaRPr>
          </a:p>
          <a:p>
            <a:r>
              <a:rPr lang="en-US" dirty="0">
                <a:solidFill>
                  <a:srgbClr val="566982"/>
                </a:solidFill>
                <a:latin typeface="Aptos" panose="020B0004020202020204" pitchFamily="34" charset="0"/>
              </a:rPr>
              <a:t>- Backpressure guard reads queue depth before publishing</a:t>
            </a:r>
          </a:p>
          <a:p>
            <a:r>
              <a:rPr lang="en-US" dirty="0">
                <a:solidFill>
                  <a:srgbClr val="566982"/>
                </a:solidFill>
                <a:latin typeface="Aptos" panose="020B0004020202020204" pitchFamily="34" charset="0"/>
              </a:rPr>
              <a:t>- Structured logging and Micrometer counters</a:t>
            </a:r>
          </a:p>
        </p:txBody>
      </p:sp>
      <p:sp>
        <p:nvSpPr>
          <p:cNvPr id="16" name="Rectangle: Rounded Corners 15">
            <a:extLst>
              <a:ext uri="{FF2B5EF4-FFF2-40B4-BE49-F238E27FC236}">
                <a16:creationId xmlns:a16="http://schemas.microsoft.com/office/drawing/2014/main" id="{82B5A5A3-44E3-D4BF-34DD-4129361AB859}"/>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BB400ABD-3EC1-74D4-B1A4-8D2A946A27C7}"/>
              </a:ext>
            </a:extLst>
          </p:cNvPr>
          <p:cNvSpPr txBox="1"/>
          <p:nvPr/>
        </p:nvSpPr>
        <p:spPr>
          <a:xfrm>
            <a:off x="7023640" y="2506188"/>
            <a:ext cx="4635500" cy="1661993"/>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No secrets in source code or properties</a:t>
            </a:r>
          </a:p>
          <a:p>
            <a:r>
              <a:rPr lang="en-US" dirty="0">
                <a:solidFill>
                  <a:srgbClr val="566982"/>
                </a:solidFill>
                <a:latin typeface="Aptos" panose="020B0004020202020204" pitchFamily="34" charset="0"/>
              </a:rPr>
              <a:t>- AWS Secrets Manager loaded at startup</a:t>
            </a:r>
          </a:p>
          <a:p>
            <a:r>
              <a:rPr lang="en-US" dirty="0">
                <a:solidFill>
                  <a:srgbClr val="566982"/>
                </a:solidFill>
                <a:latin typeface="Aptos" panose="020B0004020202020204" pitchFamily="34" charset="0"/>
              </a:rPr>
              <a:t>- MQRC 2035 is logged clearly without exposing credentials</a:t>
            </a:r>
          </a:p>
          <a:p>
            <a:r>
              <a:rPr lang="en-US" dirty="0">
                <a:solidFill>
                  <a:srgbClr val="566982"/>
                </a:solidFill>
                <a:latin typeface="Aptos" panose="020B0004020202020204" pitchFamily="34" charset="0"/>
              </a:rPr>
              <a:t>- Queue-depth cap prevents uncontrolled message growth</a:t>
            </a:r>
          </a:p>
          <a:p>
            <a:r>
              <a:rPr lang="en-US" dirty="0">
                <a:solidFill>
                  <a:srgbClr val="566982"/>
                </a:solidFill>
                <a:latin typeface="Aptos" panose="020B0004020202020204" pitchFamily="34" charset="0"/>
              </a:rPr>
              <a:t>- Prometheus metric: </a:t>
            </a:r>
            <a:r>
              <a:rPr lang="en-US" dirty="0" err="1">
                <a:solidFill>
                  <a:srgbClr val="566982"/>
                </a:solidFill>
                <a:latin typeface="Aptos" panose="020B0004020202020204" pitchFamily="34" charset="0"/>
              </a:rPr>
              <a:t>recon_producer_messages_total</a:t>
            </a:r>
            <a:endParaRPr lang="en-US" dirty="0">
              <a:solidFill>
                <a:srgbClr val="566982"/>
              </a:solidFill>
              <a:latin typeface="Aptos" panose="020B0004020202020204" pitchFamily="34" charset="0"/>
            </a:endParaRPr>
          </a:p>
        </p:txBody>
      </p:sp>
      <p:sp>
        <p:nvSpPr>
          <p:cNvPr id="21" name="TextBox 20">
            <a:extLst>
              <a:ext uri="{FF2B5EF4-FFF2-40B4-BE49-F238E27FC236}">
                <a16:creationId xmlns:a16="http://schemas.microsoft.com/office/drawing/2014/main" id="{15E868E8-DA43-F3B8-E874-6CF54A3A77AF}"/>
              </a:ext>
            </a:extLst>
          </p:cNvPr>
          <p:cNvSpPr txBox="1"/>
          <p:nvPr/>
        </p:nvSpPr>
        <p:spPr>
          <a:xfrm>
            <a:off x="7839358" y="2006600"/>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Production controls</a:t>
            </a:r>
          </a:p>
        </p:txBody>
      </p:sp>
      <p:sp>
        <p:nvSpPr>
          <p:cNvPr id="22" name="TextBox 21">
            <a:extLst>
              <a:ext uri="{FF2B5EF4-FFF2-40B4-BE49-F238E27FC236}">
                <a16:creationId xmlns:a16="http://schemas.microsoft.com/office/drawing/2014/main" id="{16661D12-54B3-7417-E4EF-4DAC4C148DDF}"/>
              </a:ext>
            </a:extLst>
          </p:cNvPr>
          <p:cNvSpPr txBox="1"/>
          <p:nvPr/>
        </p:nvSpPr>
        <p:spPr>
          <a:xfrm>
            <a:off x="2149218" y="2006600"/>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Capabilities</a:t>
            </a:r>
          </a:p>
        </p:txBody>
      </p:sp>
      <p:sp>
        <p:nvSpPr>
          <p:cNvPr id="26" name="codex_template_top_accent">
            <a:extLst>
              <a:ext uri="{FF2B5EF4-FFF2-40B4-BE49-F238E27FC236}">
                <a16:creationId xmlns:a16="http://schemas.microsoft.com/office/drawing/2014/main" id="{515753E2-9FF8-CC69-C002-BE9DDBBD8BC8}"/>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codex_template_footer">
            <a:extLst>
              <a:ext uri="{FF2B5EF4-FFF2-40B4-BE49-F238E27FC236}">
                <a16:creationId xmlns:a16="http://schemas.microsoft.com/office/drawing/2014/main" id="{8F6D15E1-94A4-9C2C-0500-A7C4B48B595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9" name="codex_template_slide_number">
            <a:extLst>
              <a:ext uri="{FF2B5EF4-FFF2-40B4-BE49-F238E27FC236}">
                <a16:creationId xmlns:a16="http://schemas.microsoft.com/office/drawing/2014/main" id="{A2362B3C-FF22-AD4F-115B-12B4E2E5DEC1}"/>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7</a:t>
            </a:r>
          </a:p>
        </p:txBody>
      </p:sp>
      <p:cxnSp>
        <p:nvCxnSpPr>
          <p:cNvPr id="30" name="codex_template_title_rule">
            <a:extLst>
              <a:ext uri="{FF2B5EF4-FFF2-40B4-BE49-F238E27FC236}">
                <a16:creationId xmlns:a16="http://schemas.microsoft.com/office/drawing/2014/main" id="{ADC1E059-9EC9-3BDA-1EEC-D315EFA09141}"/>
              </a:ext>
            </a:extLst>
          </p:cNvPr>
          <p:cNvCxnSpPr/>
          <p:nvPr/>
        </p:nvCxnSpPr>
        <p:spPr>
          <a:xfrm>
            <a:off x="822528" y="1248888"/>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4244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8A2C8D93-009C-61F8-D38D-645E535B083E}"/>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270019E0-9FBC-4705-DB68-05C77658C49A}"/>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BC45044B-96F8-46FA-5143-0B857F4CE765}"/>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CF484BB-BBBD-73F4-563E-FE699CE519B8}"/>
              </a:ext>
            </a:extLst>
          </p:cNvPr>
          <p:cNvSpPr txBox="1"/>
          <p:nvPr/>
        </p:nvSpPr>
        <p:spPr>
          <a:xfrm>
            <a:off x="773889" y="571500"/>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Consumer / Reconciliation Engineering Design</a:t>
            </a:r>
          </a:p>
        </p:txBody>
      </p:sp>
      <p:sp>
        <p:nvSpPr>
          <p:cNvPr id="14" name="Rectangle: Rounded Corners 13">
            <a:extLst>
              <a:ext uri="{FF2B5EF4-FFF2-40B4-BE49-F238E27FC236}">
                <a16:creationId xmlns:a16="http://schemas.microsoft.com/office/drawing/2014/main" id="{37BFAE2B-1A37-5CEF-A071-5D8CBE12DA1B}"/>
              </a:ext>
            </a:extLst>
          </p:cNvPr>
          <p:cNvSpPr/>
          <p:nvPr/>
        </p:nvSpPr>
        <p:spPr>
          <a:xfrm>
            <a:off x="571500" y="2006600"/>
            <a:ext cx="5143500" cy="40386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9167F9A8-EBA1-340B-F202-52DBD4D2B7FC}"/>
              </a:ext>
            </a:extLst>
          </p:cNvPr>
          <p:cNvSpPr txBox="1"/>
          <p:nvPr/>
        </p:nvSpPr>
        <p:spPr>
          <a:xfrm>
            <a:off x="867113" y="2819935"/>
            <a:ext cx="4635500" cy="1661993"/>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JMS listener consumes RECON.IN and RECON.RETRY</a:t>
            </a:r>
          </a:p>
          <a:p>
            <a:r>
              <a:rPr lang="en-US" dirty="0">
                <a:solidFill>
                  <a:srgbClr val="566982"/>
                </a:solidFill>
                <a:latin typeface="Aptos" panose="020B0004020202020204" pitchFamily="34" charset="0"/>
              </a:rPr>
              <a:t>- Business validation marks records RECONCILED or INVALID</a:t>
            </a:r>
          </a:p>
          <a:p>
            <a:r>
              <a:rPr lang="en-US" dirty="0">
                <a:solidFill>
                  <a:srgbClr val="566982"/>
                </a:solidFill>
                <a:latin typeface="Aptos" panose="020B0004020202020204" pitchFamily="34" charset="0"/>
              </a:rPr>
              <a:t>- PostgreSQL persistence with unique transaction/correlation keys</a:t>
            </a:r>
          </a:p>
          <a:p>
            <a:r>
              <a:rPr lang="en-US" dirty="0">
                <a:solidFill>
                  <a:srgbClr val="566982"/>
                </a:solidFill>
                <a:latin typeface="Aptos" panose="020B0004020202020204" pitchFamily="34" charset="0"/>
              </a:rPr>
              <a:t>- Idempotency prevents duplicate processing side effects</a:t>
            </a:r>
          </a:p>
          <a:p>
            <a:r>
              <a:rPr lang="en-US" dirty="0">
                <a:solidFill>
                  <a:srgbClr val="566982"/>
                </a:solidFill>
                <a:latin typeface="Aptos" panose="020B0004020202020204" pitchFamily="34" charset="0"/>
              </a:rPr>
              <a:t>- Concurrent processing controlled through configuration</a:t>
            </a:r>
          </a:p>
        </p:txBody>
      </p:sp>
      <p:sp>
        <p:nvSpPr>
          <p:cNvPr id="16" name="Rectangle: Rounded Corners 15">
            <a:extLst>
              <a:ext uri="{FF2B5EF4-FFF2-40B4-BE49-F238E27FC236}">
                <a16:creationId xmlns:a16="http://schemas.microsoft.com/office/drawing/2014/main" id="{C05DBAD8-755A-2A4E-97BD-B202CAC48795}"/>
              </a:ext>
            </a:extLst>
          </p:cNvPr>
          <p:cNvSpPr/>
          <p:nvPr/>
        </p:nvSpPr>
        <p:spPr>
          <a:xfrm>
            <a:off x="6477000" y="2006600"/>
            <a:ext cx="5143500" cy="4038597"/>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A24376C8-44CA-2ED3-0BF0-EF574CE0BC07}"/>
              </a:ext>
            </a:extLst>
          </p:cNvPr>
          <p:cNvSpPr txBox="1"/>
          <p:nvPr/>
        </p:nvSpPr>
        <p:spPr>
          <a:xfrm>
            <a:off x="6817505" y="2744956"/>
            <a:ext cx="4635500" cy="1231106"/>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Deadlock retry with exponential backoff</a:t>
            </a:r>
          </a:p>
          <a:p>
            <a:r>
              <a:rPr lang="en-US" dirty="0">
                <a:solidFill>
                  <a:srgbClr val="566982"/>
                </a:solidFill>
                <a:latin typeface="Aptos" panose="020B0004020202020204" pitchFamily="34" charset="0"/>
              </a:rPr>
              <a:t>- Circuit breaker around database calls</a:t>
            </a:r>
          </a:p>
          <a:p>
            <a:r>
              <a:rPr lang="en-US" dirty="0">
                <a:solidFill>
                  <a:srgbClr val="566982"/>
                </a:solidFill>
                <a:latin typeface="Aptos" panose="020B0004020202020204" pitchFamily="34" charset="0"/>
              </a:rPr>
              <a:t>- Bulkhead isolation protects worker threads</a:t>
            </a:r>
          </a:p>
          <a:p>
            <a:r>
              <a:rPr lang="en-US" dirty="0">
                <a:solidFill>
                  <a:srgbClr val="566982"/>
                </a:solidFill>
                <a:latin typeface="Aptos" panose="020B0004020202020204" pitchFamily="34" charset="0"/>
              </a:rPr>
              <a:t>- Poison messages move to RECON.BACKOUT</a:t>
            </a:r>
          </a:p>
          <a:p>
            <a:r>
              <a:rPr lang="en-US" dirty="0">
                <a:solidFill>
                  <a:srgbClr val="566982"/>
                </a:solidFill>
                <a:latin typeface="Aptos" panose="020B0004020202020204" pitchFamily="34" charset="0"/>
              </a:rPr>
              <a:t>- Prometheus counters for retries, failures and deadlocks</a:t>
            </a:r>
          </a:p>
        </p:txBody>
      </p:sp>
      <p:sp>
        <p:nvSpPr>
          <p:cNvPr id="20" name="TextBox 19">
            <a:extLst>
              <a:ext uri="{FF2B5EF4-FFF2-40B4-BE49-F238E27FC236}">
                <a16:creationId xmlns:a16="http://schemas.microsoft.com/office/drawing/2014/main" id="{FB14062C-FFEC-A301-9805-A9D3285A42E9}"/>
              </a:ext>
            </a:extLst>
          </p:cNvPr>
          <p:cNvSpPr txBox="1"/>
          <p:nvPr/>
        </p:nvSpPr>
        <p:spPr>
          <a:xfrm>
            <a:off x="2149218" y="2006600"/>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Core Processing</a:t>
            </a:r>
          </a:p>
        </p:txBody>
      </p:sp>
      <p:sp>
        <p:nvSpPr>
          <p:cNvPr id="21" name="TextBox 20">
            <a:extLst>
              <a:ext uri="{FF2B5EF4-FFF2-40B4-BE49-F238E27FC236}">
                <a16:creationId xmlns:a16="http://schemas.microsoft.com/office/drawing/2014/main" id="{72F92C16-0F0A-6AC9-8A10-5E502ADD89FC}"/>
              </a:ext>
            </a:extLst>
          </p:cNvPr>
          <p:cNvSpPr txBox="1"/>
          <p:nvPr/>
        </p:nvSpPr>
        <p:spPr>
          <a:xfrm>
            <a:off x="7292718" y="2078395"/>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Reliability controls</a:t>
            </a:r>
          </a:p>
        </p:txBody>
      </p:sp>
      <p:sp>
        <p:nvSpPr>
          <p:cNvPr id="25" name="codex_template_top_accent">
            <a:extLst>
              <a:ext uri="{FF2B5EF4-FFF2-40B4-BE49-F238E27FC236}">
                <a16:creationId xmlns:a16="http://schemas.microsoft.com/office/drawing/2014/main" id="{1F12394A-330C-A43D-3C4B-218E9DFED924}"/>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0389412C-8311-7388-A136-0E95744B88FC}"/>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BE12846E-8B9B-D2DE-9F38-A9F28648C136}"/>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8</a:t>
            </a:r>
          </a:p>
        </p:txBody>
      </p:sp>
      <p:cxnSp>
        <p:nvCxnSpPr>
          <p:cNvPr id="29" name="codex_template_title_rule">
            <a:extLst>
              <a:ext uri="{FF2B5EF4-FFF2-40B4-BE49-F238E27FC236}">
                <a16:creationId xmlns:a16="http://schemas.microsoft.com/office/drawing/2014/main" id="{1DB528AD-F284-9BA5-2C96-0DC70ABF0126}"/>
              </a:ext>
            </a:extLst>
          </p:cNvPr>
          <p:cNvCxnSpPr/>
          <p:nvPr/>
        </p:nvCxnSpPr>
        <p:spPr>
          <a:xfrm>
            <a:off x="773889" y="1231900"/>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12495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DCF687E9-A5A9-6C40-4C1E-3B3E46FA92E5}"/>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9284BEB5-E84E-D206-1310-15FCF0416904}"/>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5377DFAB-6888-7946-8B2D-E449AE9E8921}"/>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C702179-3441-1DB1-C9DF-AA75C7E6A1B0}"/>
              </a:ext>
            </a:extLst>
          </p:cNvPr>
          <p:cNvSpPr txBox="1"/>
          <p:nvPr/>
        </p:nvSpPr>
        <p:spPr>
          <a:xfrm>
            <a:off x="822527" y="590778"/>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Dashboard/API Engineering Design</a:t>
            </a:r>
          </a:p>
        </p:txBody>
      </p:sp>
      <p:sp>
        <p:nvSpPr>
          <p:cNvPr id="14" name="Rectangle: Rounded Corners 13">
            <a:extLst>
              <a:ext uri="{FF2B5EF4-FFF2-40B4-BE49-F238E27FC236}">
                <a16:creationId xmlns:a16="http://schemas.microsoft.com/office/drawing/2014/main" id="{8CF3B2F1-ADBB-BF2C-24F6-9A992A472DF9}"/>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22F83FA9-43A3-C76E-CCAF-8A6CD5164639}"/>
              </a:ext>
            </a:extLst>
          </p:cNvPr>
          <p:cNvSpPr txBox="1"/>
          <p:nvPr/>
        </p:nvSpPr>
        <p:spPr>
          <a:xfrm>
            <a:off x="1365250" y="2927746"/>
            <a:ext cx="4105477" cy="1231106"/>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GET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/reconciliation/status</a:t>
            </a:r>
          </a:p>
          <a:p>
            <a:r>
              <a:rPr lang="en-US" dirty="0">
                <a:solidFill>
                  <a:srgbClr val="566982"/>
                </a:solidFill>
                <a:latin typeface="Aptos" panose="020B0004020202020204" pitchFamily="34" charset="0"/>
              </a:rPr>
              <a:t>- GET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/reconciliation/failed</a:t>
            </a:r>
          </a:p>
          <a:p>
            <a:r>
              <a:rPr lang="en-US" dirty="0">
                <a:solidFill>
                  <a:srgbClr val="566982"/>
                </a:solidFill>
                <a:latin typeface="Aptos" panose="020B0004020202020204" pitchFamily="34" charset="0"/>
              </a:rPr>
              <a:t>- GET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/reconciliation/queues</a:t>
            </a:r>
          </a:p>
          <a:p>
            <a:r>
              <a:rPr lang="en-US" dirty="0">
                <a:solidFill>
                  <a:srgbClr val="566982"/>
                </a:solidFill>
                <a:latin typeface="Aptos" panose="020B0004020202020204" pitchFamily="34" charset="0"/>
              </a:rPr>
              <a:t>- POST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/reconciliation/replay</a:t>
            </a:r>
          </a:p>
          <a:p>
            <a:r>
              <a:rPr lang="en-US" dirty="0">
                <a:solidFill>
                  <a:srgbClr val="566982"/>
                </a:solidFill>
                <a:latin typeface="Aptos" panose="020B0004020202020204" pitchFamily="34" charset="0"/>
              </a:rPr>
              <a:t>- Actuator liveness and readiness probes</a:t>
            </a:r>
          </a:p>
        </p:txBody>
      </p:sp>
      <p:sp>
        <p:nvSpPr>
          <p:cNvPr id="16" name="Rectangle: Rounded Corners 15">
            <a:extLst>
              <a:ext uri="{FF2B5EF4-FFF2-40B4-BE49-F238E27FC236}">
                <a16:creationId xmlns:a16="http://schemas.microsoft.com/office/drawing/2014/main" id="{820AA12D-A545-4C0A-4FDD-38703C8F770A}"/>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11063BA3-54A8-F35D-1859-05606FE6E415}"/>
              </a:ext>
            </a:extLst>
          </p:cNvPr>
          <p:cNvSpPr txBox="1"/>
          <p:nvPr/>
        </p:nvSpPr>
        <p:spPr>
          <a:xfrm>
            <a:off x="7016750" y="3202444"/>
            <a:ext cx="4635500" cy="1231106"/>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Shows total, reconciled, invalid, failed and DLQ counts</a:t>
            </a:r>
          </a:p>
          <a:p>
            <a:r>
              <a:rPr lang="en-US" dirty="0">
                <a:solidFill>
                  <a:srgbClr val="566982"/>
                </a:solidFill>
                <a:latin typeface="Aptos" panose="020B0004020202020204" pitchFamily="34" charset="0"/>
              </a:rPr>
              <a:t>- Exposes queue backlog visibility</a:t>
            </a:r>
          </a:p>
          <a:p>
            <a:r>
              <a:rPr lang="en-US" dirty="0">
                <a:solidFill>
                  <a:srgbClr val="566982"/>
                </a:solidFill>
                <a:latin typeface="Aptos" panose="020B0004020202020204" pitchFamily="34" charset="0"/>
              </a:rPr>
              <a:t>- Provides controlled replay mechanism</a:t>
            </a:r>
          </a:p>
          <a:p>
            <a:r>
              <a:rPr lang="en-US" dirty="0">
                <a:solidFill>
                  <a:srgbClr val="566982"/>
                </a:solidFill>
                <a:latin typeface="Aptos" panose="020B0004020202020204" pitchFamily="34" charset="0"/>
              </a:rPr>
              <a:t>- Supports live demo and recovery walkthrough</a:t>
            </a:r>
          </a:p>
          <a:p>
            <a:r>
              <a:rPr lang="en-US" dirty="0">
                <a:solidFill>
                  <a:srgbClr val="566982"/>
                </a:solidFill>
                <a:latin typeface="Aptos" panose="020B0004020202020204" pitchFamily="34" charset="0"/>
              </a:rPr>
              <a:t>- Feeds Prometheus queue-depth metrics</a:t>
            </a:r>
          </a:p>
        </p:txBody>
      </p:sp>
      <p:sp>
        <p:nvSpPr>
          <p:cNvPr id="20" name="TextBox 19">
            <a:extLst>
              <a:ext uri="{FF2B5EF4-FFF2-40B4-BE49-F238E27FC236}">
                <a16:creationId xmlns:a16="http://schemas.microsoft.com/office/drawing/2014/main" id="{B498BECF-8378-F536-ABC7-EF785C535D65}"/>
              </a:ext>
            </a:extLst>
          </p:cNvPr>
          <p:cNvSpPr txBox="1"/>
          <p:nvPr/>
        </p:nvSpPr>
        <p:spPr>
          <a:xfrm>
            <a:off x="2149218" y="2006600"/>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API Surface</a:t>
            </a:r>
          </a:p>
        </p:txBody>
      </p:sp>
      <p:sp>
        <p:nvSpPr>
          <p:cNvPr id="21" name="TextBox 20">
            <a:extLst>
              <a:ext uri="{FF2B5EF4-FFF2-40B4-BE49-F238E27FC236}">
                <a16:creationId xmlns:a16="http://schemas.microsoft.com/office/drawing/2014/main" id="{E08346AB-46C8-5A0C-C1CD-68E2A0F95EB0}"/>
              </a:ext>
            </a:extLst>
          </p:cNvPr>
          <p:cNvSpPr txBox="1"/>
          <p:nvPr/>
        </p:nvSpPr>
        <p:spPr>
          <a:xfrm>
            <a:off x="7568119" y="2006600"/>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Operational value</a:t>
            </a:r>
          </a:p>
        </p:txBody>
      </p:sp>
      <p:sp>
        <p:nvSpPr>
          <p:cNvPr id="25" name="codex_template_top_accent">
            <a:extLst>
              <a:ext uri="{FF2B5EF4-FFF2-40B4-BE49-F238E27FC236}">
                <a16:creationId xmlns:a16="http://schemas.microsoft.com/office/drawing/2014/main" id="{E8B58934-DFAA-230C-720B-C311E6ADBFD6}"/>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4E365636-BFD6-629B-A5B3-5F29E0C2F93B}"/>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BB043ADA-183B-AA6E-2DA5-3050036E9DA3}"/>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9</a:t>
            </a:r>
          </a:p>
        </p:txBody>
      </p:sp>
      <p:cxnSp>
        <p:nvCxnSpPr>
          <p:cNvPr id="29" name="codex_template_title_rule">
            <a:extLst>
              <a:ext uri="{FF2B5EF4-FFF2-40B4-BE49-F238E27FC236}">
                <a16:creationId xmlns:a16="http://schemas.microsoft.com/office/drawing/2014/main" id="{0CB5F525-179C-3375-D3A6-43F33C769CF5}"/>
              </a:ext>
            </a:extLst>
          </p:cNvPr>
          <p:cNvCxnSpPr/>
          <p:nvPr/>
        </p:nvCxnSpPr>
        <p:spPr>
          <a:xfrm>
            <a:off x="822527" y="1251178"/>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3147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dex_template_right_wash">
            <a:extLst>
              <a:ext uri="{FF2B5EF4-FFF2-40B4-BE49-F238E27FC236}">
                <a16:creationId xmlns:a16="http://schemas.microsoft.com/office/drawing/2014/main" id="{E29900C0-4573-0C87-0993-870D2CAE2B90}"/>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header_band">
            <a:extLst>
              <a:ext uri="{FF2B5EF4-FFF2-40B4-BE49-F238E27FC236}">
                <a16:creationId xmlns:a16="http://schemas.microsoft.com/office/drawing/2014/main" id="{4E5BA983-4732-E826-587D-8846727C904B}"/>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codex_template_background">
            <a:extLst>
              <a:ext uri="{FF2B5EF4-FFF2-40B4-BE49-F238E27FC236}">
                <a16:creationId xmlns:a16="http://schemas.microsoft.com/office/drawing/2014/main" id="{060C68B8-149D-571C-A9CB-D37D98542FBC}"/>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D5AB5F2-AE25-65E4-2849-4025349B0CAA}"/>
              </a:ext>
            </a:extLst>
          </p:cNvPr>
          <p:cNvSpPr txBox="1"/>
          <p:nvPr/>
        </p:nvSpPr>
        <p:spPr>
          <a:xfrm>
            <a:off x="825500" y="617246"/>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IBM MQ Topology and Recovery Paths</a:t>
            </a:r>
          </a:p>
        </p:txBody>
      </p:sp>
      <p:sp>
        <p:nvSpPr>
          <p:cNvPr id="14" name="Rectangle: Rounded Corners 13">
            <a:extLst>
              <a:ext uri="{FF2B5EF4-FFF2-40B4-BE49-F238E27FC236}">
                <a16:creationId xmlns:a16="http://schemas.microsoft.com/office/drawing/2014/main" id="{19DC7CC3-99B2-6E4B-39D3-85665D44B1BE}"/>
              </a:ext>
            </a:extLst>
          </p:cNvPr>
          <p:cNvSpPr/>
          <p:nvPr/>
        </p:nvSpPr>
        <p:spPr>
          <a:xfrm>
            <a:off x="814691" y="1721907"/>
            <a:ext cx="2159000" cy="923636"/>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dirty="0">
                <a:solidFill>
                  <a:srgbClr val="566982"/>
                </a:solidFill>
                <a:latin typeface="Aptos" panose="020B0004020202020204" pitchFamily="34" charset="0"/>
              </a:rPr>
              <a:t>RECON.IN</a:t>
            </a:r>
          </a:p>
          <a:p>
            <a:pPr algn="ctr"/>
            <a:r>
              <a:rPr lang="en-US" sz="1400" b="1" dirty="0">
                <a:solidFill>
                  <a:srgbClr val="566982"/>
                </a:solidFill>
                <a:latin typeface="Aptos" panose="020B0004020202020204" pitchFamily="34" charset="0"/>
              </a:rPr>
              <a:t>Primary input</a:t>
            </a:r>
          </a:p>
        </p:txBody>
      </p:sp>
      <p:sp>
        <p:nvSpPr>
          <p:cNvPr id="15" name="Rectangle: Rounded Corners 14">
            <a:extLst>
              <a:ext uri="{FF2B5EF4-FFF2-40B4-BE49-F238E27FC236}">
                <a16:creationId xmlns:a16="http://schemas.microsoft.com/office/drawing/2014/main" id="{8A373127-503C-F6BD-F93D-CC382829620E}"/>
              </a:ext>
            </a:extLst>
          </p:cNvPr>
          <p:cNvSpPr/>
          <p:nvPr/>
        </p:nvSpPr>
        <p:spPr>
          <a:xfrm>
            <a:off x="3799191" y="1721907"/>
            <a:ext cx="2159000" cy="923636"/>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RECON.RETRY</a:t>
            </a:r>
          </a:p>
          <a:p>
            <a:pPr algn="ctr"/>
            <a:r>
              <a:rPr lang="en-US" sz="1400" b="1">
                <a:solidFill>
                  <a:srgbClr val="566982"/>
                </a:solidFill>
                <a:latin typeface="Aptos" panose="020B0004020202020204" pitchFamily="34" charset="0"/>
              </a:rPr>
              <a:t>Retry queue</a:t>
            </a:r>
          </a:p>
        </p:txBody>
      </p:sp>
      <p:sp>
        <p:nvSpPr>
          <p:cNvPr id="16" name="Rectangle: Rounded Corners 15">
            <a:extLst>
              <a:ext uri="{FF2B5EF4-FFF2-40B4-BE49-F238E27FC236}">
                <a16:creationId xmlns:a16="http://schemas.microsoft.com/office/drawing/2014/main" id="{12A77A74-DBAA-094D-394E-524B31199C2E}"/>
              </a:ext>
            </a:extLst>
          </p:cNvPr>
          <p:cNvSpPr/>
          <p:nvPr/>
        </p:nvSpPr>
        <p:spPr>
          <a:xfrm>
            <a:off x="6783691" y="1721907"/>
            <a:ext cx="2159000" cy="923636"/>
          </a:xfrm>
          <a:prstGeom prst="roundRect">
            <a:avLst/>
          </a:prstGeom>
          <a:solidFill>
            <a:srgbClr val="FFE8E8"/>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D54F4F"/>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dirty="0">
                <a:solidFill>
                  <a:srgbClr val="566982"/>
                </a:solidFill>
                <a:latin typeface="Aptos" panose="020B0004020202020204" pitchFamily="34" charset="0"/>
              </a:rPr>
              <a:t>RECON.BACKOUT</a:t>
            </a:r>
          </a:p>
          <a:p>
            <a:pPr algn="ctr"/>
            <a:r>
              <a:rPr lang="en-US" sz="1400" b="1" dirty="0">
                <a:solidFill>
                  <a:srgbClr val="566982"/>
                </a:solidFill>
                <a:latin typeface="Aptos" panose="020B0004020202020204" pitchFamily="34" charset="0"/>
              </a:rPr>
              <a:t>Poison/exhausted</a:t>
            </a:r>
          </a:p>
        </p:txBody>
      </p:sp>
      <p:sp>
        <p:nvSpPr>
          <p:cNvPr id="17" name="Rectangle: Rounded Corners 16">
            <a:extLst>
              <a:ext uri="{FF2B5EF4-FFF2-40B4-BE49-F238E27FC236}">
                <a16:creationId xmlns:a16="http://schemas.microsoft.com/office/drawing/2014/main" id="{CBC94CEB-DC37-9919-7854-EF27BD295932}"/>
              </a:ext>
            </a:extLst>
          </p:cNvPr>
          <p:cNvSpPr/>
          <p:nvPr/>
        </p:nvSpPr>
        <p:spPr>
          <a:xfrm>
            <a:off x="9768191" y="1721907"/>
            <a:ext cx="2159000" cy="923636"/>
          </a:xfrm>
          <a:prstGeom prst="roundRect">
            <a:avLst/>
          </a:prstGeom>
          <a:solidFill>
            <a:srgbClr val="FFE8E8"/>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D54F4F"/>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dirty="0">
                <a:solidFill>
                  <a:srgbClr val="566982"/>
                </a:solidFill>
                <a:latin typeface="Aptos" panose="020B0004020202020204" pitchFamily="34" charset="0"/>
              </a:rPr>
              <a:t>SYSTEM.DLQ</a:t>
            </a:r>
          </a:p>
          <a:p>
            <a:pPr algn="ctr"/>
            <a:r>
              <a:rPr lang="en-US" sz="1400" b="1" dirty="0">
                <a:solidFill>
                  <a:srgbClr val="566982"/>
                </a:solidFill>
                <a:latin typeface="Aptos" panose="020B0004020202020204" pitchFamily="34" charset="0"/>
              </a:rPr>
              <a:t>Undeliverable</a:t>
            </a:r>
          </a:p>
        </p:txBody>
      </p:sp>
      <p:cxnSp>
        <p:nvCxnSpPr>
          <p:cNvPr id="18" name="Straight Connector 17">
            <a:extLst>
              <a:ext uri="{FF2B5EF4-FFF2-40B4-BE49-F238E27FC236}">
                <a16:creationId xmlns:a16="http://schemas.microsoft.com/office/drawing/2014/main" id="{7A37DF9F-AE22-F67E-4BF6-F759FBE2AE54}"/>
              </a:ext>
            </a:extLst>
          </p:cNvPr>
          <p:cNvCxnSpPr/>
          <p:nvPr/>
        </p:nvCxnSpPr>
        <p:spPr>
          <a:xfrm>
            <a:off x="2973691" y="2183725"/>
            <a:ext cx="825500" cy="0"/>
          </a:xfrm>
          <a:prstGeom prst="line">
            <a:avLst/>
          </a:prstGeom>
          <a:ln w="22860">
            <a:solidFill>
              <a:srgbClr val="EE9726"/>
            </a:solidFill>
            <a:tailEnd type="arrow"/>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6BEE6D5-A77F-887C-7AB2-E0146FE2E28E}"/>
              </a:ext>
            </a:extLst>
          </p:cNvPr>
          <p:cNvCxnSpPr/>
          <p:nvPr/>
        </p:nvCxnSpPr>
        <p:spPr>
          <a:xfrm>
            <a:off x="5958191" y="2183725"/>
            <a:ext cx="825500" cy="0"/>
          </a:xfrm>
          <a:prstGeom prst="line">
            <a:avLst/>
          </a:prstGeom>
          <a:ln w="22860">
            <a:solidFill>
              <a:srgbClr val="D54F4F"/>
            </a:solidFill>
            <a:tailEnd type="arrow"/>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D8BEA6F-65B5-7C87-DBF9-9A2D8B25AE83}"/>
              </a:ext>
            </a:extLst>
          </p:cNvPr>
          <p:cNvCxnSpPr/>
          <p:nvPr/>
        </p:nvCxnSpPr>
        <p:spPr>
          <a:xfrm>
            <a:off x="8942691" y="2183725"/>
            <a:ext cx="825500" cy="0"/>
          </a:xfrm>
          <a:prstGeom prst="line">
            <a:avLst/>
          </a:prstGeom>
          <a:ln w="22860">
            <a:solidFill>
              <a:srgbClr val="D54F4F"/>
            </a:solidFill>
            <a:tailEnd type="arrow"/>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20B9C1A5-CC25-DB3B-BA40-0B9A0BF2C5DB}"/>
              </a:ext>
            </a:extLst>
          </p:cNvPr>
          <p:cNvSpPr/>
          <p:nvPr/>
        </p:nvSpPr>
        <p:spPr>
          <a:xfrm>
            <a:off x="825500" y="3175000"/>
            <a:ext cx="3175000" cy="1841500"/>
          </a:xfrm>
          <a:prstGeom prst="roundRect">
            <a:avLst/>
          </a:prstGeom>
          <a:solidFill>
            <a:srgbClr val="F7FAFD"/>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5B6E8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Autofit/>
          </a:bodyPr>
          <a:lstStyle/>
          <a:p>
            <a:pPr algn="ctr"/>
            <a:r>
              <a:rPr lang="en-US" sz="1300" b="1">
                <a:solidFill>
                  <a:srgbClr val="566982"/>
                </a:solidFill>
                <a:latin typeface="Aptos" panose="020B0004020202020204" pitchFamily="34" charset="0"/>
              </a:rPr>
              <a:t>MQ features demonstrated</a:t>
            </a:r>
          </a:p>
          <a:p>
            <a:pPr algn="ctr"/>
            <a:r>
              <a:rPr lang="en-US" sz="1300" b="1">
                <a:solidFill>
                  <a:srgbClr val="566982"/>
                </a:solidFill>
                <a:latin typeface="Aptos" panose="020B0004020202020204" pitchFamily="34" charset="0"/>
              </a:rPr>
              <a:t>- Retry queues</a:t>
            </a:r>
          </a:p>
          <a:p>
            <a:pPr algn="ctr"/>
            <a:r>
              <a:rPr lang="en-US" sz="1300" b="1">
                <a:solidFill>
                  <a:srgbClr val="566982"/>
                </a:solidFill>
                <a:latin typeface="Aptos" panose="020B0004020202020204" pitchFamily="34" charset="0"/>
              </a:rPr>
              <a:t>- Backout queue</a:t>
            </a:r>
          </a:p>
          <a:p>
            <a:pPr algn="ctr"/>
            <a:r>
              <a:rPr lang="en-US" sz="1300" b="1">
                <a:solidFill>
                  <a:srgbClr val="566982"/>
                </a:solidFill>
                <a:latin typeface="Aptos" panose="020B0004020202020204" pitchFamily="34" charset="0"/>
              </a:rPr>
              <a:t>- Dead-letter queue handling</a:t>
            </a:r>
          </a:p>
          <a:p>
            <a:pPr algn="ctr"/>
            <a:r>
              <a:rPr lang="en-US" sz="1300" b="1">
                <a:solidFill>
                  <a:srgbClr val="566982"/>
                </a:solidFill>
                <a:latin typeface="Aptos" panose="020B0004020202020204" pitchFamily="34" charset="0"/>
              </a:rPr>
              <a:t>- MQRC 2035 diagnosis and correction</a:t>
            </a:r>
          </a:p>
          <a:p>
            <a:pPr algn="ctr"/>
            <a:r>
              <a:rPr lang="en-US" sz="1300" b="1">
                <a:solidFill>
                  <a:srgbClr val="566982"/>
                </a:solidFill>
                <a:latin typeface="Aptos" panose="020B0004020202020204" pitchFamily="34" charset="0"/>
              </a:rPr>
              <a:t>- Poison message handling</a:t>
            </a:r>
          </a:p>
          <a:p>
            <a:pPr algn="ctr"/>
            <a:r>
              <a:rPr lang="en-US" sz="1300" b="1">
                <a:solidFill>
                  <a:srgbClr val="566982"/>
                </a:solidFill>
                <a:latin typeface="Aptos" panose="020B0004020202020204" pitchFamily="34" charset="0"/>
              </a:rPr>
              <a:t>- Message replay through dashboard</a:t>
            </a:r>
          </a:p>
        </p:txBody>
      </p:sp>
      <p:sp>
        <p:nvSpPr>
          <p:cNvPr id="22" name="Rectangle: Rounded Corners 21">
            <a:extLst>
              <a:ext uri="{FF2B5EF4-FFF2-40B4-BE49-F238E27FC236}">
                <a16:creationId xmlns:a16="http://schemas.microsoft.com/office/drawing/2014/main" id="{7D2824E3-12F7-DA24-6CF1-7ECB78E21990}"/>
              </a:ext>
            </a:extLst>
          </p:cNvPr>
          <p:cNvSpPr/>
          <p:nvPr/>
        </p:nvSpPr>
        <p:spPr>
          <a:xfrm>
            <a:off x="4572000" y="3175000"/>
            <a:ext cx="3175000" cy="1841500"/>
          </a:xfrm>
          <a:prstGeom prst="roundRect">
            <a:avLst/>
          </a:prstGeom>
          <a:solidFill>
            <a:srgbClr val="E1F8F4"/>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998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Autofit/>
          </a:bodyPr>
          <a:lstStyle/>
          <a:p>
            <a:pPr algn="ctr"/>
            <a:r>
              <a:rPr lang="en-US" sz="1300" b="1">
                <a:solidFill>
                  <a:srgbClr val="566982"/>
                </a:solidFill>
                <a:latin typeface="Aptos" panose="020B0004020202020204" pitchFamily="34" charset="0"/>
              </a:rPr>
              <a:t>Recovery behavior</a:t>
            </a:r>
          </a:p>
          <a:p>
            <a:pPr algn="ctr"/>
            <a:r>
              <a:rPr lang="en-US" sz="1300" b="1">
                <a:solidFill>
                  <a:srgbClr val="566982"/>
                </a:solidFill>
                <a:latin typeface="Aptos" panose="020B0004020202020204" pitchFamily="34" charset="0"/>
              </a:rPr>
              <a:t>- Retryable failures are isolated</a:t>
            </a:r>
          </a:p>
          <a:p>
            <a:pPr algn="ctr"/>
            <a:r>
              <a:rPr lang="en-US" sz="1300" b="1">
                <a:solidFill>
                  <a:srgbClr val="566982"/>
                </a:solidFill>
                <a:latin typeface="Aptos" panose="020B0004020202020204" pitchFamily="34" charset="0"/>
              </a:rPr>
              <a:t>- Poison messages stop blocking the main queue</a:t>
            </a:r>
          </a:p>
          <a:p>
            <a:pPr algn="ctr"/>
            <a:r>
              <a:rPr lang="en-US" sz="1300" b="1">
                <a:solidFill>
                  <a:srgbClr val="566982"/>
                </a:solidFill>
                <a:latin typeface="Aptos" panose="020B0004020202020204" pitchFamily="34" charset="0"/>
              </a:rPr>
              <a:t>- DLQ is visible and measurable</a:t>
            </a:r>
          </a:p>
          <a:p>
            <a:pPr algn="ctr"/>
            <a:r>
              <a:rPr lang="en-US" sz="1300" b="1">
                <a:solidFill>
                  <a:srgbClr val="566982"/>
                </a:solidFill>
                <a:latin typeface="Aptos" panose="020B0004020202020204" pitchFamily="34" charset="0"/>
              </a:rPr>
              <a:t>- Replay path is explicit and auditable</a:t>
            </a:r>
          </a:p>
          <a:p>
            <a:pPr algn="ctr"/>
            <a:r>
              <a:rPr lang="en-US" sz="1300" b="1">
                <a:solidFill>
                  <a:srgbClr val="566982"/>
                </a:solidFill>
                <a:latin typeface="Aptos" panose="020B0004020202020204" pitchFamily="34" charset="0"/>
              </a:rPr>
              <a:t>- Correlation metadata is preserved</a:t>
            </a:r>
          </a:p>
        </p:txBody>
      </p:sp>
      <p:sp>
        <p:nvSpPr>
          <p:cNvPr id="23" name="Rectangle: Rounded Corners 22">
            <a:extLst>
              <a:ext uri="{FF2B5EF4-FFF2-40B4-BE49-F238E27FC236}">
                <a16:creationId xmlns:a16="http://schemas.microsoft.com/office/drawing/2014/main" id="{8811EF0F-C68D-D37A-1AAA-2C073C6E98AD}"/>
              </a:ext>
            </a:extLst>
          </p:cNvPr>
          <p:cNvSpPr/>
          <p:nvPr/>
        </p:nvSpPr>
        <p:spPr>
          <a:xfrm>
            <a:off x="8318500" y="3175000"/>
            <a:ext cx="3175000" cy="1841500"/>
          </a:xfrm>
          <a:prstGeom prst="roundRect">
            <a:avLst/>
          </a:prstGeom>
          <a:solidFill>
            <a:srgbClr val="E2F1FF"/>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76D2"/>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Operational evidence</a:t>
            </a:r>
          </a:p>
          <a:p>
            <a:pPr algn="ctr"/>
            <a:r>
              <a:rPr lang="en-US" sz="1300" b="1">
                <a:solidFill>
                  <a:srgbClr val="566982"/>
                </a:solidFill>
                <a:latin typeface="Aptos" panose="020B0004020202020204" pitchFamily="34" charset="0"/>
              </a:rPr>
              <a:t>- MQRC 2035 failure runbook</a:t>
            </a:r>
          </a:p>
          <a:p>
            <a:pPr algn="ctr"/>
            <a:r>
              <a:rPr lang="en-US" sz="1300" b="1">
                <a:solidFill>
                  <a:srgbClr val="566982"/>
                </a:solidFill>
                <a:latin typeface="Aptos" panose="020B0004020202020204" pitchFamily="34" charset="0"/>
              </a:rPr>
              <a:t>- OAM authority script</a:t>
            </a:r>
          </a:p>
          <a:p>
            <a:pPr algn="ctr"/>
            <a:r>
              <a:rPr lang="en-US" sz="1300" b="1">
                <a:solidFill>
                  <a:srgbClr val="566982"/>
                </a:solidFill>
                <a:latin typeface="Aptos" panose="020B0004020202020204" pitchFamily="34" charset="0"/>
              </a:rPr>
              <a:t>- Queue depth metrics</a:t>
            </a:r>
          </a:p>
          <a:p>
            <a:pPr algn="ctr"/>
            <a:r>
              <a:rPr lang="en-US" sz="1300" b="1">
                <a:solidFill>
                  <a:srgbClr val="566982"/>
                </a:solidFill>
                <a:latin typeface="Aptos" panose="020B0004020202020204" pitchFamily="34" charset="0"/>
              </a:rPr>
              <a:t>- Logs with correlationId</a:t>
            </a:r>
          </a:p>
          <a:p>
            <a:pPr algn="ctr"/>
            <a:r>
              <a:rPr lang="en-US" sz="1300" b="1">
                <a:solidFill>
                  <a:srgbClr val="566982"/>
                </a:solidFill>
                <a:latin typeface="Aptos" panose="020B0004020202020204" pitchFamily="34" charset="0"/>
              </a:rPr>
              <a:t>- Dashboard status confirms DB results</a:t>
            </a:r>
          </a:p>
        </p:txBody>
      </p:sp>
      <p:sp>
        <p:nvSpPr>
          <p:cNvPr id="29" name="codex_template_top_accent">
            <a:extLst>
              <a:ext uri="{FF2B5EF4-FFF2-40B4-BE49-F238E27FC236}">
                <a16:creationId xmlns:a16="http://schemas.microsoft.com/office/drawing/2014/main" id="{ADF3ECAA-8549-4845-2748-A7A66477EEC2}"/>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odex_template_footer">
            <a:extLst>
              <a:ext uri="{FF2B5EF4-FFF2-40B4-BE49-F238E27FC236}">
                <a16:creationId xmlns:a16="http://schemas.microsoft.com/office/drawing/2014/main" id="{3372C9D0-81B2-2D19-22E5-77025FFB4BD2}"/>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32" name="codex_template_slide_number">
            <a:extLst>
              <a:ext uri="{FF2B5EF4-FFF2-40B4-BE49-F238E27FC236}">
                <a16:creationId xmlns:a16="http://schemas.microsoft.com/office/drawing/2014/main" id="{34D0B6C9-2A59-8C3E-DEF6-688465FFA629}"/>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10</a:t>
            </a:r>
          </a:p>
        </p:txBody>
      </p:sp>
      <p:cxnSp>
        <p:nvCxnSpPr>
          <p:cNvPr id="33" name="codex_template_title_rule">
            <a:extLst>
              <a:ext uri="{FF2B5EF4-FFF2-40B4-BE49-F238E27FC236}">
                <a16:creationId xmlns:a16="http://schemas.microsoft.com/office/drawing/2014/main" id="{FAE1221B-A12E-A597-6973-7FBCAD518C0D}"/>
              </a:ext>
            </a:extLst>
          </p:cNvPr>
          <p:cNvCxnSpPr/>
          <p:nvPr/>
        </p:nvCxnSpPr>
        <p:spPr>
          <a:xfrm>
            <a:off x="825500" y="1150646"/>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70362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36348014-71FC-79BA-7828-AD39559902FE}"/>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8D3D89BB-5CC9-60E0-D200-E6B2328094FB}"/>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2070EC63-9C06-940E-779C-4ECE8B6828F0}"/>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9491D44-1D1E-00E7-F61C-7B6F61AAA39B}"/>
              </a:ext>
            </a:extLst>
          </p:cNvPr>
          <p:cNvSpPr txBox="1"/>
          <p:nvPr/>
        </p:nvSpPr>
        <p:spPr>
          <a:xfrm>
            <a:off x="824357" y="576904"/>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Kubernetes Objects Implemented</a:t>
            </a:r>
          </a:p>
        </p:txBody>
      </p:sp>
      <p:sp>
        <p:nvSpPr>
          <p:cNvPr id="14" name="Rectangle: Rounded Corners 13">
            <a:extLst>
              <a:ext uri="{FF2B5EF4-FFF2-40B4-BE49-F238E27FC236}">
                <a16:creationId xmlns:a16="http://schemas.microsoft.com/office/drawing/2014/main" id="{024B89D3-3E6C-D024-64AE-02E12B940F32}"/>
              </a:ext>
            </a:extLst>
          </p:cNvPr>
          <p:cNvSpPr/>
          <p:nvPr/>
        </p:nvSpPr>
        <p:spPr>
          <a:xfrm>
            <a:off x="571500" y="2006600"/>
            <a:ext cx="5143500" cy="3722988"/>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15C376CF-C3F9-6D2F-5DC0-C8A31B2084E0}"/>
              </a:ext>
            </a:extLst>
          </p:cNvPr>
          <p:cNvSpPr txBox="1"/>
          <p:nvPr/>
        </p:nvSpPr>
        <p:spPr>
          <a:xfrm>
            <a:off x="837057" y="2959724"/>
            <a:ext cx="4635500" cy="1446550"/>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Deployments for producer, consumer and dashboard</a:t>
            </a:r>
          </a:p>
          <a:p>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StatefulSet</a:t>
            </a:r>
            <a:r>
              <a:rPr lang="en-US" dirty="0">
                <a:solidFill>
                  <a:srgbClr val="566982"/>
                </a:solidFill>
                <a:latin typeface="Aptos" panose="020B0004020202020204" pitchFamily="34" charset="0"/>
              </a:rPr>
              <a:t> for IBM MQ</a:t>
            </a:r>
          </a:p>
          <a:p>
            <a:r>
              <a:rPr lang="en-US" dirty="0">
                <a:solidFill>
                  <a:srgbClr val="566982"/>
                </a:solidFill>
                <a:latin typeface="Aptos" panose="020B0004020202020204" pitchFamily="34" charset="0"/>
              </a:rPr>
              <a:t>- Services for app access and MQ internal routing</a:t>
            </a:r>
          </a:p>
          <a:p>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ConfigMaps</a:t>
            </a:r>
            <a:r>
              <a:rPr lang="en-US" dirty="0">
                <a:solidFill>
                  <a:srgbClr val="566982"/>
                </a:solidFill>
                <a:latin typeface="Aptos" panose="020B0004020202020204" pitchFamily="34" charset="0"/>
              </a:rPr>
              <a:t> for runtime configuration and MQSC setup</a:t>
            </a:r>
          </a:p>
          <a:p>
            <a:r>
              <a:rPr lang="en-US" dirty="0">
                <a:solidFill>
                  <a:srgbClr val="566982"/>
                </a:solidFill>
                <a:latin typeface="Aptos" panose="020B0004020202020204" pitchFamily="34" charset="0"/>
              </a:rPr>
              <a:t>- Secrets and IRSA for runtime credentials</a:t>
            </a:r>
          </a:p>
          <a:p>
            <a:r>
              <a:rPr lang="en-US" dirty="0">
                <a:solidFill>
                  <a:srgbClr val="566982"/>
                </a:solidFill>
                <a:latin typeface="Aptos" panose="020B0004020202020204" pitchFamily="34" charset="0"/>
              </a:rPr>
              <a:t>- HPAs, PDBs, liveness and readiness probes</a:t>
            </a:r>
          </a:p>
        </p:txBody>
      </p:sp>
      <p:sp>
        <p:nvSpPr>
          <p:cNvPr id="16" name="Rectangle: Rounded Corners 15">
            <a:extLst>
              <a:ext uri="{FF2B5EF4-FFF2-40B4-BE49-F238E27FC236}">
                <a16:creationId xmlns:a16="http://schemas.microsoft.com/office/drawing/2014/main" id="{92B34E90-17D8-8833-4D2E-7D8CAD80D0F7}"/>
              </a:ext>
            </a:extLst>
          </p:cNvPr>
          <p:cNvSpPr/>
          <p:nvPr/>
        </p:nvSpPr>
        <p:spPr>
          <a:xfrm>
            <a:off x="6477000" y="2006600"/>
            <a:ext cx="5143500" cy="3722991"/>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A3AA0220-AEC5-BCB8-D32D-A19C53750083}"/>
              </a:ext>
            </a:extLst>
          </p:cNvPr>
          <p:cNvSpPr txBox="1"/>
          <p:nvPr/>
        </p:nvSpPr>
        <p:spPr>
          <a:xfrm>
            <a:off x="6921500" y="2918706"/>
            <a:ext cx="4635500" cy="1661993"/>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RollingUpdate deployments with controlled availability</a:t>
            </a:r>
          </a:p>
          <a:p>
            <a:r>
              <a:rPr lang="en-US" dirty="0">
                <a:solidFill>
                  <a:srgbClr val="566982"/>
                </a:solidFill>
                <a:latin typeface="Aptos" panose="020B0004020202020204" pitchFamily="34" charset="0"/>
              </a:rPr>
              <a:t>- Persistent storage through gp3 </a:t>
            </a:r>
            <a:r>
              <a:rPr lang="en-US" dirty="0" err="1">
                <a:solidFill>
                  <a:srgbClr val="566982"/>
                </a:solidFill>
                <a:latin typeface="Aptos" panose="020B0004020202020204" pitchFamily="34" charset="0"/>
              </a:rPr>
              <a:t>StorageClass</a:t>
            </a:r>
            <a:endParaRPr lang="en-US" dirty="0">
              <a:solidFill>
                <a:srgbClr val="566982"/>
              </a:solidFill>
              <a:latin typeface="Aptos" panose="020B0004020202020204" pitchFamily="34" charset="0"/>
            </a:endParaRPr>
          </a:p>
          <a:p>
            <a:r>
              <a:rPr lang="en-US" dirty="0">
                <a:solidFill>
                  <a:srgbClr val="566982"/>
                </a:solidFill>
                <a:latin typeface="Aptos" panose="020B0004020202020204" pitchFamily="34" charset="0"/>
              </a:rPr>
              <a:t>- Auto-recovery when pods crash</a:t>
            </a:r>
          </a:p>
          <a:p>
            <a:r>
              <a:rPr lang="en-US" dirty="0">
                <a:solidFill>
                  <a:srgbClr val="566982"/>
                </a:solidFill>
                <a:latin typeface="Aptos" panose="020B0004020202020204" pitchFamily="34" charset="0"/>
              </a:rPr>
              <a:t>- Consumer scaling controlled through HPA and concurrency settings</a:t>
            </a:r>
          </a:p>
          <a:p>
            <a:r>
              <a:rPr lang="en-US" dirty="0">
                <a:solidFill>
                  <a:srgbClr val="566982"/>
                </a:solidFill>
                <a:latin typeface="Aptos" panose="020B0004020202020204" pitchFamily="34" charset="0"/>
              </a:rPr>
              <a:t>- GitHub Actions builds and deploys container images to EKS</a:t>
            </a:r>
          </a:p>
        </p:txBody>
      </p:sp>
      <p:sp>
        <p:nvSpPr>
          <p:cNvPr id="20" name="TextBox 19">
            <a:extLst>
              <a:ext uri="{FF2B5EF4-FFF2-40B4-BE49-F238E27FC236}">
                <a16:creationId xmlns:a16="http://schemas.microsoft.com/office/drawing/2014/main" id="{0338A976-1C1C-E342-2706-E4BFBDBA9535}"/>
              </a:ext>
            </a:extLst>
          </p:cNvPr>
          <p:cNvSpPr txBox="1"/>
          <p:nvPr/>
        </p:nvSpPr>
        <p:spPr>
          <a:xfrm>
            <a:off x="7483569" y="2181443"/>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Operational behavior</a:t>
            </a:r>
          </a:p>
        </p:txBody>
      </p:sp>
      <p:sp>
        <p:nvSpPr>
          <p:cNvPr id="21" name="TextBox 20">
            <a:extLst>
              <a:ext uri="{FF2B5EF4-FFF2-40B4-BE49-F238E27FC236}">
                <a16:creationId xmlns:a16="http://schemas.microsoft.com/office/drawing/2014/main" id="{917F64FA-FB3F-6B58-4959-F4D8E727B7EB}"/>
              </a:ext>
            </a:extLst>
          </p:cNvPr>
          <p:cNvSpPr txBox="1"/>
          <p:nvPr/>
        </p:nvSpPr>
        <p:spPr>
          <a:xfrm>
            <a:off x="1511067" y="2161516"/>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Raw manifests</a:t>
            </a:r>
          </a:p>
        </p:txBody>
      </p:sp>
      <p:sp>
        <p:nvSpPr>
          <p:cNvPr id="25" name="codex_template_top_accent">
            <a:extLst>
              <a:ext uri="{FF2B5EF4-FFF2-40B4-BE49-F238E27FC236}">
                <a16:creationId xmlns:a16="http://schemas.microsoft.com/office/drawing/2014/main" id="{B0E3968F-D7EC-7054-DBD6-61E4748849F6}"/>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8035B898-CE14-6E68-9326-B8EC47D9992E}"/>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97F2A349-012F-3F7C-45CA-CFE1448DC8D4}"/>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11</a:t>
            </a:r>
          </a:p>
        </p:txBody>
      </p:sp>
      <p:cxnSp>
        <p:nvCxnSpPr>
          <p:cNvPr id="29" name="codex_template_title_rule">
            <a:extLst>
              <a:ext uri="{FF2B5EF4-FFF2-40B4-BE49-F238E27FC236}">
                <a16:creationId xmlns:a16="http://schemas.microsoft.com/office/drawing/2014/main" id="{2D591C69-491C-A297-090E-DDF2281D1E0A}"/>
              </a:ext>
            </a:extLst>
          </p:cNvPr>
          <p:cNvCxnSpPr/>
          <p:nvPr/>
        </p:nvCxnSpPr>
        <p:spPr>
          <a:xfrm>
            <a:off x="824357" y="1237304"/>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20546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codex_template_right_wash">
            <a:extLst>
              <a:ext uri="{FF2B5EF4-FFF2-40B4-BE49-F238E27FC236}">
                <a16:creationId xmlns:a16="http://schemas.microsoft.com/office/drawing/2014/main" id="{4483516C-C4E4-F58A-BF09-89CC7CAF9E4A}"/>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dex_template_header_band">
            <a:extLst>
              <a:ext uri="{FF2B5EF4-FFF2-40B4-BE49-F238E27FC236}">
                <a16:creationId xmlns:a16="http://schemas.microsoft.com/office/drawing/2014/main" id="{FAFF33E1-45E0-3C32-7A4F-9AC24BF2504E}"/>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codex_template_background">
            <a:extLst>
              <a:ext uri="{FF2B5EF4-FFF2-40B4-BE49-F238E27FC236}">
                <a16:creationId xmlns:a16="http://schemas.microsoft.com/office/drawing/2014/main" id="{DA9377EE-EE2C-52DC-39AC-2BBCCC33CE76}"/>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FF295B1-4A2A-2D6D-6BB5-E04C3E98F500}"/>
              </a:ext>
            </a:extLst>
          </p:cNvPr>
          <p:cNvSpPr txBox="1"/>
          <p:nvPr/>
        </p:nvSpPr>
        <p:spPr>
          <a:xfrm>
            <a:off x="841983" y="584200"/>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CI/CD: GitHub to AWS</a:t>
            </a:r>
          </a:p>
        </p:txBody>
      </p:sp>
      <p:sp>
        <p:nvSpPr>
          <p:cNvPr id="14" name="Rectangle: Rounded Corners 13">
            <a:extLst>
              <a:ext uri="{FF2B5EF4-FFF2-40B4-BE49-F238E27FC236}">
                <a16:creationId xmlns:a16="http://schemas.microsoft.com/office/drawing/2014/main" id="{00564DA2-98FC-70B0-3E37-521BF162E2EC}"/>
              </a:ext>
            </a:extLst>
          </p:cNvPr>
          <p:cNvSpPr/>
          <p:nvPr/>
        </p:nvSpPr>
        <p:spPr>
          <a:xfrm>
            <a:off x="698500" y="2159000"/>
            <a:ext cx="2032000" cy="1143000"/>
          </a:xfrm>
          <a:prstGeom prst="roundRect">
            <a:avLst/>
          </a:prstGeom>
          <a:solidFill>
            <a:srgbClr val="F7FAFD"/>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5B6E8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Developer Push</a:t>
            </a:r>
          </a:p>
          <a:p>
            <a:pPr algn="ctr"/>
            <a:r>
              <a:rPr lang="en-US" sz="1400" b="1">
                <a:solidFill>
                  <a:srgbClr val="566982"/>
                </a:solidFill>
                <a:latin typeface="Aptos" panose="020B0004020202020204" pitchFamily="34" charset="0"/>
              </a:rPr>
              <a:t>main branch</a:t>
            </a:r>
          </a:p>
        </p:txBody>
      </p:sp>
      <p:sp>
        <p:nvSpPr>
          <p:cNvPr id="15" name="Rectangle: Rounded Corners 14">
            <a:extLst>
              <a:ext uri="{FF2B5EF4-FFF2-40B4-BE49-F238E27FC236}">
                <a16:creationId xmlns:a16="http://schemas.microsoft.com/office/drawing/2014/main" id="{E1DC1863-209E-C7E8-888E-0756E53DC43D}"/>
              </a:ext>
            </a:extLst>
          </p:cNvPr>
          <p:cNvSpPr/>
          <p:nvPr/>
        </p:nvSpPr>
        <p:spPr>
          <a:xfrm>
            <a:off x="3429000" y="2006600"/>
            <a:ext cx="2286000" cy="1524000"/>
          </a:xfrm>
          <a:prstGeom prst="roundRect">
            <a:avLst/>
          </a:prstGeom>
          <a:solidFill>
            <a:srgbClr val="E2F1FF"/>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76D2"/>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GitHub Actions</a:t>
            </a:r>
          </a:p>
          <a:p>
            <a:pPr algn="ctr"/>
            <a:r>
              <a:rPr lang="en-US" sz="1400" b="1">
                <a:solidFill>
                  <a:srgbClr val="566982"/>
                </a:solidFill>
                <a:latin typeface="Aptos" panose="020B0004020202020204" pitchFamily="34" charset="0"/>
              </a:rPr>
              <a:t>Build</a:t>
            </a:r>
          </a:p>
          <a:p>
            <a:pPr algn="ctr"/>
            <a:r>
              <a:rPr lang="en-US" sz="1400" b="1">
                <a:solidFill>
                  <a:srgbClr val="566982"/>
                </a:solidFill>
                <a:latin typeface="Aptos" panose="020B0004020202020204" pitchFamily="34" charset="0"/>
              </a:rPr>
              <a:t>Unit tests</a:t>
            </a:r>
          </a:p>
          <a:p>
            <a:pPr algn="ctr"/>
            <a:r>
              <a:rPr lang="en-US" sz="1400" b="1">
                <a:solidFill>
                  <a:srgbClr val="566982"/>
                </a:solidFill>
                <a:latin typeface="Aptos" panose="020B0004020202020204" pitchFamily="34" charset="0"/>
              </a:rPr>
              <a:t>Containerize</a:t>
            </a:r>
          </a:p>
        </p:txBody>
      </p:sp>
      <p:sp>
        <p:nvSpPr>
          <p:cNvPr id="16" name="Rectangle: Rounded Corners 15">
            <a:extLst>
              <a:ext uri="{FF2B5EF4-FFF2-40B4-BE49-F238E27FC236}">
                <a16:creationId xmlns:a16="http://schemas.microsoft.com/office/drawing/2014/main" id="{E4541A70-3F91-C57C-3CCB-0A3D39FE79CC}"/>
              </a:ext>
            </a:extLst>
          </p:cNvPr>
          <p:cNvSpPr/>
          <p:nvPr/>
        </p:nvSpPr>
        <p:spPr>
          <a:xfrm>
            <a:off x="6413500" y="2159000"/>
            <a:ext cx="2032000" cy="1143000"/>
          </a:xfrm>
          <a:prstGeom prst="roundRect">
            <a:avLst/>
          </a:prstGeom>
          <a:solidFill>
            <a:srgbClr val="FFF2DD"/>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Amazon ECR</a:t>
            </a:r>
          </a:p>
          <a:p>
            <a:pPr algn="ctr"/>
            <a:r>
              <a:rPr lang="en-US" sz="1400" b="1">
                <a:solidFill>
                  <a:srgbClr val="566982"/>
                </a:solidFill>
                <a:latin typeface="Aptos" panose="020B0004020202020204" pitchFamily="34" charset="0"/>
              </a:rPr>
              <a:t>Versioned images</a:t>
            </a:r>
          </a:p>
        </p:txBody>
      </p:sp>
      <p:sp>
        <p:nvSpPr>
          <p:cNvPr id="17" name="Rectangle: Rounded Corners 16">
            <a:extLst>
              <a:ext uri="{FF2B5EF4-FFF2-40B4-BE49-F238E27FC236}">
                <a16:creationId xmlns:a16="http://schemas.microsoft.com/office/drawing/2014/main" id="{DE161DF0-799E-11AC-6674-AD960F057CB8}"/>
              </a:ext>
            </a:extLst>
          </p:cNvPr>
          <p:cNvSpPr/>
          <p:nvPr/>
        </p:nvSpPr>
        <p:spPr>
          <a:xfrm>
            <a:off x="9144000" y="2006600"/>
            <a:ext cx="2286000" cy="1524000"/>
          </a:xfrm>
          <a:prstGeom prst="roundRect">
            <a:avLst/>
          </a:prstGeom>
          <a:solidFill>
            <a:srgbClr val="E1F8F4"/>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998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Amazon EKS</a:t>
            </a:r>
          </a:p>
          <a:p>
            <a:pPr algn="ctr"/>
            <a:r>
              <a:rPr lang="en-US" sz="1400" b="1">
                <a:solidFill>
                  <a:srgbClr val="566982"/>
                </a:solidFill>
                <a:latin typeface="Aptos" panose="020B0004020202020204" pitchFamily="34" charset="0"/>
              </a:rPr>
              <a:t>kubectl apply</a:t>
            </a:r>
          </a:p>
          <a:p>
            <a:pPr algn="ctr"/>
            <a:r>
              <a:rPr lang="en-US" sz="1400" b="1">
                <a:solidFill>
                  <a:srgbClr val="566982"/>
                </a:solidFill>
                <a:latin typeface="Aptos" panose="020B0004020202020204" pitchFamily="34" charset="0"/>
              </a:rPr>
              <a:t>rollout status</a:t>
            </a:r>
          </a:p>
        </p:txBody>
      </p:sp>
      <p:cxnSp>
        <p:nvCxnSpPr>
          <p:cNvPr id="18" name="Straight Connector 17">
            <a:extLst>
              <a:ext uri="{FF2B5EF4-FFF2-40B4-BE49-F238E27FC236}">
                <a16:creationId xmlns:a16="http://schemas.microsoft.com/office/drawing/2014/main" id="{EA9B4A22-7892-214C-4CD4-162492EE1A1D}"/>
              </a:ext>
            </a:extLst>
          </p:cNvPr>
          <p:cNvCxnSpPr/>
          <p:nvPr/>
        </p:nvCxnSpPr>
        <p:spPr>
          <a:xfrm>
            <a:off x="2730500" y="2730500"/>
            <a:ext cx="698500" cy="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F7E1EF6-5B15-8BAB-1A25-327914298483}"/>
              </a:ext>
            </a:extLst>
          </p:cNvPr>
          <p:cNvCxnSpPr/>
          <p:nvPr/>
        </p:nvCxnSpPr>
        <p:spPr>
          <a:xfrm>
            <a:off x="5715000" y="2730500"/>
            <a:ext cx="698500" cy="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E92A72-75AB-3848-0326-C2E7E66055B1}"/>
              </a:ext>
            </a:extLst>
          </p:cNvPr>
          <p:cNvCxnSpPr/>
          <p:nvPr/>
        </p:nvCxnSpPr>
        <p:spPr>
          <a:xfrm>
            <a:off x="8445500" y="2730500"/>
            <a:ext cx="698500" cy="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B164BC8C-B551-5133-AAB0-D6262D5B2084}"/>
              </a:ext>
            </a:extLst>
          </p:cNvPr>
          <p:cNvSpPr/>
          <p:nvPr/>
        </p:nvSpPr>
        <p:spPr>
          <a:xfrm>
            <a:off x="762000" y="5334000"/>
            <a:ext cx="11112500" cy="914400"/>
          </a:xfrm>
          <a:prstGeom prst="roundRect">
            <a:avLst/>
          </a:prstGeom>
          <a:solidFill>
            <a:srgbClr val="F7FAF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5B6E8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a:solidFill>
                  <a:srgbClr val="566982"/>
                </a:solidFill>
                <a:latin typeface="Aptos" panose="020B0004020202020204" pitchFamily="34" charset="0"/>
              </a:rPr>
              <a:t>Deploy role pattern</a:t>
            </a:r>
          </a:p>
          <a:p>
            <a:pPr algn="ctr"/>
            <a:r>
              <a:rPr lang="en-US">
                <a:solidFill>
                  <a:srgbClr val="566982"/>
                </a:solidFill>
                <a:latin typeface="Aptos" panose="020B0004020202020204" pitchFamily="34" charset="0"/>
              </a:rPr>
              <a:t>GitHub assumes an AWS IAM role through OIDC. The workflow builds all three services, pushes images to ECR, applies raw Kubernetes manifests, and waits for rollout completion. Kubernetes access still depends on EKS access entry or aws-auth mapping.</a:t>
            </a:r>
          </a:p>
        </p:txBody>
      </p:sp>
      <p:sp>
        <p:nvSpPr>
          <p:cNvPr id="27" name="codex_template_top_accent">
            <a:extLst>
              <a:ext uri="{FF2B5EF4-FFF2-40B4-BE49-F238E27FC236}">
                <a16:creationId xmlns:a16="http://schemas.microsoft.com/office/drawing/2014/main" id="{4882BC59-2B6C-5209-9AD6-33AF69A08057}"/>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dex_template_footer">
            <a:extLst>
              <a:ext uri="{FF2B5EF4-FFF2-40B4-BE49-F238E27FC236}">
                <a16:creationId xmlns:a16="http://schemas.microsoft.com/office/drawing/2014/main" id="{2BF687F0-A7CA-24FF-3117-D2D3DC21DE7D}"/>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30" name="codex_template_slide_number">
            <a:extLst>
              <a:ext uri="{FF2B5EF4-FFF2-40B4-BE49-F238E27FC236}">
                <a16:creationId xmlns:a16="http://schemas.microsoft.com/office/drawing/2014/main" id="{B1E8B9DB-74AF-14E1-52F3-14819793560F}"/>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12</a:t>
            </a:r>
          </a:p>
        </p:txBody>
      </p:sp>
      <p:cxnSp>
        <p:nvCxnSpPr>
          <p:cNvPr id="31" name="codex_template_title_rule">
            <a:extLst>
              <a:ext uri="{FF2B5EF4-FFF2-40B4-BE49-F238E27FC236}">
                <a16:creationId xmlns:a16="http://schemas.microsoft.com/office/drawing/2014/main" id="{0F74863B-AAD3-8932-EEA7-73356A175A77}"/>
              </a:ext>
            </a:extLst>
          </p:cNvPr>
          <p:cNvCxnSpPr/>
          <p:nvPr/>
        </p:nvCxnSpPr>
        <p:spPr>
          <a:xfrm>
            <a:off x="841983" y="1244600"/>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32685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573447FD-7199-A92B-E4BB-14787466016A}"/>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576C7410-1F21-F050-DE3C-D0B3F70C305B}"/>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A870B28D-4071-F402-56F1-B4FF36C2F5B3}"/>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E481B2F-E4B9-6F96-7EA7-CA5304E96E1C}"/>
              </a:ext>
            </a:extLst>
          </p:cNvPr>
          <p:cNvSpPr txBox="1"/>
          <p:nvPr/>
        </p:nvSpPr>
        <p:spPr>
          <a:xfrm>
            <a:off x="812800" y="557154"/>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Testing and Code Quality</a:t>
            </a:r>
          </a:p>
        </p:txBody>
      </p:sp>
      <p:sp>
        <p:nvSpPr>
          <p:cNvPr id="14" name="Rectangle: Rounded Corners 13">
            <a:extLst>
              <a:ext uri="{FF2B5EF4-FFF2-40B4-BE49-F238E27FC236}">
                <a16:creationId xmlns:a16="http://schemas.microsoft.com/office/drawing/2014/main" id="{BF930E04-9F68-BE0D-449C-5761D59F7CD8}"/>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1074BA61-2B16-5D1D-D32F-7C56BD8232E2}"/>
              </a:ext>
            </a:extLst>
          </p:cNvPr>
          <p:cNvSpPr txBox="1"/>
          <p:nvPr/>
        </p:nvSpPr>
        <p:spPr>
          <a:xfrm>
            <a:off x="895018" y="3021494"/>
            <a:ext cx="4635500" cy="1877437"/>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Producer tests validate generation, scheduling and publish behavior</a:t>
            </a:r>
          </a:p>
          <a:p>
            <a:r>
              <a:rPr lang="en-US" dirty="0">
                <a:solidFill>
                  <a:srgbClr val="566982"/>
                </a:solidFill>
                <a:latin typeface="Aptos" panose="020B0004020202020204" pitchFamily="34" charset="0"/>
              </a:rPr>
              <a:t>- Consumer tests validate reconciliation, retry, idempotency and failure paths</a:t>
            </a:r>
          </a:p>
          <a:p>
            <a:r>
              <a:rPr lang="en-US" dirty="0">
                <a:solidFill>
                  <a:srgbClr val="566982"/>
                </a:solidFill>
                <a:latin typeface="Aptos" panose="020B0004020202020204" pitchFamily="34" charset="0"/>
              </a:rPr>
              <a:t>- Dashboard tests validate API status, failed view, replay and queue visibility</a:t>
            </a:r>
          </a:p>
          <a:p>
            <a:r>
              <a:rPr lang="en-US" dirty="0">
                <a:solidFill>
                  <a:srgbClr val="566982"/>
                </a:solidFill>
                <a:latin typeface="Aptos" panose="020B0004020202020204" pitchFamily="34" charset="0"/>
              </a:rPr>
              <a:t>- Exception handling paths are covered explicitly</a:t>
            </a:r>
          </a:p>
          <a:p>
            <a:r>
              <a:rPr lang="en-US" dirty="0">
                <a:solidFill>
                  <a:srgbClr val="566982"/>
                </a:solidFill>
                <a:latin typeface="Aptos" panose="020B0004020202020204" pitchFamily="34" charset="0"/>
              </a:rPr>
              <a:t>- Target coverage: 80 percent or higher</a:t>
            </a:r>
          </a:p>
        </p:txBody>
      </p:sp>
      <p:sp>
        <p:nvSpPr>
          <p:cNvPr id="16" name="Rectangle: Rounded Corners 15">
            <a:extLst>
              <a:ext uri="{FF2B5EF4-FFF2-40B4-BE49-F238E27FC236}">
                <a16:creationId xmlns:a16="http://schemas.microsoft.com/office/drawing/2014/main" id="{DA7871A2-E7FA-5613-F2BF-9B4ABF07050D}"/>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7082B791-C83E-63DF-A173-E70D3716DB68}"/>
              </a:ext>
            </a:extLst>
          </p:cNvPr>
          <p:cNvSpPr txBox="1"/>
          <p:nvPr/>
        </p:nvSpPr>
        <p:spPr>
          <a:xfrm>
            <a:off x="6921500" y="3021494"/>
            <a:ext cx="4635500" cy="1231106"/>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Java 17 and Spring Boot conventions</a:t>
            </a:r>
          </a:p>
          <a:p>
            <a:r>
              <a:rPr lang="en-US" dirty="0">
                <a:solidFill>
                  <a:srgbClr val="566982"/>
                </a:solidFill>
                <a:latin typeface="Aptos" panose="020B0004020202020204" pitchFamily="34" charset="0"/>
              </a:rPr>
              <a:t>- No credential hardcoding</a:t>
            </a:r>
          </a:p>
          <a:p>
            <a:r>
              <a:rPr lang="en-US" dirty="0">
                <a:solidFill>
                  <a:srgbClr val="566982"/>
                </a:solidFill>
                <a:latin typeface="Aptos" panose="020B0004020202020204" pitchFamily="34" charset="0"/>
              </a:rPr>
              <a:t>- Structured exceptions and domain-specific failure types</a:t>
            </a:r>
          </a:p>
          <a:p>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ObjectMapper</a:t>
            </a:r>
            <a:r>
              <a:rPr lang="en-US" dirty="0">
                <a:solidFill>
                  <a:srgbClr val="566982"/>
                </a:solidFill>
                <a:latin typeface="Aptos" panose="020B0004020202020204" pitchFamily="34" charset="0"/>
              </a:rPr>
              <a:t> configured for Java time serialization</a:t>
            </a:r>
          </a:p>
          <a:p>
            <a:r>
              <a:rPr lang="en-US" dirty="0">
                <a:solidFill>
                  <a:srgbClr val="566982"/>
                </a:solidFill>
                <a:latin typeface="Aptos" panose="020B0004020202020204" pitchFamily="34" charset="0"/>
              </a:rPr>
              <a:t>- Clean separation of app responsibilities</a:t>
            </a:r>
          </a:p>
        </p:txBody>
      </p:sp>
      <p:sp>
        <p:nvSpPr>
          <p:cNvPr id="20" name="TextBox 19">
            <a:extLst>
              <a:ext uri="{FF2B5EF4-FFF2-40B4-BE49-F238E27FC236}">
                <a16:creationId xmlns:a16="http://schemas.microsoft.com/office/drawing/2014/main" id="{9EE46275-CD0D-5BB9-D4A8-5E8620999378}"/>
              </a:ext>
            </a:extLst>
          </p:cNvPr>
          <p:cNvSpPr txBox="1"/>
          <p:nvPr/>
        </p:nvSpPr>
        <p:spPr>
          <a:xfrm>
            <a:off x="1569433" y="2092608"/>
            <a:ext cx="2720465"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Unit and integration focus</a:t>
            </a:r>
          </a:p>
        </p:txBody>
      </p:sp>
      <p:sp>
        <p:nvSpPr>
          <p:cNvPr id="21" name="TextBox 20">
            <a:extLst>
              <a:ext uri="{FF2B5EF4-FFF2-40B4-BE49-F238E27FC236}">
                <a16:creationId xmlns:a16="http://schemas.microsoft.com/office/drawing/2014/main" id="{DB8C970A-AE54-E80E-6E6B-AA5283657F07}"/>
              </a:ext>
            </a:extLst>
          </p:cNvPr>
          <p:cNvSpPr txBox="1"/>
          <p:nvPr/>
        </p:nvSpPr>
        <p:spPr>
          <a:xfrm>
            <a:off x="7322658" y="2139586"/>
            <a:ext cx="2720465"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Production code practices</a:t>
            </a:r>
          </a:p>
        </p:txBody>
      </p:sp>
      <p:sp>
        <p:nvSpPr>
          <p:cNvPr id="25" name="codex_template_top_accent">
            <a:extLst>
              <a:ext uri="{FF2B5EF4-FFF2-40B4-BE49-F238E27FC236}">
                <a16:creationId xmlns:a16="http://schemas.microsoft.com/office/drawing/2014/main" id="{42AC5E9E-7DCF-57D9-E66D-5E24B7C272B7}"/>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CAC890FB-E6F3-1A0A-05B0-1D38D56DB36F}"/>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75B295F7-F3BA-DBD2-C2EF-A6BF2BC2649D}"/>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13</a:t>
            </a:r>
          </a:p>
        </p:txBody>
      </p:sp>
      <p:cxnSp>
        <p:nvCxnSpPr>
          <p:cNvPr id="29" name="codex_template_title_rule">
            <a:extLst>
              <a:ext uri="{FF2B5EF4-FFF2-40B4-BE49-F238E27FC236}">
                <a16:creationId xmlns:a16="http://schemas.microsoft.com/office/drawing/2014/main" id="{1F39C0E4-A617-07F1-EF35-8F4B2D73240A}"/>
              </a:ext>
            </a:extLst>
          </p:cNvPr>
          <p:cNvCxnSpPr/>
          <p:nvPr/>
        </p:nvCxnSpPr>
        <p:spPr>
          <a:xfrm>
            <a:off x="812800" y="1217554"/>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7460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codex_template_right_wash">
            <a:extLst>
              <a:ext uri="{FF2B5EF4-FFF2-40B4-BE49-F238E27FC236}">
                <a16:creationId xmlns:a16="http://schemas.microsoft.com/office/drawing/2014/main" id="{506838ED-5E43-4903-B4A6-E1CB72132994}"/>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codex_template_header_band">
            <a:extLst>
              <a:ext uri="{FF2B5EF4-FFF2-40B4-BE49-F238E27FC236}">
                <a16:creationId xmlns:a16="http://schemas.microsoft.com/office/drawing/2014/main" id="{85BA80A4-6150-EE46-8C8D-7F181D0C423D}"/>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dex_template_background">
            <a:extLst>
              <a:ext uri="{FF2B5EF4-FFF2-40B4-BE49-F238E27FC236}">
                <a16:creationId xmlns:a16="http://schemas.microsoft.com/office/drawing/2014/main" id="{82E33662-FD20-3A8C-05E7-78C3550FF59E}"/>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FE7EFAB-D33D-34AE-03D3-FE5ACAFB1F9E}"/>
              </a:ext>
            </a:extLst>
          </p:cNvPr>
          <p:cNvSpPr txBox="1"/>
          <p:nvPr/>
        </p:nvSpPr>
        <p:spPr>
          <a:xfrm>
            <a:off x="803073" y="546101"/>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Troubleshooting Case Study: MQRC 2035</a:t>
            </a:r>
          </a:p>
        </p:txBody>
      </p:sp>
      <p:sp>
        <p:nvSpPr>
          <p:cNvPr id="14" name="Rectangle: Rounded Corners 13">
            <a:extLst>
              <a:ext uri="{FF2B5EF4-FFF2-40B4-BE49-F238E27FC236}">
                <a16:creationId xmlns:a16="http://schemas.microsoft.com/office/drawing/2014/main" id="{00346461-C52B-05CE-1EE8-A89235EB3E4D}"/>
              </a:ext>
            </a:extLst>
          </p:cNvPr>
          <p:cNvSpPr/>
          <p:nvPr/>
        </p:nvSpPr>
        <p:spPr>
          <a:xfrm>
            <a:off x="698500" y="2006600"/>
            <a:ext cx="3175000" cy="1524000"/>
          </a:xfrm>
          <a:prstGeom prst="roundRect">
            <a:avLst/>
          </a:prstGeom>
          <a:solidFill>
            <a:srgbClr val="FFE8E8"/>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D54F4F"/>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Symptom</a:t>
            </a:r>
          </a:p>
          <a:p>
            <a:pPr algn="ctr"/>
            <a:r>
              <a:rPr lang="en-US" sz="1300" b="1">
                <a:solidFill>
                  <a:srgbClr val="566982"/>
                </a:solidFill>
                <a:latin typeface="Aptos" panose="020B0004020202020204" pitchFamily="34" charset="0"/>
              </a:rPr>
              <a:t>Producer and consumer started but failed to open MQ queues.</a:t>
            </a:r>
          </a:p>
          <a:p>
            <a:pPr algn="ctr"/>
            <a:r>
              <a:rPr lang="en-US" sz="1300" b="1">
                <a:solidFill>
                  <a:srgbClr val="566982"/>
                </a:solidFill>
                <a:latin typeface="Aptos" panose="020B0004020202020204" pitchFamily="34" charset="0"/>
              </a:rPr>
              <a:t>IBM MQ returned MQRC 2035 authorization failure.</a:t>
            </a:r>
          </a:p>
        </p:txBody>
      </p:sp>
      <p:sp>
        <p:nvSpPr>
          <p:cNvPr id="15" name="Rectangle: Rounded Corners 14">
            <a:extLst>
              <a:ext uri="{FF2B5EF4-FFF2-40B4-BE49-F238E27FC236}">
                <a16:creationId xmlns:a16="http://schemas.microsoft.com/office/drawing/2014/main" id="{9F71792E-12D2-08B7-BD6F-07D54A11C820}"/>
              </a:ext>
            </a:extLst>
          </p:cNvPr>
          <p:cNvSpPr/>
          <p:nvPr/>
        </p:nvSpPr>
        <p:spPr>
          <a:xfrm>
            <a:off x="4508500" y="2006600"/>
            <a:ext cx="3175000" cy="1524000"/>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Diagnosis</a:t>
            </a:r>
          </a:p>
          <a:p>
            <a:pPr algn="ctr"/>
            <a:r>
              <a:rPr lang="en-US" sz="1300" b="1">
                <a:solidFill>
                  <a:srgbClr val="566982"/>
                </a:solidFill>
                <a:latin typeface="Aptos" panose="020B0004020202020204" pitchFamily="34" charset="0"/>
              </a:rPr>
              <a:t>Logs showed authorization failure, not network or credential parsing issue.</a:t>
            </a:r>
          </a:p>
          <a:p>
            <a:pPr algn="ctr"/>
            <a:r>
              <a:rPr lang="en-US" sz="1300" b="1">
                <a:solidFill>
                  <a:srgbClr val="566982"/>
                </a:solidFill>
                <a:latin typeface="Aptos" panose="020B0004020202020204" pitchFamily="34" charset="0"/>
              </a:rPr>
              <a:t>Queue manager and queue OAM were inspected.</a:t>
            </a:r>
          </a:p>
        </p:txBody>
      </p:sp>
      <p:sp>
        <p:nvSpPr>
          <p:cNvPr id="16" name="Rectangle: Rounded Corners 15">
            <a:extLst>
              <a:ext uri="{FF2B5EF4-FFF2-40B4-BE49-F238E27FC236}">
                <a16:creationId xmlns:a16="http://schemas.microsoft.com/office/drawing/2014/main" id="{73DF315F-1EFB-DE1B-E7E6-17AD97981E11}"/>
              </a:ext>
            </a:extLst>
          </p:cNvPr>
          <p:cNvSpPr/>
          <p:nvPr/>
        </p:nvSpPr>
        <p:spPr>
          <a:xfrm>
            <a:off x="8172585" y="2006600"/>
            <a:ext cx="3175000" cy="1524000"/>
          </a:xfrm>
          <a:prstGeom prst="roundRect">
            <a:avLst/>
          </a:prstGeom>
          <a:solidFill>
            <a:srgbClr val="E1F8F4"/>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00998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dirty="0">
                <a:solidFill>
                  <a:srgbClr val="566982"/>
                </a:solidFill>
                <a:latin typeface="Aptos" panose="020B0004020202020204" pitchFamily="34" charset="0"/>
              </a:rPr>
              <a:t>Correction</a:t>
            </a:r>
          </a:p>
          <a:p>
            <a:pPr algn="ctr"/>
            <a:r>
              <a:rPr lang="en-US" sz="1300" b="1" dirty="0">
                <a:solidFill>
                  <a:srgbClr val="566982"/>
                </a:solidFill>
                <a:latin typeface="Aptos" panose="020B0004020202020204" pitchFamily="34" charset="0"/>
              </a:rPr>
              <a:t>Applied OAM authorities for app principal on QM1 and queues using documented script.</a:t>
            </a:r>
          </a:p>
        </p:txBody>
      </p:sp>
      <p:sp>
        <p:nvSpPr>
          <p:cNvPr id="17" name="Rectangle: Rounded Corners 16">
            <a:extLst>
              <a:ext uri="{FF2B5EF4-FFF2-40B4-BE49-F238E27FC236}">
                <a16:creationId xmlns:a16="http://schemas.microsoft.com/office/drawing/2014/main" id="{A4BE277E-7773-4BA8-BA60-EA4D9161B820}"/>
              </a:ext>
            </a:extLst>
          </p:cNvPr>
          <p:cNvSpPr/>
          <p:nvPr/>
        </p:nvSpPr>
        <p:spPr>
          <a:xfrm>
            <a:off x="1460500" y="3937000"/>
            <a:ext cx="9271000" cy="1270000"/>
          </a:xfrm>
          <a:prstGeom prst="roundRect">
            <a:avLst/>
          </a:prstGeom>
          <a:solidFill>
            <a:srgbClr val="F7FAF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5B6E8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a:solidFill>
                  <a:srgbClr val="566982"/>
                </a:solidFill>
                <a:latin typeface="Aptos" panose="020B0004020202020204" pitchFamily="34" charset="0"/>
              </a:rPr>
              <a:t>Why this matters</a:t>
            </a:r>
          </a:p>
          <a:p>
            <a:pPr algn="ctr"/>
            <a:r>
              <a:rPr lang="en-US">
                <a:solidFill>
                  <a:srgbClr val="566982"/>
                </a:solidFill>
                <a:latin typeface="Aptos" panose="020B0004020202020204" pitchFamily="34" charset="0"/>
              </a:rPr>
              <a:t>This is the kind of real production issue the assessment is asking for: a cloud deployment worked at the platform layer, but MQ object authorization blocked message flow. The recovery was diagnosed, fixed through MQ authority commands, documented, and validated by end-to-end transaction processing.</a:t>
            </a:r>
          </a:p>
        </p:txBody>
      </p:sp>
      <p:sp>
        <p:nvSpPr>
          <p:cNvPr id="23" name="codex_template_top_accent">
            <a:extLst>
              <a:ext uri="{FF2B5EF4-FFF2-40B4-BE49-F238E27FC236}">
                <a16:creationId xmlns:a16="http://schemas.microsoft.com/office/drawing/2014/main" id="{908977A8-AB1C-A760-D70F-DFBC787ED0AC}"/>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dex_template_footer">
            <a:extLst>
              <a:ext uri="{FF2B5EF4-FFF2-40B4-BE49-F238E27FC236}">
                <a16:creationId xmlns:a16="http://schemas.microsoft.com/office/drawing/2014/main" id="{235AC189-D35E-8CDB-CD63-000F556B4FBC}"/>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6" name="codex_template_slide_number">
            <a:extLst>
              <a:ext uri="{FF2B5EF4-FFF2-40B4-BE49-F238E27FC236}">
                <a16:creationId xmlns:a16="http://schemas.microsoft.com/office/drawing/2014/main" id="{2EDB0D60-2B54-FE3E-7C03-CBE1D8F31F1A}"/>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14</a:t>
            </a:r>
          </a:p>
        </p:txBody>
      </p:sp>
      <p:cxnSp>
        <p:nvCxnSpPr>
          <p:cNvPr id="27" name="codex_template_title_rule">
            <a:extLst>
              <a:ext uri="{FF2B5EF4-FFF2-40B4-BE49-F238E27FC236}">
                <a16:creationId xmlns:a16="http://schemas.microsoft.com/office/drawing/2014/main" id="{6D4BD1B4-C072-A70C-7E9A-78BFB467193E}"/>
              </a:ext>
            </a:extLst>
          </p:cNvPr>
          <p:cNvCxnSpPr/>
          <p:nvPr/>
        </p:nvCxnSpPr>
        <p:spPr>
          <a:xfrm>
            <a:off x="803073" y="120650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56982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78BA1766-5F4A-C2A0-196A-3531129DFB02}"/>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D37BBB3E-3A6A-0358-9CFD-BD1FCAF4DDB4}"/>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90B36275-C119-399A-1172-D7B7DD3F6BFE}"/>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06C03D2-ED21-EE3A-1005-8F099706F753}"/>
              </a:ext>
            </a:extLst>
          </p:cNvPr>
          <p:cNvSpPr txBox="1"/>
          <p:nvPr/>
        </p:nvSpPr>
        <p:spPr>
          <a:xfrm>
            <a:off x="803072" y="571441"/>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AI-Assisted Engineering Workflow</a:t>
            </a:r>
          </a:p>
        </p:txBody>
      </p:sp>
      <p:sp>
        <p:nvSpPr>
          <p:cNvPr id="14" name="Rectangle: Rounded Corners 13">
            <a:extLst>
              <a:ext uri="{FF2B5EF4-FFF2-40B4-BE49-F238E27FC236}">
                <a16:creationId xmlns:a16="http://schemas.microsoft.com/office/drawing/2014/main" id="{BDD189D0-C9CC-9BCF-6737-67B2EAD7250B}"/>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847D629A-24FF-E5C0-F470-0A7F765EEC9C}"/>
              </a:ext>
            </a:extLst>
          </p:cNvPr>
          <p:cNvSpPr txBox="1"/>
          <p:nvPr/>
        </p:nvSpPr>
        <p:spPr>
          <a:xfrm>
            <a:off x="1002859" y="2903140"/>
            <a:ext cx="4635500" cy="2092881"/>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Clarified the assessment into phased engineering deliverables</a:t>
            </a:r>
          </a:p>
          <a:p>
            <a:r>
              <a:rPr lang="en-US" dirty="0">
                <a:solidFill>
                  <a:srgbClr val="566982"/>
                </a:solidFill>
                <a:latin typeface="Aptos" panose="020B0004020202020204" pitchFamily="34" charset="0"/>
              </a:rPr>
              <a:t>- Generated initial scaffolding for Java services and Kubernetes manifests</a:t>
            </a:r>
          </a:p>
          <a:p>
            <a:r>
              <a:rPr lang="en-US" dirty="0">
                <a:solidFill>
                  <a:srgbClr val="566982"/>
                </a:solidFill>
                <a:latin typeface="Aptos" panose="020B0004020202020204" pitchFamily="34" charset="0"/>
              </a:rPr>
              <a:t>- Produced architecture documentation, Draw.io structure and prompt packs</a:t>
            </a:r>
          </a:p>
          <a:p>
            <a:r>
              <a:rPr lang="en-US" dirty="0">
                <a:solidFill>
                  <a:srgbClr val="566982"/>
                </a:solidFill>
                <a:latin typeface="Aptos" panose="020B0004020202020204" pitchFamily="34" charset="0"/>
              </a:rPr>
              <a:t>- Assisted troubleshooting of AWS, EKS, MQ, Grafana and serialization issues</a:t>
            </a:r>
          </a:p>
          <a:p>
            <a:r>
              <a:rPr lang="en-US" dirty="0">
                <a:solidFill>
                  <a:srgbClr val="566982"/>
                </a:solidFill>
                <a:latin typeface="Aptos" panose="020B0004020202020204" pitchFamily="34" charset="0"/>
              </a:rPr>
              <a:t>- Prepared demo scripts and validation commands</a:t>
            </a:r>
          </a:p>
        </p:txBody>
      </p:sp>
      <p:sp>
        <p:nvSpPr>
          <p:cNvPr id="16" name="Rectangle: Rounded Corners 15">
            <a:extLst>
              <a:ext uri="{FF2B5EF4-FFF2-40B4-BE49-F238E27FC236}">
                <a16:creationId xmlns:a16="http://schemas.microsoft.com/office/drawing/2014/main" id="{762D366E-D527-8315-F3F6-DC4CA9336D92}"/>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94F84B98-2E74-ECFB-52AD-3DEF92D6F597}"/>
              </a:ext>
            </a:extLst>
          </p:cNvPr>
          <p:cNvSpPr txBox="1"/>
          <p:nvPr/>
        </p:nvSpPr>
        <p:spPr>
          <a:xfrm>
            <a:off x="6921500" y="2903140"/>
            <a:ext cx="4635500" cy="2308324"/>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Validated generated code with unit tests and live deployments</a:t>
            </a:r>
          </a:p>
          <a:p>
            <a:r>
              <a:rPr lang="en-US" dirty="0">
                <a:solidFill>
                  <a:srgbClr val="566982"/>
                </a:solidFill>
                <a:latin typeface="Aptos" panose="020B0004020202020204" pitchFamily="34" charset="0"/>
              </a:rPr>
              <a:t>- Corrected secret handling to use AWS Secrets Manager instead of properties</a:t>
            </a:r>
          </a:p>
          <a:p>
            <a:r>
              <a:rPr lang="en-US" dirty="0">
                <a:solidFill>
                  <a:srgbClr val="566982"/>
                </a:solidFill>
                <a:latin typeface="Aptos" panose="020B0004020202020204" pitchFamily="34" charset="0"/>
              </a:rPr>
              <a:t>- Fixed </a:t>
            </a:r>
            <a:r>
              <a:rPr lang="en-US" dirty="0" err="1">
                <a:solidFill>
                  <a:srgbClr val="566982"/>
                </a:solidFill>
                <a:latin typeface="Aptos" panose="020B0004020202020204" pitchFamily="34" charset="0"/>
              </a:rPr>
              <a:t>ObjectMapper</a:t>
            </a:r>
            <a:r>
              <a:rPr lang="en-US" dirty="0">
                <a:solidFill>
                  <a:srgbClr val="566982"/>
                </a:solidFill>
                <a:latin typeface="Aptos" panose="020B0004020202020204" pitchFamily="34" charset="0"/>
              </a:rPr>
              <a:t> Java time serialization in JMS converter</a:t>
            </a:r>
          </a:p>
          <a:p>
            <a:r>
              <a:rPr lang="en-US" dirty="0">
                <a:solidFill>
                  <a:srgbClr val="566982"/>
                </a:solidFill>
                <a:latin typeface="Aptos" panose="020B0004020202020204" pitchFamily="34" charset="0"/>
              </a:rPr>
              <a:t>- Added queue backpressure to avoid unbounded MQ growth</a:t>
            </a:r>
          </a:p>
          <a:p>
            <a:r>
              <a:rPr lang="en-US" dirty="0">
                <a:solidFill>
                  <a:srgbClr val="566982"/>
                </a:solidFill>
                <a:latin typeface="Aptos" panose="020B0004020202020204" pitchFamily="34" charset="0"/>
              </a:rPr>
              <a:t>- Separated TPS panels from cumulative total panels in Grafana</a:t>
            </a:r>
          </a:p>
        </p:txBody>
      </p:sp>
      <p:sp>
        <p:nvSpPr>
          <p:cNvPr id="20" name="TextBox 19">
            <a:extLst>
              <a:ext uri="{FF2B5EF4-FFF2-40B4-BE49-F238E27FC236}">
                <a16:creationId xmlns:a16="http://schemas.microsoft.com/office/drawing/2014/main" id="{14EB0442-0A82-1B63-E59E-4E47ED759036}"/>
              </a:ext>
            </a:extLst>
          </p:cNvPr>
          <p:cNvSpPr txBox="1"/>
          <p:nvPr/>
        </p:nvSpPr>
        <p:spPr>
          <a:xfrm>
            <a:off x="1511067" y="2150130"/>
            <a:ext cx="2720465"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How AI was used</a:t>
            </a:r>
          </a:p>
        </p:txBody>
      </p:sp>
      <p:sp>
        <p:nvSpPr>
          <p:cNvPr id="21" name="TextBox 20">
            <a:extLst>
              <a:ext uri="{FF2B5EF4-FFF2-40B4-BE49-F238E27FC236}">
                <a16:creationId xmlns:a16="http://schemas.microsoft.com/office/drawing/2014/main" id="{5D7EDA3D-B741-933C-AD61-1239CAE56AA3}"/>
              </a:ext>
            </a:extLst>
          </p:cNvPr>
          <p:cNvSpPr txBox="1"/>
          <p:nvPr/>
        </p:nvSpPr>
        <p:spPr>
          <a:xfrm>
            <a:off x="7318579" y="2150130"/>
            <a:ext cx="3346314"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Engineering judgement applied</a:t>
            </a:r>
          </a:p>
        </p:txBody>
      </p:sp>
      <p:sp>
        <p:nvSpPr>
          <p:cNvPr id="25" name="codex_template_top_accent">
            <a:extLst>
              <a:ext uri="{FF2B5EF4-FFF2-40B4-BE49-F238E27FC236}">
                <a16:creationId xmlns:a16="http://schemas.microsoft.com/office/drawing/2014/main" id="{6EB5E8CC-1916-D825-B102-530B212FED2B}"/>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FCF4D95A-AF72-9450-2FFE-1C3C3E84ADA7}"/>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655EB147-B824-E862-0970-DFF0493AB9DD}"/>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16</a:t>
            </a:r>
          </a:p>
        </p:txBody>
      </p:sp>
      <p:cxnSp>
        <p:nvCxnSpPr>
          <p:cNvPr id="29" name="codex_template_title_rule">
            <a:extLst>
              <a:ext uri="{FF2B5EF4-FFF2-40B4-BE49-F238E27FC236}">
                <a16:creationId xmlns:a16="http://schemas.microsoft.com/office/drawing/2014/main" id="{45E2CBE6-2FCB-3BC1-79DC-B6EE628A8837}"/>
              </a:ext>
            </a:extLst>
          </p:cNvPr>
          <p:cNvCxnSpPr/>
          <p:nvPr/>
        </p:nvCxnSpPr>
        <p:spPr>
          <a:xfrm>
            <a:off x="803072" y="123184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58330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codex_template_right_wash">
            <a:extLst>
              <a:ext uri="{FF2B5EF4-FFF2-40B4-BE49-F238E27FC236}">
                <a16:creationId xmlns:a16="http://schemas.microsoft.com/office/drawing/2014/main" id="{E063E9E0-C0CD-D162-B6ED-635C48CFE531}"/>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dex_template_header_band">
            <a:extLst>
              <a:ext uri="{FF2B5EF4-FFF2-40B4-BE49-F238E27FC236}">
                <a16:creationId xmlns:a16="http://schemas.microsoft.com/office/drawing/2014/main" id="{08CECE3C-4601-5678-C1C2-47699C3F8E99}"/>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odex_template_background">
            <a:extLst>
              <a:ext uri="{FF2B5EF4-FFF2-40B4-BE49-F238E27FC236}">
                <a16:creationId xmlns:a16="http://schemas.microsoft.com/office/drawing/2014/main" id="{3E3E1843-10DD-BC43-FA7E-399D2046D99F}"/>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EB66A26-5C4F-F6E9-4C60-ACC703B5C79D}"/>
              </a:ext>
            </a:extLst>
          </p:cNvPr>
          <p:cNvSpPr txBox="1"/>
          <p:nvPr/>
        </p:nvSpPr>
        <p:spPr>
          <a:xfrm>
            <a:off x="812800" y="590778"/>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Prompt Engineering Examples and Corrections</a:t>
            </a:r>
          </a:p>
        </p:txBody>
      </p:sp>
      <p:sp>
        <p:nvSpPr>
          <p:cNvPr id="14" name="Rectangle: Rounded Corners 13">
            <a:extLst>
              <a:ext uri="{FF2B5EF4-FFF2-40B4-BE49-F238E27FC236}">
                <a16:creationId xmlns:a16="http://schemas.microsoft.com/office/drawing/2014/main" id="{0776D6A1-944F-0C94-8082-45CB8A4DA0E7}"/>
              </a:ext>
            </a:extLst>
          </p:cNvPr>
          <p:cNvSpPr/>
          <p:nvPr/>
        </p:nvSpPr>
        <p:spPr>
          <a:xfrm>
            <a:off x="571500" y="2006600"/>
            <a:ext cx="3492500" cy="3810000"/>
          </a:xfrm>
          <a:prstGeom prst="roundRect">
            <a:avLst/>
          </a:prstGeom>
          <a:solidFill>
            <a:srgbClr val="E2F1FF"/>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0076D2"/>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r>
              <a:rPr lang="en-US" sz="1200" b="1" dirty="0">
                <a:solidFill>
                  <a:srgbClr val="566982"/>
                </a:solidFill>
                <a:latin typeface="Aptos" panose="020B0004020202020204" pitchFamily="34" charset="0"/>
              </a:rPr>
              <a:t>Example prompts used</a:t>
            </a:r>
          </a:p>
          <a:p>
            <a:r>
              <a:rPr lang="en-US" sz="1200" b="1" dirty="0">
                <a:solidFill>
                  <a:srgbClr val="566982"/>
                </a:solidFill>
                <a:latin typeface="Aptos" panose="020B0004020202020204" pitchFamily="34" charset="0"/>
              </a:rPr>
              <a:t>- Build three independent Java 17 services for producer, consumer and dashboard.</a:t>
            </a:r>
          </a:p>
          <a:p>
            <a:r>
              <a:rPr lang="en-US" sz="1200" b="1" dirty="0">
                <a:solidFill>
                  <a:srgbClr val="566982"/>
                </a:solidFill>
                <a:latin typeface="Aptos" panose="020B0004020202020204" pitchFamily="34" charset="0"/>
              </a:rPr>
              <a:t>- Add IBM MQ retry, backout, DLQ and replay patterns.</a:t>
            </a:r>
          </a:p>
          <a:p>
            <a:r>
              <a:rPr lang="en-US" sz="1200" b="1" dirty="0">
                <a:solidFill>
                  <a:srgbClr val="566982"/>
                </a:solidFill>
                <a:latin typeface="Aptos" panose="020B0004020202020204" pitchFamily="34" charset="0"/>
              </a:rPr>
              <a:t>- Move confidential runtime config to AWS Secrets Manager.</a:t>
            </a:r>
          </a:p>
          <a:p>
            <a:r>
              <a:rPr lang="en-US" sz="1200" b="1" dirty="0">
                <a:solidFill>
                  <a:srgbClr val="566982"/>
                </a:solidFill>
                <a:latin typeface="Aptos" panose="020B0004020202020204" pitchFamily="34" charset="0"/>
              </a:rPr>
              <a:t>- Create Kubernetes manifests for EKS with HPA, probes and persistent MQ storage.</a:t>
            </a:r>
          </a:p>
          <a:p>
            <a:r>
              <a:rPr lang="en-US" sz="1200" b="1" dirty="0">
                <a:solidFill>
                  <a:srgbClr val="566982"/>
                </a:solidFill>
                <a:latin typeface="Aptos" panose="020B0004020202020204" pitchFamily="34" charset="0"/>
              </a:rPr>
              <a:t>- Generate architecture diagrams and SRE walkthrough.</a:t>
            </a:r>
          </a:p>
        </p:txBody>
      </p:sp>
      <p:sp>
        <p:nvSpPr>
          <p:cNvPr id="15" name="Rectangle: Rounded Corners 14">
            <a:extLst>
              <a:ext uri="{FF2B5EF4-FFF2-40B4-BE49-F238E27FC236}">
                <a16:creationId xmlns:a16="http://schemas.microsoft.com/office/drawing/2014/main" id="{A3D9304B-B57B-92F7-439F-D0E7571FB7B0}"/>
              </a:ext>
            </a:extLst>
          </p:cNvPr>
          <p:cNvSpPr/>
          <p:nvPr/>
        </p:nvSpPr>
        <p:spPr>
          <a:xfrm>
            <a:off x="4445000" y="2006600"/>
            <a:ext cx="3492500" cy="3810000"/>
          </a:xfrm>
          <a:prstGeom prst="roundRect">
            <a:avLst/>
          </a:prstGeom>
          <a:solidFill>
            <a:srgbClr val="E1F8F4"/>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00998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r>
              <a:rPr lang="en-US" sz="1200" b="1" dirty="0">
                <a:solidFill>
                  <a:srgbClr val="566982"/>
                </a:solidFill>
                <a:latin typeface="Aptos" panose="020B0004020202020204" pitchFamily="34" charset="0"/>
              </a:rPr>
              <a:t>AI-generated sections</a:t>
            </a:r>
          </a:p>
          <a:p>
            <a:r>
              <a:rPr lang="en-US" sz="1200" b="1" dirty="0">
                <a:solidFill>
                  <a:srgbClr val="566982"/>
                </a:solidFill>
                <a:latin typeface="Aptos" panose="020B0004020202020204" pitchFamily="34" charset="0"/>
              </a:rPr>
              <a:t>- Spring Boot project structure</a:t>
            </a:r>
          </a:p>
          <a:p>
            <a:r>
              <a:rPr lang="en-US" sz="1200" b="1" dirty="0">
                <a:solidFill>
                  <a:srgbClr val="566982"/>
                </a:solidFill>
                <a:latin typeface="Aptos" panose="020B0004020202020204" pitchFamily="34" charset="0"/>
              </a:rPr>
              <a:t>- JMS configuration</a:t>
            </a:r>
          </a:p>
          <a:p>
            <a:r>
              <a:rPr lang="en-US" sz="1200" b="1" dirty="0">
                <a:solidFill>
                  <a:srgbClr val="566982"/>
                </a:solidFill>
                <a:latin typeface="Aptos" panose="020B0004020202020204" pitchFamily="34" charset="0"/>
              </a:rPr>
              <a:t>- Reconciliation service skeleton</a:t>
            </a:r>
          </a:p>
          <a:p>
            <a:r>
              <a:rPr lang="en-US" sz="1200" b="1" dirty="0">
                <a:solidFill>
                  <a:srgbClr val="566982"/>
                </a:solidFill>
                <a:latin typeface="Aptos" panose="020B0004020202020204" pitchFamily="34" charset="0"/>
              </a:rPr>
              <a:t>- Kubernetes Deployment/</a:t>
            </a:r>
            <a:r>
              <a:rPr lang="en-US" sz="1200" b="1" dirty="0" err="1">
                <a:solidFill>
                  <a:srgbClr val="566982"/>
                </a:solidFill>
                <a:latin typeface="Aptos" panose="020B0004020202020204" pitchFamily="34" charset="0"/>
              </a:rPr>
              <a:t>StatefulSet</a:t>
            </a:r>
            <a:r>
              <a:rPr lang="en-US" sz="1200" b="1" dirty="0">
                <a:solidFill>
                  <a:srgbClr val="566982"/>
                </a:solidFill>
                <a:latin typeface="Aptos" panose="020B0004020202020204" pitchFamily="34" charset="0"/>
              </a:rPr>
              <a:t> YAML</a:t>
            </a:r>
          </a:p>
          <a:p>
            <a:r>
              <a:rPr lang="en-US" sz="1200" b="1" dirty="0">
                <a:solidFill>
                  <a:srgbClr val="566982"/>
                </a:solidFill>
                <a:latin typeface="Aptos" panose="020B0004020202020204" pitchFamily="34" charset="0"/>
              </a:rPr>
              <a:t>- Prometheus/Grafana manifests</a:t>
            </a:r>
          </a:p>
          <a:p>
            <a:r>
              <a:rPr lang="en-US" sz="1200" b="1" dirty="0">
                <a:solidFill>
                  <a:srgbClr val="566982"/>
                </a:solidFill>
                <a:latin typeface="Aptos" panose="020B0004020202020204" pitchFamily="34" charset="0"/>
              </a:rPr>
              <a:t>- Runbook and architecture documentation</a:t>
            </a:r>
          </a:p>
        </p:txBody>
      </p:sp>
      <p:sp>
        <p:nvSpPr>
          <p:cNvPr id="16" name="Rectangle: Rounded Corners 15">
            <a:extLst>
              <a:ext uri="{FF2B5EF4-FFF2-40B4-BE49-F238E27FC236}">
                <a16:creationId xmlns:a16="http://schemas.microsoft.com/office/drawing/2014/main" id="{07BA3A3C-CBD1-7DBE-A551-49078B5C6B18}"/>
              </a:ext>
            </a:extLst>
          </p:cNvPr>
          <p:cNvSpPr/>
          <p:nvPr/>
        </p:nvSpPr>
        <p:spPr>
          <a:xfrm>
            <a:off x="8318500" y="2006600"/>
            <a:ext cx="3492500" cy="3810000"/>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r>
              <a:rPr lang="en-US" sz="1200" b="1" dirty="0">
                <a:solidFill>
                  <a:srgbClr val="566982"/>
                </a:solidFill>
                <a:latin typeface="Aptos" panose="020B0004020202020204" pitchFamily="34" charset="0"/>
              </a:rPr>
              <a:t>Manual corrections</a:t>
            </a:r>
          </a:p>
          <a:p>
            <a:r>
              <a:rPr lang="en-US" sz="1200" b="1" dirty="0">
                <a:solidFill>
                  <a:srgbClr val="566982"/>
                </a:solidFill>
                <a:latin typeface="Aptos" panose="020B0004020202020204" pitchFamily="34" charset="0"/>
              </a:rPr>
              <a:t>- Removed property-file secrets and used Secrets Manager</a:t>
            </a:r>
          </a:p>
          <a:p>
            <a:r>
              <a:rPr lang="en-US" sz="1200" b="1" dirty="0">
                <a:solidFill>
                  <a:srgbClr val="566982"/>
                </a:solidFill>
                <a:latin typeface="Aptos" panose="020B0004020202020204" pitchFamily="34" charset="0"/>
              </a:rPr>
              <a:t>- Added exception handling and production logging</a:t>
            </a:r>
          </a:p>
          <a:p>
            <a:r>
              <a:rPr lang="en-US" sz="1200" b="1" dirty="0">
                <a:solidFill>
                  <a:srgbClr val="566982"/>
                </a:solidFill>
                <a:latin typeface="Aptos" panose="020B0004020202020204" pitchFamily="34" charset="0"/>
              </a:rPr>
              <a:t>- Fixed MQ OAM authorization and documented MQRC 2035</a:t>
            </a:r>
          </a:p>
          <a:p>
            <a:r>
              <a:rPr lang="en-US" sz="1200" b="1" dirty="0">
                <a:solidFill>
                  <a:srgbClr val="566982"/>
                </a:solidFill>
                <a:latin typeface="Aptos" panose="020B0004020202020204" pitchFamily="34" charset="0"/>
              </a:rPr>
              <a:t>- Added </a:t>
            </a:r>
            <a:r>
              <a:rPr lang="en-US" sz="1200" b="1" dirty="0" err="1">
                <a:solidFill>
                  <a:srgbClr val="566982"/>
                </a:solidFill>
                <a:latin typeface="Aptos" panose="020B0004020202020204" pitchFamily="34" charset="0"/>
              </a:rPr>
              <a:t>JavaTime</a:t>
            </a:r>
            <a:r>
              <a:rPr lang="en-US" sz="1200" b="1" dirty="0">
                <a:solidFill>
                  <a:srgbClr val="566982"/>
                </a:solidFill>
                <a:latin typeface="Aptos" panose="020B0004020202020204" pitchFamily="34" charset="0"/>
              </a:rPr>
              <a:t> </a:t>
            </a:r>
            <a:r>
              <a:rPr lang="en-US" sz="1200" b="1" dirty="0" err="1">
                <a:solidFill>
                  <a:srgbClr val="566982"/>
                </a:solidFill>
                <a:latin typeface="Aptos" panose="020B0004020202020204" pitchFamily="34" charset="0"/>
              </a:rPr>
              <a:t>ObjectMapper</a:t>
            </a:r>
            <a:r>
              <a:rPr lang="en-US" sz="1200" b="1" dirty="0">
                <a:solidFill>
                  <a:srgbClr val="566982"/>
                </a:solidFill>
                <a:latin typeface="Aptos" panose="020B0004020202020204" pitchFamily="34" charset="0"/>
              </a:rPr>
              <a:t> support</a:t>
            </a:r>
          </a:p>
          <a:p>
            <a:r>
              <a:rPr lang="en-US" sz="1200" b="1" dirty="0">
                <a:solidFill>
                  <a:srgbClr val="566982"/>
                </a:solidFill>
                <a:latin typeface="Aptos" panose="020B0004020202020204" pitchFamily="34" charset="0"/>
              </a:rPr>
              <a:t>- Added total processed Grafana panels</a:t>
            </a:r>
          </a:p>
          <a:p>
            <a:r>
              <a:rPr lang="en-US" sz="1200" b="1" dirty="0">
                <a:solidFill>
                  <a:srgbClr val="566982"/>
                </a:solidFill>
                <a:latin typeface="Aptos" panose="020B0004020202020204" pitchFamily="34" charset="0"/>
              </a:rPr>
              <a:t>- Tuned TPS/backpressure for cloud cost and stability</a:t>
            </a:r>
          </a:p>
        </p:txBody>
      </p:sp>
      <p:sp>
        <p:nvSpPr>
          <p:cNvPr id="22" name="codex_template_top_accent">
            <a:extLst>
              <a:ext uri="{FF2B5EF4-FFF2-40B4-BE49-F238E27FC236}">
                <a16:creationId xmlns:a16="http://schemas.microsoft.com/office/drawing/2014/main" id="{28AFCEC1-1A93-9C97-4ECE-6950F7F46E70}"/>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codex_template_footer">
            <a:extLst>
              <a:ext uri="{FF2B5EF4-FFF2-40B4-BE49-F238E27FC236}">
                <a16:creationId xmlns:a16="http://schemas.microsoft.com/office/drawing/2014/main" id="{FE5F0C5A-9D56-BEEE-CFFD-43759FD40CFE}"/>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5" name="codex_template_slide_number">
            <a:extLst>
              <a:ext uri="{FF2B5EF4-FFF2-40B4-BE49-F238E27FC236}">
                <a16:creationId xmlns:a16="http://schemas.microsoft.com/office/drawing/2014/main" id="{0D7691DE-8EAE-EE8D-08AA-69A3CF4FBF00}"/>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17</a:t>
            </a:r>
          </a:p>
        </p:txBody>
      </p:sp>
      <p:cxnSp>
        <p:nvCxnSpPr>
          <p:cNvPr id="26" name="codex_template_title_rule">
            <a:extLst>
              <a:ext uri="{FF2B5EF4-FFF2-40B4-BE49-F238E27FC236}">
                <a16:creationId xmlns:a16="http://schemas.microsoft.com/office/drawing/2014/main" id="{60D1501B-FE3C-B578-6186-CCB26BDEB352}"/>
              </a:ext>
            </a:extLst>
          </p:cNvPr>
          <p:cNvCxnSpPr/>
          <p:nvPr/>
        </p:nvCxnSpPr>
        <p:spPr>
          <a:xfrm>
            <a:off x="812800" y="1251178"/>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73274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E693B45D-C67D-ACEC-F4C9-28937BBD0EF5}"/>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76CA19AD-0E99-9024-68E8-33284BB77E5C}"/>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B3605A7A-6514-3D1E-7D66-8BC7F994F0B8}"/>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25833A-4871-EADE-2C13-E92E4E58AF52}"/>
              </a:ext>
            </a:extLst>
          </p:cNvPr>
          <p:cNvSpPr txBox="1"/>
          <p:nvPr/>
        </p:nvSpPr>
        <p:spPr>
          <a:xfrm>
            <a:off x="847121" y="569962"/>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Architecture Decisions and Trade-Offs</a:t>
            </a:r>
          </a:p>
        </p:txBody>
      </p:sp>
      <p:sp>
        <p:nvSpPr>
          <p:cNvPr id="14" name="Rectangle: Rounded Corners 13">
            <a:extLst>
              <a:ext uri="{FF2B5EF4-FFF2-40B4-BE49-F238E27FC236}">
                <a16:creationId xmlns:a16="http://schemas.microsoft.com/office/drawing/2014/main" id="{2293AF61-09C1-17A2-DA78-DAA0DBABE7A0}"/>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2082CFC5-CA1E-C849-9A56-B075FCB830EE}"/>
              </a:ext>
            </a:extLst>
          </p:cNvPr>
          <p:cNvSpPr txBox="1"/>
          <p:nvPr/>
        </p:nvSpPr>
        <p:spPr>
          <a:xfrm>
            <a:off x="930879" y="2833638"/>
            <a:ext cx="4635500" cy="2308324"/>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IBM MQ selected for durable enterprise messaging and MQ-specific assessment coverage</a:t>
            </a:r>
          </a:p>
          <a:p>
            <a:r>
              <a:rPr lang="en-US" dirty="0">
                <a:solidFill>
                  <a:srgbClr val="566982"/>
                </a:solidFill>
                <a:latin typeface="Aptos" panose="020B0004020202020204" pitchFamily="34" charset="0"/>
              </a:rPr>
              <a:t>- PostgreSQL selected for transactional reconciliation state</a:t>
            </a:r>
          </a:p>
          <a:p>
            <a:r>
              <a:rPr lang="en-US" dirty="0">
                <a:solidFill>
                  <a:srgbClr val="566982"/>
                </a:solidFill>
                <a:latin typeface="Aptos" panose="020B0004020202020204" pitchFamily="34" charset="0"/>
              </a:rPr>
              <a:t>- Three services selected for independent scaling and failure isolation</a:t>
            </a:r>
          </a:p>
          <a:p>
            <a:r>
              <a:rPr lang="en-US" dirty="0">
                <a:solidFill>
                  <a:srgbClr val="566982"/>
                </a:solidFill>
                <a:latin typeface="Aptos" panose="020B0004020202020204" pitchFamily="34" charset="0"/>
              </a:rPr>
              <a:t>- Raw Kubernetes manifests selected for transparent operational assessment</a:t>
            </a:r>
          </a:p>
          <a:p>
            <a:r>
              <a:rPr lang="en-US" dirty="0">
                <a:solidFill>
                  <a:srgbClr val="566982"/>
                </a:solidFill>
                <a:latin typeface="Aptos" panose="020B0004020202020204" pitchFamily="34" charset="0"/>
              </a:rPr>
              <a:t>- In-cluster Prometheus/Grafana selected for portable demo evidence</a:t>
            </a:r>
          </a:p>
        </p:txBody>
      </p:sp>
      <p:sp>
        <p:nvSpPr>
          <p:cNvPr id="16" name="Rectangle: Rounded Corners 15">
            <a:extLst>
              <a:ext uri="{FF2B5EF4-FFF2-40B4-BE49-F238E27FC236}">
                <a16:creationId xmlns:a16="http://schemas.microsoft.com/office/drawing/2014/main" id="{B3667D7C-99A0-F1A1-96B4-B4DC9A5A4DDE}"/>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686A3505-882B-A443-B216-97F5E9870B78}"/>
              </a:ext>
            </a:extLst>
          </p:cNvPr>
          <p:cNvSpPr txBox="1"/>
          <p:nvPr/>
        </p:nvSpPr>
        <p:spPr>
          <a:xfrm>
            <a:off x="6625621" y="2833638"/>
            <a:ext cx="4635500" cy="2308324"/>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Single MQ </a:t>
            </a:r>
            <a:r>
              <a:rPr lang="en-US" dirty="0" err="1">
                <a:solidFill>
                  <a:srgbClr val="566982"/>
                </a:solidFill>
                <a:latin typeface="Aptos" panose="020B0004020202020204" pitchFamily="34" charset="0"/>
              </a:rPr>
              <a:t>StatefulSet</a:t>
            </a:r>
            <a:r>
              <a:rPr lang="en-US" dirty="0">
                <a:solidFill>
                  <a:srgbClr val="566982"/>
                </a:solidFill>
                <a:latin typeface="Aptos" panose="020B0004020202020204" pitchFamily="34" charset="0"/>
              </a:rPr>
              <a:t> is cost-effective for assessment, but production HA should use replicated MQ pattern</a:t>
            </a:r>
          </a:p>
          <a:p>
            <a:r>
              <a:rPr lang="en-US" dirty="0">
                <a:solidFill>
                  <a:srgbClr val="566982"/>
                </a:solidFill>
                <a:latin typeface="Aptos" panose="020B0004020202020204" pitchFamily="34" charset="0"/>
              </a:rPr>
              <a:t>- Dashboard </a:t>
            </a:r>
            <a:r>
              <a:rPr lang="en-US" dirty="0" err="1">
                <a:solidFill>
                  <a:srgbClr val="566982"/>
                </a:solidFill>
                <a:latin typeface="Aptos" panose="020B0004020202020204" pitchFamily="34" charset="0"/>
              </a:rPr>
              <a:t>LoadBalancer</a:t>
            </a:r>
            <a:r>
              <a:rPr lang="en-US" dirty="0">
                <a:solidFill>
                  <a:srgbClr val="566982"/>
                </a:solidFill>
                <a:latin typeface="Aptos" panose="020B0004020202020204" pitchFamily="34" charset="0"/>
              </a:rPr>
              <a:t> is simple for demo, but production should use TLS, SSO and WAF</a:t>
            </a:r>
          </a:p>
          <a:p>
            <a:r>
              <a:rPr lang="en-US" dirty="0">
                <a:solidFill>
                  <a:srgbClr val="566982"/>
                </a:solidFill>
                <a:latin typeface="Aptos" panose="020B0004020202020204" pitchFamily="34" charset="0"/>
              </a:rPr>
              <a:t>- HPA on CPU is simple, but queue-depth based scaling would be stronger for production</a:t>
            </a:r>
          </a:p>
          <a:p>
            <a:r>
              <a:rPr lang="en-US" dirty="0">
                <a:solidFill>
                  <a:srgbClr val="566982"/>
                </a:solidFill>
                <a:latin typeface="Aptos" panose="020B0004020202020204" pitchFamily="34" charset="0"/>
              </a:rPr>
              <a:t>- RDS single instance is cost-conscious; production should use Multi-AZ</a:t>
            </a:r>
          </a:p>
          <a:p>
            <a:r>
              <a:rPr lang="en-US" dirty="0">
                <a:solidFill>
                  <a:srgbClr val="566982"/>
                </a:solidFill>
                <a:latin typeface="Aptos" panose="020B0004020202020204" pitchFamily="34" charset="0"/>
              </a:rPr>
              <a:t>- Raw YAML is explicit; Helm/Terraform improves repeatability at scale</a:t>
            </a:r>
          </a:p>
        </p:txBody>
      </p:sp>
      <p:sp>
        <p:nvSpPr>
          <p:cNvPr id="20" name="TextBox 19">
            <a:extLst>
              <a:ext uri="{FF2B5EF4-FFF2-40B4-BE49-F238E27FC236}">
                <a16:creationId xmlns:a16="http://schemas.microsoft.com/office/drawing/2014/main" id="{517606BD-F839-1D36-F29D-7E65661B0A2E}"/>
              </a:ext>
            </a:extLst>
          </p:cNvPr>
          <p:cNvSpPr txBox="1"/>
          <p:nvPr/>
        </p:nvSpPr>
        <p:spPr>
          <a:xfrm>
            <a:off x="1570973" y="2167076"/>
            <a:ext cx="2720465"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Decisions</a:t>
            </a:r>
          </a:p>
        </p:txBody>
      </p:sp>
      <p:sp>
        <p:nvSpPr>
          <p:cNvPr id="21" name="TextBox 20">
            <a:extLst>
              <a:ext uri="{FF2B5EF4-FFF2-40B4-BE49-F238E27FC236}">
                <a16:creationId xmlns:a16="http://schemas.microsoft.com/office/drawing/2014/main" id="{03129F70-D744-C249-E4EA-F3654AA30BC6}"/>
              </a:ext>
            </a:extLst>
          </p:cNvPr>
          <p:cNvSpPr txBox="1"/>
          <p:nvPr/>
        </p:nvSpPr>
        <p:spPr>
          <a:xfrm>
            <a:off x="7493964" y="2167077"/>
            <a:ext cx="2720465"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Trade-offs</a:t>
            </a:r>
          </a:p>
        </p:txBody>
      </p:sp>
      <p:sp>
        <p:nvSpPr>
          <p:cNvPr id="25" name="codex_template_top_accent">
            <a:extLst>
              <a:ext uri="{FF2B5EF4-FFF2-40B4-BE49-F238E27FC236}">
                <a16:creationId xmlns:a16="http://schemas.microsoft.com/office/drawing/2014/main" id="{FAFFFB45-8BBB-0CFD-2B4A-2675F6F848CB}"/>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CF0CE4CB-7A31-6C50-4E4D-8FFB625F56A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597E4F34-C3C0-78D1-B679-FCDFA9CBF29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18</a:t>
            </a:r>
          </a:p>
        </p:txBody>
      </p:sp>
      <p:cxnSp>
        <p:nvCxnSpPr>
          <p:cNvPr id="29" name="codex_template_title_rule">
            <a:extLst>
              <a:ext uri="{FF2B5EF4-FFF2-40B4-BE49-F238E27FC236}">
                <a16:creationId xmlns:a16="http://schemas.microsoft.com/office/drawing/2014/main" id="{A332A264-2547-7026-ABCF-C09F202A50E7}"/>
              </a:ext>
            </a:extLst>
          </p:cNvPr>
          <p:cNvCxnSpPr/>
          <p:nvPr/>
        </p:nvCxnSpPr>
        <p:spPr>
          <a:xfrm>
            <a:off x="847121" y="1230362"/>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93478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7422CBA9-EAF4-F755-01DF-11A2FF068E4F}"/>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D03D8773-5768-C852-9AE6-B85530DE80E0}"/>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F3FB62CE-0EE1-47CB-54FC-42997F20B053}"/>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FB834A22-70E0-66E0-2048-AF6A29F2FA35}"/>
              </a:ext>
            </a:extLst>
          </p:cNvPr>
          <p:cNvSpPr txBox="1"/>
          <p:nvPr/>
        </p:nvSpPr>
        <p:spPr>
          <a:xfrm>
            <a:off x="812800" y="572339"/>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HA/DR, Capacity and Cost Strategy</a:t>
            </a:r>
          </a:p>
        </p:txBody>
      </p:sp>
      <p:sp>
        <p:nvSpPr>
          <p:cNvPr id="14" name="Rectangle: Rounded Corners 13">
            <a:extLst>
              <a:ext uri="{FF2B5EF4-FFF2-40B4-BE49-F238E27FC236}">
                <a16:creationId xmlns:a16="http://schemas.microsoft.com/office/drawing/2014/main" id="{D01DFEC5-4B39-0A6B-8F86-4646F811649A}"/>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E84E54EF-3D77-C90B-B485-29F75110C0E6}"/>
              </a:ext>
            </a:extLst>
          </p:cNvPr>
          <p:cNvSpPr txBox="1"/>
          <p:nvPr/>
        </p:nvSpPr>
        <p:spPr>
          <a:xfrm>
            <a:off x="825500" y="2683157"/>
            <a:ext cx="4635500" cy="1661993"/>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Run EKS worker nodes across multiple availability zones</a:t>
            </a:r>
          </a:p>
          <a:p>
            <a:r>
              <a:rPr lang="en-US" dirty="0">
                <a:solidFill>
                  <a:srgbClr val="566982"/>
                </a:solidFill>
                <a:latin typeface="Aptos" panose="020B0004020202020204" pitchFamily="34" charset="0"/>
              </a:rPr>
              <a:t>- Use RDS Multi-AZ and automated backups/PITR</a:t>
            </a:r>
          </a:p>
          <a:p>
            <a:r>
              <a:rPr lang="en-US" dirty="0">
                <a:solidFill>
                  <a:srgbClr val="566982"/>
                </a:solidFill>
                <a:latin typeface="Aptos" panose="020B0004020202020204" pitchFamily="34" charset="0"/>
              </a:rPr>
              <a:t>- Adopt replicated IBM MQ / native HA queue manager pattern</a:t>
            </a:r>
          </a:p>
          <a:p>
            <a:r>
              <a:rPr lang="en-US" dirty="0">
                <a:solidFill>
                  <a:srgbClr val="566982"/>
                </a:solidFill>
                <a:latin typeface="Aptos" panose="020B0004020202020204" pitchFamily="34" charset="0"/>
              </a:rPr>
              <a:t>- Version all container images in ECR</a:t>
            </a:r>
          </a:p>
          <a:p>
            <a:r>
              <a:rPr lang="en-US" dirty="0">
                <a:solidFill>
                  <a:srgbClr val="566982"/>
                </a:solidFill>
                <a:latin typeface="Aptos" panose="020B0004020202020204" pitchFamily="34" charset="0"/>
              </a:rPr>
              <a:t>- Recreate infrastructure from manifests and future Terraform</a:t>
            </a:r>
          </a:p>
        </p:txBody>
      </p:sp>
      <p:sp>
        <p:nvSpPr>
          <p:cNvPr id="16" name="Rectangle: Rounded Corners 15">
            <a:extLst>
              <a:ext uri="{FF2B5EF4-FFF2-40B4-BE49-F238E27FC236}">
                <a16:creationId xmlns:a16="http://schemas.microsoft.com/office/drawing/2014/main" id="{C1A2D38B-118D-2CBF-4AE5-9E159ADE4896}"/>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00EFF7B3-226E-FFEC-CC23-FD8B353EABB7}"/>
              </a:ext>
            </a:extLst>
          </p:cNvPr>
          <p:cNvSpPr txBox="1"/>
          <p:nvPr/>
        </p:nvSpPr>
        <p:spPr>
          <a:xfrm>
            <a:off x="7016750" y="2556085"/>
            <a:ext cx="4635500" cy="1661993"/>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Keep consumer capacity greater than producer TPS</a:t>
            </a:r>
          </a:p>
          <a:p>
            <a:r>
              <a:rPr lang="en-US" dirty="0">
                <a:solidFill>
                  <a:srgbClr val="566982"/>
                </a:solidFill>
                <a:latin typeface="Aptos" panose="020B0004020202020204" pitchFamily="34" charset="0"/>
              </a:rPr>
              <a:t>- Monitor RECON.IN queue depth slope and p95 DB latency</a:t>
            </a:r>
          </a:p>
          <a:p>
            <a:r>
              <a:rPr lang="en-US" dirty="0">
                <a:solidFill>
                  <a:srgbClr val="566982"/>
                </a:solidFill>
                <a:latin typeface="Aptos" panose="020B0004020202020204" pitchFamily="34" charset="0"/>
              </a:rPr>
              <a:t>- Tune JMS concurrency, DB pool and RDS instance class</a:t>
            </a:r>
          </a:p>
          <a:p>
            <a:r>
              <a:rPr lang="en-US" dirty="0">
                <a:solidFill>
                  <a:srgbClr val="566982"/>
                </a:solidFill>
                <a:latin typeface="Aptos" panose="020B0004020202020204" pitchFamily="34" charset="0"/>
              </a:rPr>
              <a:t>- Scale workloads to zero when idle for assessment cost control</a:t>
            </a:r>
          </a:p>
          <a:p>
            <a:r>
              <a:rPr lang="en-US" dirty="0">
                <a:solidFill>
                  <a:srgbClr val="566982"/>
                </a:solidFill>
                <a:latin typeface="Aptos" panose="020B0004020202020204" pitchFamily="34" charset="0"/>
              </a:rPr>
              <a:t>- Right-size EKS node groups after observing real metrics</a:t>
            </a:r>
          </a:p>
        </p:txBody>
      </p:sp>
      <p:sp>
        <p:nvSpPr>
          <p:cNvPr id="20" name="TextBox 19">
            <a:extLst>
              <a:ext uri="{FF2B5EF4-FFF2-40B4-BE49-F238E27FC236}">
                <a16:creationId xmlns:a16="http://schemas.microsoft.com/office/drawing/2014/main" id="{003BA310-97DA-C709-0545-1D690229925D}"/>
              </a:ext>
            </a:extLst>
          </p:cNvPr>
          <p:cNvSpPr txBox="1"/>
          <p:nvPr/>
        </p:nvSpPr>
        <p:spPr>
          <a:xfrm>
            <a:off x="7688517" y="2006600"/>
            <a:ext cx="3196734" cy="620683"/>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Capacity and cost management</a:t>
            </a:r>
          </a:p>
          <a:p>
            <a:pPr algn="ctr"/>
            <a:endParaRPr lang="en-US" sz="1600" b="1" dirty="0">
              <a:solidFill>
                <a:srgbClr val="566982"/>
              </a:solidFill>
              <a:latin typeface="Aptos" panose="020B0004020202020204" pitchFamily="34" charset="0"/>
            </a:endParaRPr>
          </a:p>
        </p:txBody>
      </p:sp>
      <p:sp>
        <p:nvSpPr>
          <p:cNvPr id="21" name="TextBox 20">
            <a:extLst>
              <a:ext uri="{FF2B5EF4-FFF2-40B4-BE49-F238E27FC236}">
                <a16:creationId xmlns:a16="http://schemas.microsoft.com/office/drawing/2014/main" id="{64486B62-CE66-9C5A-2B8E-D130D550319B}"/>
              </a:ext>
            </a:extLst>
          </p:cNvPr>
          <p:cNvSpPr txBox="1"/>
          <p:nvPr/>
        </p:nvSpPr>
        <p:spPr>
          <a:xfrm>
            <a:off x="1430083" y="2006600"/>
            <a:ext cx="3005730" cy="620683"/>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Production HA/DR path</a:t>
            </a:r>
          </a:p>
          <a:p>
            <a:pPr algn="ctr"/>
            <a:endParaRPr lang="en-US" sz="1600" b="1" dirty="0">
              <a:solidFill>
                <a:srgbClr val="566982"/>
              </a:solidFill>
              <a:latin typeface="Aptos" panose="020B0004020202020204" pitchFamily="34" charset="0"/>
            </a:endParaRPr>
          </a:p>
        </p:txBody>
      </p:sp>
      <p:sp>
        <p:nvSpPr>
          <p:cNvPr id="25" name="codex_template_top_accent">
            <a:extLst>
              <a:ext uri="{FF2B5EF4-FFF2-40B4-BE49-F238E27FC236}">
                <a16:creationId xmlns:a16="http://schemas.microsoft.com/office/drawing/2014/main" id="{25EB4F5F-77E0-712B-AED2-204E5DC110A5}"/>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79CAF20B-171C-0DE6-0102-98FFDBC5FE27}"/>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987CE57B-BEAF-27DD-3BB5-0C25D98BDE47}"/>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19</a:t>
            </a:r>
          </a:p>
        </p:txBody>
      </p:sp>
      <p:cxnSp>
        <p:nvCxnSpPr>
          <p:cNvPr id="29" name="codex_template_title_rule">
            <a:extLst>
              <a:ext uri="{FF2B5EF4-FFF2-40B4-BE49-F238E27FC236}">
                <a16:creationId xmlns:a16="http://schemas.microsoft.com/office/drawing/2014/main" id="{C05FBD7A-CCE1-5632-E340-B0FDAEF4C7A3}"/>
              </a:ext>
            </a:extLst>
          </p:cNvPr>
          <p:cNvCxnSpPr/>
          <p:nvPr/>
        </p:nvCxnSpPr>
        <p:spPr>
          <a:xfrm>
            <a:off x="812800" y="123273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84357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codex_template_header_band">
            <a:extLst>
              <a:ext uri="{FF2B5EF4-FFF2-40B4-BE49-F238E27FC236}">
                <a16:creationId xmlns:a16="http://schemas.microsoft.com/office/drawing/2014/main" id="{E14A5CDD-AF04-A249-86BA-AD2851DB087B}"/>
              </a:ext>
            </a:extLst>
          </p:cNvPr>
          <p:cNvSpPr/>
          <p:nvPr/>
        </p:nvSpPr>
        <p:spPr>
          <a:xfrm>
            <a:off x="0" y="-313562"/>
            <a:ext cx="12192000" cy="1439925"/>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32E9F3A-D0AD-462A-0333-F9E14CCFA10A}"/>
              </a:ext>
            </a:extLst>
          </p:cNvPr>
          <p:cNvSpPr txBox="1"/>
          <p:nvPr/>
        </p:nvSpPr>
        <p:spPr>
          <a:xfrm>
            <a:off x="812800" y="683225"/>
            <a:ext cx="10414000" cy="944951"/>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Assessment Coverage and Evidence Map</a:t>
            </a:r>
          </a:p>
        </p:txBody>
      </p:sp>
      <p:sp>
        <p:nvSpPr>
          <p:cNvPr id="40" name="codex_template_top_accent">
            <a:extLst>
              <a:ext uri="{FF2B5EF4-FFF2-40B4-BE49-F238E27FC236}">
                <a16:creationId xmlns:a16="http://schemas.microsoft.com/office/drawing/2014/main" id="{5889D0E3-396C-F152-E0CA-287940FB41A2}"/>
              </a:ext>
            </a:extLst>
          </p:cNvPr>
          <p:cNvSpPr/>
          <p:nvPr/>
        </p:nvSpPr>
        <p:spPr>
          <a:xfrm>
            <a:off x="0" y="-34296"/>
            <a:ext cx="12192000" cy="157493"/>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odex_template_footer">
            <a:extLst>
              <a:ext uri="{FF2B5EF4-FFF2-40B4-BE49-F238E27FC236}">
                <a16:creationId xmlns:a16="http://schemas.microsoft.com/office/drawing/2014/main" id="{80CFFB48-F6D6-A892-9F25-7AF31B4825EA}"/>
              </a:ext>
            </a:extLst>
          </p:cNvPr>
          <p:cNvSpPr txBox="1"/>
          <p:nvPr/>
        </p:nvSpPr>
        <p:spPr>
          <a:xfrm>
            <a:off x="355600" y="6470086"/>
            <a:ext cx="10668000" cy="381673"/>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43" name="codex_template_slide_number">
            <a:extLst>
              <a:ext uri="{FF2B5EF4-FFF2-40B4-BE49-F238E27FC236}">
                <a16:creationId xmlns:a16="http://schemas.microsoft.com/office/drawing/2014/main" id="{8A5C7EA4-63EC-8DE8-E227-350973A53EA6}"/>
              </a:ext>
            </a:extLst>
          </p:cNvPr>
          <p:cNvSpPr txBox="1"/>
          <p:nvPr/>
        </p:nvSpPr>
        <p:spPr>
          <a:xfrm>
            <a:off x="11557000" y="6470086"/>
            <a:ext cx="355600" cy="381673"/>
          </a:xfrm>
          <a:prstGeom prst="rect">
            <a:avLst/>
          </a:prstGeom>
          <a:noFill/>
        </p:spPr>
        <p:txBody>
          <a:bodyPr vert="horz" rtlCol="0">
            <a:spAutoFit/>
          </a:bodyPr>
          <a:lstStyle/>
          <a:p>
            <a:r>
              <a:rPr lang="en-US" sz="800">
                <a:solidFill>
                  <a:srgbClr val="566982"/>
                </a:solidFill>
                <a:latin typeface="Aptos" panose="020B0004020202020204" pitchFamily="34" charset="0"/>
              </a:rPr>
              <a:t>20</a:t>
            </a:r>
          </a:p>
        </p:txBody>
      </p:sp>
      <p:cxnSp>
        <p:nvCxnSpPr>
          <p:cNvPr id="44" name="codex_template_title_rule">
            <a:extLst>
              <a:ext uri="{FF2B5EF4-FFF2-40B4-BE49-F238E27FC236}">
                <a16:creationId xmlns:a16="http://schemas.microsoft.com/office/drawing/2014/main" id="{965CAC22-CE44-9804-C44E-190EB0491DEF}"/>
              </a:ext>
            </a:extLst>
          </p:cNvPr>
          <p:cNvCxnSpPr/>
          <p:nvPr/>
        </p:nvCxnSpPr>
        <p:spPr>
          <a:xfrm>
            <a:off x="812800" y="121865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
        <p:nvSpPr>
          <p:cNvPr id="2" name="Rectangle: Rounded Corners 1">
            <a:extLst>
              <a:ext uri="{FF2B5EF4-FFF2-40B4-BE49-F238E27FC236}">
                <a16:creationId xmlns:a16="http://schemas.microsoft.com/office/drawing/2014/main" id="{C3B8EE99-7942-203F-DF37-DEA866207A13}"/>
              </a:ext>
            </a:extLst>
          </p:cNvPr>
          <p:cNvSpPr/>
          <p:nvPr/>
        </p:nvSpPr>
        <p:spPr>
          <a:xfrm>
            <a:off x="2984500" y="1796007"/>
            <a:ext cx="5461000" cy="533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300" b="1" dirty="0">
                <a:solidFill>
                  <a:srgbClr val="566982"/>
                </a:solidFill>
                <a:latin typeface="Aptos" panose="020B0004020202020204" pitchFamily="34" charset="0"/>
              </a:rPr>
              <a:t>Evaluation Area</a:t>
            </a:r>
          </a:p>
        </p:txBody>
      </p:sp>
      <p:sp>
        <p:nvSpPr>
          <p:cNvPr id="3" name="Rectangle: Rounded Corners 2">
            <a:extLst>
              <a:ext uri="{FF2B5EF4-FFF2-40B4-BE49-F238E27FC236}">
                <a16:creationId xmlns:a16="http://schemas.microsoft.com/office/drawing/2014/main" id="{9DC12694-62EA-CE26-ACE6-EBB34009D3C2}"/>
              </a:ext>
            </a:extLst>
          </p:cNvPr>
          <p:cNvSpPr/>
          <p:nvPr/>
        </p:nvSpPr>
        <p:spPr>
          <a:xfrm>
            <a:off x="8445500" y="1796007"/>
            <a:ext cx="3175000" cy="533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300" b="1" dirty="0">
                <a:solidFill>
                  <a:srgbClr val="566982"/>
                </a:solidFill>
                <a:latin typeface="Aptos" panose="020B0004020202020204" pitchFamily="34" charset="0"/>
              </a:rPr>
              <a:t>Where Demonstrated</a:t>
            </a:r>
            <a:r>
              <a:rPr lang="en-US" sz="1300" b="1" dirty="0">
                <a:solidFill>
                  <a:srgbClr val="FFFFFF"/>
                </a:solidFill>
                <a:latin typeface="Aptos" panose="020B0004020202020204" pitchFamily="34" charset="0"/>
              </a:rPr>
              <a:t> Demonstrated</a:t>
            </a:r>
          </a:p>
        </p:txBody>
      </p:sp>
      <p:sp>
        <p:nvSpPr>
          <p:cNvPr id="4" name="Rectangle: Rounded Corners 3">
            <a:extLst>
              <a:ext uri="{FF2B5EF4-FFF2-40B4-BE49-F238E27FC236}">
                <a16:creationId xmlns:a16="http://schemas.microsoft.com/office/drawing/2014/main" id="{F8F68F4C-3245-9D58-8C5E-40726E42F409}"/>
              </a:ext>
            </a:extLst>
          </p:cNvPr>
          <p:cNvSpPr/>
          <p:nvPr/>
        </p:nvSpPr>
        <p:spPr>
          <a:xfrm>
            <a:off x="571500" y="23294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Enterprise-grade design</a:t>
            </a:r>
          </a:p>
        </p:txBody>
      </p:sp>
      <p:sp>
        <p:nvSpPr>
          <p:cNvPr id="5" name="Rectangle: Rounded Corners 4">
            <a:extLst>
              <a:ext uri="{FF2B5EF4-FFF2-40B4-BE49-F238E27FC236}">
                <a16:creationId xmlns:a16="http://schemas.microsoft.com/office/drawing/2014/main" id="{A7C7B4AB-FF52-16FE-3021-17A26FBE1275}"/>
              </a:ext>
            </a:extLst>
          </p:cNvPr>
          <p:cNvSpPr/>
          <p:nvPr/>
        </p:nvSpPr>
        <p:spPr>
          <a:xfrm>
            <a:off x="2984500" y="23294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Separated producer, consumer and dashboard; MQ topology; security; HA/DR; capacity planning</a:t>
            </a:r>
          </a:p>
        </p:txBody>
      </p:sp>
      <p:sp>
        <p:nvSpPr>
          <p:cNvPr id="6" name="Rectangle: Rounded Corners 5">
            <a:extLst>
              <a:ext uri="{FF2B5EF4-FFF2-40B4-BE49-F238E27FC236}">
                <a16:creationId xmlns:a16="http://schemas.microsoft.com/office/drawing/2014/main" id="{21917496-1D4B-109B-C1BC-1EDC188F8953}"/>
              </a:ext>
            </a:extLst>
          </p:cNvPr>
          <p:cNvSpPr/>
          <p:nvPr/>
        </p:nvSpPr>
        <p:spPr>
          <a:xfrm>
            <a:off x="8445500" y="23294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Architecture docs + PPTX</a:t>
            </a:r>
          </a:p>
        </p:txBody>
      </p:sp>
      <p:sp>
        <p:nvSpPr>
          <p:cNvPr id="7" name="Rectangle: Rounded Corners 6">
            <a:extLst>
              <a:ext uri="{FF2B5EF4-FFF2-40B4-BE49-F238E27FC236}">
                <a16:creationId xmlns:a16="http://schemas.microsoft.com/office/drawing/2014/main" id="{C4D93DC9-F3A8-90A1-A27A-D218445C304E}"/>
              </a:ext>
            </a:extLst>
          </p:cNvPr>
          <p:cNvSpPr/>
          <p:nvPr/>
        </p:nvSpPr>
        <p:spPr>
          <a:xfrm>
            <a:off x="571500" y="29898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Hands-on production code</a:t>
            </a:r>
          </a:p>
        </p:txBody>
      </p:sp>
      <p:sp>
        <p:nvSpPr>
          <p:cNvPr id="8" name="Rectangle: Rounded Corners 7">
            <a:extLst>
              <a:ext uri="{FF2B5EF4-FFF2-40B4-BE49-F238E27FC236}">
                <a16:creationId xmlns:a16="http://schemas.microsoft.com/office/drawing/2014/main" id="{47E8CD7F-3EDF-8A8F-2D81-7A54DB40F92A}"/>
              </a:ext>
            </a:extLst>
          </p:cNvPr>
          <p:cNvSpPr/>
          <p:nvPr/>
        </p:nvSpPr>
        <p:spPr>
          <a:xfrm>
            <a:off x="2984500" y="29898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Java 17 Spring Boot apps, tests, exception handling, idempotency, Dockerfiles</a:t>
            </a:r>
          </a:p>
        </p:txBody>
      </p:sp>
      <p:sp>
        <p:nvSpPr>
          <p:cNvPr id="9" name="Rectangle: Rounded Corners 8">
            <a:extLst>
              <a:ext uri="{FF2B5EF4-FFF2-40B4-BE49-F238E27FC236}">
                <a16:creationId xmlns:a16="http://schemas.microsoft.com/office/drawing/2014/main" id="{A1520F6A-0519-FD13-3C97-203016B668D0}"/>
              </a:ext>
            </a:extLst>
          </p:cNvPr>
          <p:cNvSpPr/>
          <p:nvPr/>
        </p:nvSpPr>
        <p:spPr>
          <a:xfrm>
            <a:off x="8445500" y="29898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GitHub repository</a:t>
            </a:r>
          </a:p>
        </p:txBody>
      </p:sp>
      <p:sp>
        <p:nvSpPr>
          <p:cNvPr id="12" name="Rectangle: Rounded Corners 11">
            <a:extLst>
              <a:ext uri="{FF2B5EF4-FFF2-40B4-BE49-F238E27FC236}">
                <a16:creationId xmlns:a16="http://schemas.microsoft.com/office/drawing/2014/main" id="{BAFB93F9-C49A-EDB5-6CCA-CBFAC8E6C4BF}"/>
              </a:ext>
            </a:extLst>
          </p:cNvPr>
          <p:cNvSpPr/>
          <p:nvPr/>
        </p:nvSpPr>
        <p:spPr>
          <a:xfrm>
            <a:off x="571500" y="36502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Messaging and resiliency</a:t>
            </a:r>
          </a:p>
        </p:txBody>
      </p:sp>
      <p:sp>
        <p:nvSpPr>
          <p:cNvPr id="13" name="Rectangle: Rounded Corners 12">
            <a:extLst>
              <a:ext uri="{FF2B5EF4-FFF2-40B4-BE49-F238E27FC236}">
                <a16:creationId xmlns:a16="http://schemas.microsoft.com/office/drawing/2014/main" id="{69A2ECB3-84FF-27C4-2E0D-54FDE73633D4}"/>
              </a:ext>
            </a:extLst>
          </p:cNvPr>
          <p:cNvSpPr/>
          <p:nvPr/>
        </p:nvSpPr>
        <p:spPr>
          <a:xfrm>
            <a:off x="2984500" y="36502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Retry queues, backout, DLQ, replay, MQRC 2035 runbook, poison handling</a:t>
            </a:r>
          </a:p>
        </p:txBody>
      </p:sp>
      <p:sp>
        <p:nvSpPr>
          <p:cNvPr id="35" name="Rectangle: Rounded Corners 34">
            <a:extLst>
              <a:ext uri="{FF2B5EF4-FFF2-40B4-BE49-F238E27FC236}">
                <a16:creationId xmlns:a16="http://schemas.microsoft.com/office/drawing/2014/main" id="{BB136277-0928-73A1-72B6-B1F978B10216}"/>
              </a:ext>
            </a:extLst>
          </p:cNvPr>
          <p:cNvSpPr/>
          <p:nvPr/>
        </p:nvSpPr>
        <p:spPr>
          <a:xfrm>
            <a:off x="8445500" y="36502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Phase 2 docs and code</a:t>
            </a:r>
          </a:p>
        </p:txBody>
      </p:sp>
      <p:sp>
        <p:nvSpPr>
          <p:cNvPr id="36" name="Rectangle: Rounded Corners 35">
            <a:extLst>
              <a:ext uri="{FF2B5EF4-FFF2-40B4-BE49-F238E27FC236}">
                <a16:creationId xmlns:a16="http://schemas.microsoft.com/office/drawing/2014/main" id="{05994BC3-7DA2-A055-BBF6-F1D7B469964D}"/>
              </a:ext>
            </a:extLst>
          </p:cNvPr>
          <p:cNvSpPr/>
          <p:nvPr/>
        </p:nvSpPr>
        <p:spPr>
          <a:xfrm>
            <a:off x="571500" y="43106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Cloud-native deployment</a:t>
            </a:r>
          </a:p>
        </p:txBody>
      </p:sp>
      <p:sp>
        <p:nvSpPr>
          <p:cNvPr id="45" name="Rectangle: Rounded Corners 44">
            <a:extLst>
              <a:ext uri="{FF2B5EF4-FFF2-40B4-BE49-F238E27FC236}">
                <a16:creationId xmlns:a16="http://schemas.microsoft.com/office/drawing/2014/main" id="{3086EF14-2BB8-3742-8558-A4974848B3A2}"/>
              </a:ext>
            </a:extLst>
          </p:cNvPr>
          <p:cNvSpPr/>
          <p:nvPr/>
        </p:nvSpPr>
        <p:spPr>
          <a:xfrm>
            <a:off x="2984500" y="43106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AWS EKS, ECR, RDS PostgreSQL, Secrets Manager, raw Kubernetes manifests</a:t>
            </a:r>
          </a:p>
        </p:txBody>
      </p:sp>
      <p:sp>
        <p:nvSpPr>
          <p:cNvPr id="46" name="Rectangle: Rounded Corners 45">
            <a:extLst>
              <a:ext uri="{FF2B5EF4-FFF2-40B4-BE49-F238E27FC236}">
                <a16:creationId xmlns:a16="http://schemas.microsoft.com/office/drawing/2014/main" id="{39462D3B-4BA1-7CAD-879F-F91B32BA30D2}"/>
              </a:ext>
            </a:extLst>
          </p:cNvPr>
          <p:cNvSpPr/>
          <p:nvPr/>
        </p:nvSpPr>
        <p:spPr>
          <a:xfrm>
            <a:off x="8445500" y="43106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aws-kubernetes folder</a:t>
            </a:r>
          </a:p>
        </p:txBody>
      </p:sp>
      <p:sp>
        <p:nvSpPr>
          <p:cNvPr id="47" name="Rectangle: Rounded Corners 46">
            <a:extLst>
              <a:ext uri="{FF2B5EF4-FFF2-40B4-BE49-F238E27FC236}">
                <a16:creationId xmlns:a16="http://schemas.microsoft.com/office/drawing/2014/main" id="{7CF8DC1F-25F2-826F-181C-4AC868C5D4A7}"/>
              </a:ext>
            </a:extLst>
          </p:cNvPr>
          <p:cNvSpPr/>
          <p:nvPr/>
        </p:nvSpPr>
        <p:spPr>
          <a:xfrm>
            <a:off x="571500" y="49710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SRE and observability</a:t>
            </a:r>
          </a:p>
        </p:txBody>
      </p:sp>
      <p:sp>
        <p:nvSpPr>
          <p:cNvPr id="48" name="Rectangle: Rounded Corners 47">
            <a:extLst>
              <a:ext uri="{FF2B5EF4-FFF2-40B4-BE49-F238E27FC236}">
                <a16:creationId xmlns:a16="http://schemas.microsoft.com/office/drawing/2014/main" id="{6BF9169E-9145-0C90-5B87-AFC1AB3EC194}"/>
              </a:ext>
            </a:extLst>
          </p:cNvPr>
          <p:cNvSpPr/>
          <p:nvPr/>
        </p:nvSpPr>
        <p:spPr>
          <a:xfrm>
            <a:off x="2984500" y="49710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Prometheus, Grafana, Jaeger, OpenTelemetry, queue depth, TPS, alerts</a:t>
            </a:r>
          </a:p>
        </p:txBody>
      </p:sp>
      <p:sp>
        <p:nvSpPr>
          <p:cNvPr id="49" name="Rectangle: Rounded Corners 48">
            <a:extLst>
              <a:ext uri="{FF2B5EF4-FFF2-40B4-BE49-F238E27FC236}">
                <a16:creationId xmlns:a16="http://schemas.microsoft.com/office/drawing/2014/main" id="{F6492EE9-0A16-3E6D-0573-F5CAA67E18F0}"/>
              </a:ext>
            </a:extLst>
          </p:cNvPr>
          <p:cNvSpPr/>
          <p:nvPr/>
        </p:nvSpPr>
        <p:spPr>
          <a:xfrm>
            <a:off x="8445500" y="49710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Phase 6 docs + dashboard</a:t>
            </a:r>
          </a:p>
        </p:txBody>
      </p:sp>
      <p:sp>
        <p:nvSpPr>
          <p:cNvPr id="50" name="Rectangle: Rounded Corners 49">
            <a:extLst>
              <a:ext uri="{FF2B5EF4-FFF2-40B4-BE49-F238E27FC236}">
                <a16:creationId xmlns:a16="http://schemas.microsoft.com/office/drawing/2014/main" id="{3BE42525-9816-00EA-BD7D-939C457633FE}"/>
              </a:ext>
            </a:extLst>
          </p:cNvPr>
          <p:cNvSpPr/>
          <p:nvPr/>
        </p:nvSpPr>
        <p:spPr>
          <a:xfrm>
            <a:off x="571500" y="56314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AI-assisted workflow</a:t>
            </a:r>
          </a:p>
        </p:txBody>
      </p:sp>
      <p:sp>
        <p:nvSpPr>
          <p:cNvPr id="51" name="Rectangle: Rounded Corners 50">
            <a:extLst>
              <a:ext uri="{FF2B5EF4-FFF2-40B4-BE49-F238E27FC236}">
                <a16:creationId xmlns:a16="http://schemas.microsoft.com/office/drawing/2014/main" id="{12C88F02-00BA-17B9-78DC-FCA2917A2D1F}"/>
              </a:ext>
            </a:extLst>
          </p:cNvPr>
          <p:cNvSpPr/>
          <p:nvPr/>
        </p:nvSpPr>
        <p:spPr>
          <a:xfrm>
            <a:off x="2984500" y="56314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Prompting, generated-code validation, troubleshooting corrections, architecture prompt pack</a:t>
            </a:r>
          </a:p>
        </p:txBody>
      </p:sp>
      <p:sp>
        <p:nvSpPr>
          <p:cNvPr id="52" name="Rectangle: Rounded Corners 51">
            <a:extLst>
              <a:ext uri="{FF2B5EF4-FFF2-40B4-BE49-F238E27FC236}">
                <a16:creationId xmlns:a16="http://schemas.microsoft.com/office/drawing/2014/main" id="{4F047E29-A931-20A6-795D-15C9D762C051}"/>
              </a:ext>
            </a:extLst>
          </p:cNvPr>
          <p:cNvSpPr/>
          <p:nvPr/>
        </p:nvSpPr>
        <p:spPr>
          <a:xfrm>
            <a:off x="8445500" y="56314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Phase 5 slides</a:t>
            </a:r>
          </a:p>
        </p:txBody>
      </p:sp>
      <p:sp>
        <p:nvSpPr>
          <p:cNvPr id="53" name="Rectangle: Rounded Corners 52">
            <a:extLst>
              <a:ext uri="{FF2B5EF4-FFF2-40B4-BE49-F238E27FC236}">
                <a16:creationId xmlns:a16="http://schemas.microsoft.com/office/drawing/2014/main" id="{6C6349D9-C850-FC32-0AAC-B58A8A4D2CAA}"/>
              </a:ext>
            </a:extLst>
          </p:cNvPr>
          <p:cNvSpPr/>
          <p:nvPr/>
        </p:nvSpPr>
        <p:spPr>
          <a:xfrm>
            <a:off x="571500" y="1786763"/>
            <a:ext cx="2413000" cy="542644"/>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300" b="1" dirty="0">
                <a:solidFill>
                  <a:srgbClr val="566982"/>
                </a:solidFill>
                <a:latin typeface="Aptos" panose="020B0004020202020204" pitchFamily="34" charset="0"/>
              </a:rPr>
              <a:t>Implemented Evidence</a:t>
            </a:r>
          </a:p>
        </p:txBody>
      </p:sp>
    </p:spTree>
    <p:extLst>
      <p:ext uri="{BB962C8B-B14F-4D97-AF65-F5344CB8AC3E}">
        <p14:creationId xmlns:p14="http://schemas.microsoft.com/office/powerpoint/2010/main" val="3687616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5C63E-72D8-19D7-52C1-1E0BA1046DF9}"/>
            </a:ext>
          </a:extLst>
        </p:cNvPr>
        <p:cNvGrpSpPr/>
        <p:nvPr/>
      </p:nvGrpSpPr>
      <p:grpSpPr>
        <a:xfrm>
          <a:off x="0" y="0"/>
          <a:ext cx="0" cy="0"/>
          <a:chOff x="0" y="0"/>
          <a:chExt cx="0" cy="0"/>
        </a:xfrm>
      </p:grpSpPr>
      <p:sp>
        <p:nvSpPr>
          <p:cNvPr id="38" name="codex_template_header_band">
            <a:extLst>
              <a:ext uri="{FF2B5EF4-FFF2-40B4-BE49-F238E27FC236}">
                <a16:creationId xmlns:a16="http://schemas.microsoft.com/office/drawing/2014/main" id="{D9E2D62E-3817-8430-EFCC-85082EFAFACA}"/>
              </a:ext>
            </a:extLst>
          </p:cNvPr>
          <p:cNvSpPr/>
          <p:nvPr/>
        </p:nvSpPr>
        <p:spPr>
          <a:xfrm>
            <a:off x="0" y="-313562"/>
            <a:ext cx="12192000" cy="1439925"/>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F2796E5-8C7E-B4AF-C4F1-28CC9800AD49}"/>
              </a:ext>
            </a:extLst>
          </p:cNvPr>
          <p:cNvSpPr txBox="1"/>
          <p:nvPr/>
        </p:nvSpPr>
        <p:spPr>
          <a:xfrm>
            <a:off x="812800" y="683225"/>
            <a:ext cx="10414000" cy="944951"/>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Grafana Dashboard</a:t>
            </a:r>
          </a:p>
        </p:txBody>
      </p:sp>
      <p:sp>
        <p:nvSpPr>
          <p:cNvPr id="40" name="codex_template_top_accent">
            <a:extLst>
              <a:ext uri="{FF2B5EF4-FFF2-40B4-BE49-F238E27FC236}">
                <a16:creationId xmlns:a16="http://schemas.microsoft.com/office/drawing/2014/main" id="{3628B112-F0E9-072F-7B3F-9605E118FC85}"/>
              </a:ext>
            </a:extLst>
          </p:cNvPr>
          <p:cNvSpPr/>
          <p:nvPr/>
        </p:nvSpPr>
        <p:spPr>
          <a:xfrm>
            <a:off x="0" y="-34296"/>
            <a:ext cx="12192000" cy="157493"/>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odex_template_footer">
            <a:extLst>
              <a:ext uri="{FF2B5EF4-FFF2-40B4-BE49-F238E27FC236}">
                <a16:creationId xmlns:a16="http://schemas.microsoft.com/office/drawing/2014/main" id="{8A335B5A-8CDB-6A54-F73C-41AB35F5A382}"/>
              </a:ext>
            </a:extLst>
          </p:cNvPr>
          <p:cNvSpPr txBox="1"/>
          <p:nvPr/>
        </p:nvSpPr>
        <p:spPr>
          <a:xfrm>
            <a:off x="355600" y="6470086"/>
            <a:ext cx="10668000" cy="381673"/>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43" name="codex_template_slide_number">
            <a:extLst>
              <a:ext uri="{FF2B5EF4-FFF2-40B4-BE49-F238E27FC236}">
                <a16:creationId xmlns:a16="http://schemas.microsoft.com/office/drawing/2014/main" id="{4BDD8E65-4C07-E4C6-E3B7-B2C57C23E6B8}"/>
              </a:ext>
            </a:extLst>
          </p:cNvPr>
          <p:cNvSpPr txBox="1"/>
          <p:nvPr/>
        </p:nvSpPr>
        <p:spPr>
          <a:xfrm>
            <a:off x="11557000" y="6470086"/>
            <a:ext cx="355600" cy="381673"/>
          </a:xfrm>
          <a:prstGeom prst="rect">
            <a:avLst/>
          </a:prstGeom>
          <a:noFill/>
        </p:spPr>
        <p:txBody>
          <a:bodyPr vert="horz" rtlCol="0">
            <a:spAutoFit/>
          </a:bodyPr>
          <a:lstStyle/>
          <a:p>
            <a:r>
              <a:rPr lang="en-US" sz="800">
                <a:solidFill>
                  <a:srgbClr val="566982"/>
                </a:solidFill>
                <a:latin typeface="Aptos" panose="020B0004020202020204" pitchFamily="34" charset="0"/>
              </a:rPr>
              <a:t>20</a:t>
            </a:r>
          </a:p>
        </p:txBody>
      </p:sp>
      <p:cxnSp>
        <p:nvCxnSpPr>
          <p:cNvPr id="44" name="codex_template_title_rule">
            <a:extLst>
              <a:ext uri="{FF2B5EF4-FFF2-40B4-BE49-F238E27FC236}">
                <a16:creationId xmlns:a16="http://schemas.microsoft.com/office/drawing/2014/main" id="{7DE4E7BD-FE88-5424-9492-FB18636805CD}"/>
              </a:ext>
            </a:extLst>
          </p:cNvPr>
          <p:cNvCxnSpPr/>
          <p:nvPr/>
        </p:nvCxnSpPr>
        <p:spPr>
          <a:xfrm>
            <a:off x="812800" y="121865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6A514BF7-AD42-61C1-928F-22C1D402BB97}"/>
              </a:ext>
            </a:extLst>
          </p:cNvPr>
          <p:cNvPicPr>
            <a:picLocks noChangeAspect="1"/>
          </p:cNvPicPr>
          <p:nvPr/>
        </p:nvPicPr>
        <p:blipFill>
          <a:blip r:embed="rId2"/>
          <a:stretch>
            <a:fillRect/>
          </a:stretch>
        </p:blipFill>
        <p:spPr>
          <a:xfrm>
            <a:off x="812800" y="1310956"/>
            <a:ext cx="10227013" cy="5182969"/>
          </a:xfrm>
          <a:prstGeom prst="rect">
            <a:avLst/>
          </a:prstGeom>
        </p:spPr>
      </p:pic>
    </p:spTree>
    <p:extLst>
      <p:ext uri="{BB962C8B-B14F-4D97-AF65-F5344CB8AC3E}">
        <p14:creationId xmlns:p14="http://schemas.microsoft.com/office/powerpoint/2010/main" val="30463748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5B54E-C617-8EFB-DCA2-069A912E138E}"/>
            </a:ext>
          </a:extLst>
        </p:cNvPr>
        <p:cNvGrpSpPr/>
        <p:nvPr/>
      </p:nvGrpSpPr>
      <p:grpSpPr>
        <a:xfrm>
          <a:off x="0" y="0"/>
          <a:ext cx="0" cy="0"/>
          <a:chOff x="0" y="0"/>
          <a:chExt cx="0" cy="0"/>
        </a:xfrm>
      </p:grpSpPr>
      <p:sp>
        <p:nvSpPr>
          <p:cNvPr id="38" name="codex_template_header_band">
            <a:extLst>
              <a:ext uri="{FF2B5EF4-FFF2-40B4-BE49-F238E27FC236}">
                <a16:creationId xmlns:a16="http://schemas.microsoft.com/office/drawing/2014/main" id="{27A6F93A-D128-0099-1094-01DCE4AB5B7C}"/>
              </a:ext>
            </a:extLst>
          </p:cNvPr>
          <p:cNvSpPr/>
          <p:nvPr/>
        </p:nvSpPr>
        <p:spPr>
          <a:xfrm>
            <a:off x="0" y="-313562"/>
            <a:ext cx="12192000" cy="1439925"/>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35052C0-E9D3-B22C-5F49-354F2E60E1CC}"/>
              </a:ext>
            </a:extLst>
          </p:cNvPr>
          <p:cNvSpPr txBox="1"/>
          <p:nvPr/>
        </p:nvSpPr>
        <p:spPr>
          <a:xfrm>
            <a:off x="812800" y="683225"/>
            <a:ext cx="10414000" cy="944951"/>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Grafana Dashboard</a:t>
            </a:r>
          </a:p>
        </p:txBody>
      </p:sp>
      <p:sp>
        <p:nvSpPr>
          <p:cNvPr id="40" name="codex_template_top_accent">
            <a:extLst>
              <a:ext uri="{FF2B5EF4-FFF2-40B4-BE49-F238E27FC236}">
                <a16:creationId xmlns:a16="http://schemas.microsoft.com/office/drawing/2014/main" id="{7F199F18-44E3-5B18-434C-1614310EFDB3}"/>
              </a:ext>
            </a:extLst>
          </p:cNvPr>
          <p:cNvSpPr/>
          <p:nvPr/>
        </p:nvSpPr>
        <p:spPr>
          <a:xfrm>
            <a:off x="0" y="-34296"/>
            <a:ext cx="12192000" cy="157493"/>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odex_template_footer">
            <a:extLst>
              <a:ext uri="{FF2B5EF4-FFF2-40B4-BE49-F238E27FC236}">
                <a16:creationId xmlns:a16="http://schemas.microsoft.com/office/drawing/2014/main" id="{C41B9876-0BB1-649C-D632-B4D34897C01B}"/>
              </a:ext>
            </a:extLst>
          </p:cNvPr>
          <p:cNvSpPr txBox="1"/>
          <p:nvPr/>
        </p:nvSpPr>
        <p:spPr>
          <a:xfrm>
            <a:off x="355600" y="6470086"/>
            <a:ext cx="10668000" cy="381673"/>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43" name="codex_template_slide_number">
            <a:extLst>
              <a:ext uri="{FF2B5EF4-FFF2-40B4-BE49-F238E27FC236}">
                <a16:creationId xmlns:a16="http://schemas.microsoft.com/office/drawing/2014/main" id="{05EA4441-396F-95A7-567B-F33FCF76514A}"/>
              </a:ext>
            </a:extLst>
          </p:cNvPr>
          <p:cNvSpPr txBox="1"/>
          <p:nvPr/>
        </p:nvSpPr>
        <p:spPr>
          <a:xfrm>
            <a:off x="11557000" y="6470086"/>
            <a:ext cx="355600" cy="381673"/>
          </a:xfrm>
          <a:prstGeom prst="rect">
            <a:avLst/>
          </a:prstGeom>
          <a:noFill/>
        </p:spPr>
        <p:txBody>
          <a:bodyPr vert="horz" rtlCol="0">
            <a:spAutoFit/>
          </a:bodyPr>
          <a:lstStyle/>
          <a:p>
            <a:r>
              <a:rPr lang="en-US" sz="800">
                <a:solidFill>
                  <a:srgbClr val="566982"/>
                </a:solidFill>
                <a:latin typeface="Aptos" panose="020B0004020202020204" pitchFamily="34" charset="0"/>
              </a:rPr>
              <a:t>20</a:t>
            </a:r>
          </a:p>
        </p:txBody>
      </p:sp>
      <p:cxnSp>
        <p:nvCxnSpPr>
          <p:cNvPr id="44" name="codex_template_title_rule">
            <a:extLst>
              <a:ext uri="{FF2B5EF4-FFF2-40B4-BE49-F238E27FC236}">
                <a16:creationId xmlns:a16="http://schemas.microsoft.com/office/drawing/2014/main" id="{419AF9DA-D6D0-9F58-B2C1-7189AEB8395D}"/>
              </a:ext>
            </a:extLst>
          </p:cNvPr>
          <p:cNvCxnSpPr/>
          <p:nvPr/>
        </p:nvCxnSpPr>
        <p:spPr>
          <a:xfrm>
            <a:off x="812800" y="121865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0AB9025C-5FB3-0CB9-56CB-D139A29F2E20}"/>
              </a:ext>
            </a:extLst>
          </p:cNvPr>
          <p:cNvPicPr>
            <a:picLocks noChangeAspect="1"/>
          </p:cNvPicPr>
          <p:nvPr/>
        </p:nvPicPr>
        <p:blipFill>
          <a:blip r:embed="rId2"/>
          <a:stretch>
            <a:fillRect/>
          </a:stretch>
        </p:blipFill>
        <p:spPr>
          <a:xfrm>
            <a:off x="812800" y="1454024"/>
            <a:ext cx="10344826" cy="4923765"/>
          </a:xfrm>
          <a:prstGeom prst="rect">
            <a:avLst/>
          </a:prstGeom>
        </p:spPr>
      </p:pic>
    </p:spTree>
    <p:extLst>
      <p:ext uri="{BB962C8B-B14F-4D97-AF65-F5344CB8AC3E}">
        <p14:creationId xmlns:p14="http://schemas.microsoft.com/office/powerpoint/2010/main" val="26050039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76F9A-95DF-E9C6-6142-9D73C36E6D38}"/>
            </a:ext>
          </a:extLst>
        </p:cNvPr>
        <p:cNvGrpSpPr/>
        <p:nvPr/>
      </p:nvGrpSpPr>
      <p:grpSpPr>
        <a:xfrm>
          <a:off x="0" y="0"/>
          <a:ext cx="0" cy="0"/>
          <a:chOff x="0" y="0"/>
          <a:chExt cx="0" cy="0"/>
        </a:xfrm>
      </p:grpSpPr>
      <p:sp>
        <p:nvSpPr>
          <p:cNvPr id="38" name="codex_template_header_band">
            <a:extLst>
              <a:ext uri="{FF2B5EF4-FFF2-40B4-BE49-F238E27FC236}">
                <a16:creationId xmlns:a16="http://schemas.microsoft.com/office/drawing/2014/main" id="{880FCA98-201C-D882-F916-4C5BF7B6242F}"/>
              </a:ext>
            </a:extLst>
          </p:cNvPr>
          <p:cNvSpPr/>
          <p:nvPr/>
        </p:nvSpPr>
        <p:spPr>
          <a:xfrm>
            <a:off x="0" y="-313562"/>
            <a:ext cx="12192000" cy="1439925"/>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F5CD882-39EC-792D-0D3F-5773C1C41138}"/>
              </a:ext>
            </a:extLst>
          </p:cNvPr>
          <p:cNvSpPr txBox="1"/>
          <p:nvPr/>
        </p:nvSpPr>
        <p:spPr>
          <a:xfrm>
            <a:off x="812800" y="683225"/>
            <a:ext cx="10414000" cy="944951"/>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Dashboard/API</a:t>
            </a:r>
          </a:p>
        </p:txBody>
      </p:sp>
      <p:sp>
        <p:nvSpPr>
          <p:cNvPr id="40" name="codex_template_top_accent">
            <a:extLst>
              <a:ext uri="{FF2B5EF4-FFF2-40B4-BE49-F238E27FC236}">
                <a16:creationId xmlns:a16="http://schemas.microsoft.com/office/drawing/2014/main" id="{FDFFEEEC-928B-2784-8462-3A896548C218}"/>
              </a:ext>
            </a:extLst>
          </p:cNvPr>
          <p:cNvSpPr/>
          <p:nvPr/>
        </p:nvSpPr>
        <p:spPr>
          <a:xfrm>
            <a:off x="0" y="-34296"/>
            <a:ext cx="12192000" cy="157493"/>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odex_template_footer">
            <a:extLst>
              <a:ext uri="{FF2B5EF4-FFF2-40B4-BE49-F238E27FC236}">
                <a16:creationId xmlns:a16="http://schemas.microsoft.com/office/drawing/2014/main" id="{3B6C3E5D-9148-7345-5C83-99AD93BF36AC}"/>
              </a:ext>
            </a:extLst>
          </p:cNvPr>
          <p:cNvSpPr txBox="1"/>
          <p:nvPr/>
        </p:nvSpPr>
        <p:spPr>
          <a:xfrm>
            <a:off x="355600" y="6470086"/>
            <a:ext cx="10668000" cy="381673"/>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43" name="codex_template_slide_number">
            <a:extLst>
              <a:ext uri="{FF2B5EF4-FFF2-40B4-BE49-F238E27FC236}">
                <a16:creationId xmlns:a16="http://schemas.microsoft.com/office/drawing/2014/main" id="{701D4C50-4DCC-0FF5-A52E-FA722327039A}"/>
              </a:ext>
            </a:extLst>
          </p:cNvPr>
          <p:cNvSpPr txBox="1"/>
          <p:nvPr/>
        </p:nvSpPr>
        <p:spPr>
          <a:xfrm>
            <a:off x="11557000" y="6470086"/>
            <a:ext cx="355600" cy="381673"/>
          </a:xfrm>
          <a:prstGeom prst="rect">
            <a:avLst/>
          </a:prstGeom>
          <a:noFill/>
        </p:spPr>
        <p:txBody>
          <a:bodyPr vert="horz" rtlCol="0">
            <a:spAutoFit/>
          </a:bodyPr>
          <a:lstStyle/>
          <a:p>
            <a:r>
              <a:rPr lang="en-US" sz="800">
                <a:solidFill>
                  <a:srgbClr val="566982"/>
                </a:solidFill>
                <a:latin typeface="Aptos" panose="020B0004020202020204" pitchFamily="34" charset="0"/>
              </a:rPr>
              <a:t>20</a:t>
            </a:r>
          </a:p>
        </p:txBody>
      </p:sp>
      <p:cxnSp>
        <p:nvCxnSpPr>
          <p:cNvPr id="44" name="codex_template_title_rule">
            <a:extLst>
              <a:ext uri="{FF2B5EF4-FFF2-40B4-BE49-F238E27FC236}">
                <a16:creationId xmlns:a16="http://schemas.microsoft.com/office/drawing/2014/main" id="{EE9D7359-E215-B149-36A8-2767087F7AD8}"/>
              </a:ext>
            </a:extLst>
          </p:cNvPr>
          <p:cNvCxnSpPr/>
          <p:nvPr/>
        </p:nvCxnSpPr>
        <p:spPr>
          <a:xfrm>
            <a:off x="812800" y="121865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3935A67C-9E31-AAE7-B355-75505D317AA9}"/>
              </a:ext>
            </a:extLst>
          </p:cNvPr>
          <p:cNvPicPr>
            <a:picLocks noChangeAspect="1"/>
          </p:cNvPicPr>
          <p:nvPr/>
        </p:nvPicPr>
        <p:blipFill>
          <a:blip r:embed="rId2"/>
          <a:stretch>
            <a:fillRect/>
          </a:stretch>
        </p:blipFill>
        <p:spPr>
          <a:xfrm>
            <a:off x="812800" y="1310956"/>
            <a:ext cx="10042187" cy="5269284"/>
          </a:xfrm>
          <a:prstGeom prst="rect">
            <a:avLst/>
          </a:prstGeom>
        </p:spPr>
      </p:pic>
    </p:spTree>
    <p:extLst>
      <p:ext uri="{BB962C8B-B14F-4D97-AF65-F5344CB8AC3E}">
        <p14:creationId xmlns:p14="http://schemas.microsoft.com/office/powerpoint/2010/main" val="40163006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90754-9E4D-D920-9352-F223A411A8A4}"/>
            </a:ext>
          </a:extLst>
        </p:cNvPr>
        <p:cNvGrpSpPr/>
        <p:nvPr/>
      </p:nvGrpSpPr>
      <p:grpSpPr>
        <a:xfrm>
          <a:off x="0" y="0"/>
          <a:ext cx="0" cy="0"/>
          <a:chOff x="0" y="0"/>
          <a:chExt cx="0" cy="0"/>
        </a:xfrm>
      </p:grpSpPr>
      <p:sp>
        <p:nvSpPr>
          <p:cNvPr id="38" name="codex_template_header_band">
            <a:extLst>
              <a:ext uri="{FF2B5EF4-FFF2-40B4-BE49-F238E27FC236}">
                <a16:creationId xmlns:a16="http://schemas.microsoft.com/office/drawing/2014/main" id="{8131E4D6-4047-D177-3F55-AAB72B523975}"/>
              </a:ext>
            </a:extLst>
          </p:cNvPr>
          <p:cNvSpPr/>
          <p:nvPr/>
        </p:nvSpPr>
        <p:spPr>
          <a:xfrm>
            <a:off x="0" y="-313562"/>
            <a:ext cx="12192000" cy="1439925"/>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7C4A705-46F0-798D-00E3-CF1F3A4F0FC1}"/>
              </a:ext>
            </a:extLst>
          </p:cNvPr>
          <p:cNvSpPr txBox="1"/>
          <p:nvPr/>
        </p:nvSpPr>
        <p:spPr>
          <a:xfrm>
            <a:off x="812800" y="683225"/>
            <a:ext cx="10414000" cy="944951"/>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Dashboard/API</a:t>
            </a:r>
          </a:p>
        </p:txBody>
      </p:sp>
      <p:sp>
        <p:nvSpPr>
          <p:cNvPr id="40" name="codex_template_top_accent">
            <a:extLst>
              <a:ext uri="{FF2B5EF4-FFF2-40B4-BE49-F238E27FC236}">
                <a16:creationId xmlns:a16="http://schemas.microsoft.com/office/drawing/2014/main" id="{4F77007E-AB4A-899E-36A0-16BFF961C4E3}"/>
              </a:ext>
            </a:extLst>
          </p:cNvPr>
          <p:cNvSpPr/>
          <p:nvPr/>
        </p:nvSpPr>
        <p:spPr>
          <a:xfrm>
            <a:off x="0" y="-34296"/>
            <a:ext cx="12192000" cy="157493"/>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odex_template_footer">
            <a:extLst>
              <a:ext uri="{FF2B5EF4-FFF2-40B4-BE49-F238E27FC236}">
                <a16:creationId xmlns:a16="http://schemas.microsoft.com/office/drawing/2014/main" id="{A3050D2D-7F69-F44A-6106-BCEAB2421B9B}"/>
              </a:ext>
            </a:extLst>
          </p:cNvPr>
          <p:cNvSpPr txBox="1"/>
          <p:nvPr/>
        </p:nvSpPr>
        <p:spPr>
          <a:xfrm>
            <a:off x="355600" y="6470086"/>
            <a:ext cx="10668000" cy="381673"/>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43" name="codex_template_slide_number">
            <a:extLst>
              <a:ext uri="{FF2B5EF4-FFF2-40B4-BE49-F238E27FC236}">
                <a16:creationId xmlns:a16="http://schemas.microsoft.com/office/drawing/2014/main" id="{6E6FD012-4FB7-B548-6CDE-C737EB8F4D67}"/>
              </a:ext>
            </a:extLst>
          </p:cNvPr>
          <p:cNvSpPr txBox="1"/>
          <p:nvPr/>
        </p:nvSpPr>
        <p:spPr>
          <a:xfrm>
            <a:off x="11557000" y="6470086"/>
            <a:ext cx="355600" cy="381673"/>
          </a:xfrm>
          <a:prstGeom prst="rect">
            <a:avLst/>
          </a:prstGeom>
          <a:noFill/>
        </p:spPr>
        <p:txBody>
          <a:bodyPr vert="horz" rtlCol="0">
            <a:spAutoFit/>
          </a:bodyPr>
          <a:lstStyle/>
          <a:p>
            <a:r>
              <a:rPr lang="en-US" sz="800">
                <a:solidFill>
                  <a:srgbClr val="566982"/>
                </a:solidFill>
                <a:latin typeface="Aptos" panose="020B0004020202020204" pitchFamily="34" charset="0"/>
              </a:rPr>
              <a:t>20</a:t>
            </a:r>
          </a:p>
        </p:txBody>
      </p:sp>
      <p:cxnSp>
        <p:nvCxnSpPr>
          <p:cNvPr id="44" name="codex_template_title_rule">
            <a:extLst>
              <a:ext uri="{FF2B5EF4-FFF2-40B4-BE49-F238E27FC236}">
                <a16:creationId xmlns:a16="http://schemas.microsoft.com/office/drawing/2014/main" id="{1851B84D-177E-C5C4-A1C7-D5122BDDFAE7}"/>
              </a:ext>
            </a:extLst>
          </p:cNvPr>
          <p:cNvCxnSpPr/>
          <p:nvPr/>
        </p:nvCxnSpPr>
        <p:spPr>
          <a:xfrm>
            <a:off x="812800" y="121865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C618013-B8FD-B96B-DDCE-EDE7B1369445}"/>
              </a:ext>
            </a:extLst>
          </p:cNvPr>
          <p:cNvPicPr>
            <a:picLocks noChangeAspect="1"/>
          </p:cNvPicPr>
          <p:nvPr/>
        </p:nvPicPr>
        <p:blipFill>
          <a:blip r:embed="rId2"/>
          <a:stretch>
            <a:fillRect/>
          </a:stretch>
        </p:blipFill>
        <p:spPr>
          <a:xfrm>
            <a:off x="812800" y="1394509"/>
            <a:ext cx="11044131" cy="4666061"/>
          </a:xfrm>
          <a:prstGeom prst="rect">
            <a:avLst/>
          </a:prstGeom>
        </p:spPr>
      </p:pic>
    </p:spTree>
    <p:extLst>
      <p:ext uri="{BB962C8B-B14F-4D97-AF65-F5344CB8AC3E}">
        <p14:creationId xmlns:p14="http://schemas.microsoft.com/office/powerpoint/2010/main" val="26921880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dex_template_right_wash">
            <a:extLst>
              <a:ext uri="{FF2B5EF4-FFF2-40B4-BE49-F238E27FC236}">
                <a16:creationId xmlns:a16="http://schemas.microsoft.com/office/drawing/2014/main" id="{BF9EAF00-D59D-E489-EA67-084CB23ED91B}"/>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a16:creationId xmlns:a16="http://schemas.microsoft.com/office/drawing/2014/main" id="{C5A0CFF0-C1ED-D1A6-7C1C-D8C57ABDAEDE}"/>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a16:creationId xmlns:a16="http://schemas.microsoft.com/office/drawing/2014/main" id="{14F4C67B-5D03-CB18-96D5-4B3E2349AF7B}"/>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400" b="1" dirty="0">
                <a:solidFill>
                  <a:schemeClr val="tx2"/>
                </a:solidFill>
              </a:rPr>
              <a:t>Thank You</a:t>
            </a:r>
          </a:p>
        </p:txBody>
      </p:sp>
      <p:sp>
        <p:nvSpPr>
          <p:cNvPr id="6" name="codex_template_top_accent">
            <a:extLst>
              <a:ext uri="{FF2B5EF4-FFF2-40B4-BE49-F238E27FC236}">
                <a16:creationId xmlns:a16="http://schemas.microsoft.com/office/drawing/2014/main" id="{BFA00E01-55F7-9DC9-EA14-3D146244F478}"/>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dex_template_footer">
            <a:extLst>
              <a:ext uri="{FF2B5EF4-FFF2-40B4-BE49-F238E27FC236}">
                <a16:creationId xmlns:a16="http://schemas.microsoft.com/office/drawing/2014/main" id="{3AF62EA3-3B15-9954-7947-F3AA88CB4BB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9" name="codex_template_slide_number">
            <a:extLst>
              <a:ext uri="{FF2B5EF4-FFF2-40B4-BE49-F238E27FC236}">
                <a16:creationId xmlns:a16="http://schemas.microsoft.com/office/drawing/2014/main" id="{D55B698C-FA31-7013-0537-B90B0709C50B}"/>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21</a:t>
            </a:r>
          </a:p>
        </p:txBody>
      </p:sp>
    </p:spTree>
    <p:extLst>
      <p:ext uri="{BB962C8B-B14F-4D97-AF65-F5344CB8AC3E}">
        <p14:creationId xmlns:p14="http://schemas.microsoft.com/office/powerpoint/2010/main" val="279361671"/>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350</TotalTime>
  <Words>2200</Words>
  <Application>Microsoft Office PowerPoint</Application>
  <PresentationFormat>Widescreen</PresentationFormat>
  <Paragraphs>321</Paragraphs>
  <Slides>26</Slides>
  <Notes>5</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26</vt:i4>
      </vt:variant>
    </vt:vector>
  </HeadingPairs>
  <TitlesOfParts>
    <vt:vector size="31" baseType="lpstr">
      <vt:lpstr>Aptos</vt:lpstr>
      <vt:lpstr>Aptos Display</vt:lpstr>
      <vt:lpstr>Arial</vt:lpstr>
      <vt:lpstr>Office 主题​​</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Ravi Kumar Kotapati</dc:creator>
  <cp:lastModifiedBy>Ravi Kumar Kotapati</cp:lastModifiedBy>
  <cp:revision>20</cp:revision>
  <dcterms:modified xsi:type="dcterms:W3CDTF">2026-05-11T04:00:52Z</dcterms:modified>
</cp:coreProperties>
</file>