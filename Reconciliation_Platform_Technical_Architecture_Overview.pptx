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57483763" r:id="rId2"/>
  </p:sldMasterIdLst>
  <p:notesMasterIdLst>
    <p:notesMasterId r:id="rId23"/>
  </p:notesMasterIdLst>
  <p:sldIdLst>
    <p:sldId id="256" r:id="rId3"/>
    <p:sldId id="257" r:id="rId4"/>
    <p:sldId id="258" r:id="rId5"/>
    <p:sldId id="275" r:id="rId6"/>
    <p:sldId id="274" r:id="rId7"/>
    <p:sldId id="276" r:id="rId8"/>
    <p:sldId id="277" r:id="rId9"/>
    <p:sldId id="278" r:id="rId10"/>
    <p:sldId id="279" r:id="rId11"/>
    <p:sldId id="280" r:id="rId12"/>
    <p:sldId id="281" r:id="rId13"/>
    <p:sldId id="282" r:id="rId14"/>
    <p:sldId id="283" r:id="rId15"/>
    <p:sldId id="284" r:id="rId16"/>
    <p:sldId id="287" r:id="rId17"/>
    <p:sldId id="288" r:id="rId18"/>
    <p:sldId id="289" r:id="rId19"/>
    <p:sldId id="290" r:id="rId20"/>
    <p:sldId id="291" r:id="rId21"/>
    <p:sldId id="273" r:id="rId2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8" d="100"/>
          <a:sy n="98" d="100"/>
        </p:scale>
        <p:origin x="1038" y="43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10.05.2026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0A7C0-03D5-31C3-B65E-2D5B6C28F9FD}"/>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D6261A93-B0C4-CC96-696A-A6F3A73E27D0}"/>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D32251EC-8CC5-3525-BF66-6E548F5FADA0}"/>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A783AC56-1B86-5EB4-A03C-4A7349E56A49}"/>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445B4F40-C70D-5E3B-229D-9D94ACE8AC75}"/>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a:extLst>
              <a:ext uri="{FF2B5EF4-FFF2-40B4-BE49-F238E27FC236}">
                <a16:creationId xmlns:a16="http://schemas.microsoft.com/office/drawing/2014/main" id="{C9B2ACDD-CFBE-FB26-DF2A-D4CEF3771939}"/>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B049871D-E6B8-0805-3371-162BEE541916}"/>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9952469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13F339-13B2-D755-E456-25CC4C8591DC}"/>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49631E73-1FE0-7F9D-CAB3-5D24E8C0CB4A}"/>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792BD4A5-C008-6C57-5349-330C6D03D592}"/>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27FFC51B-7F16-DB97-CEDA-164A1CC72781}"/>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0B5FC0FA-DFB6-3058-9821-1F95FBE8B836}"/>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endParaRPr/>
          </a:p>
        </p:txBody>
      </p:sp>
      <p:sp>
        <p:nvSpPr>
          <p:cNvPr id="6" name="Footer Placeholder 5">
            <a:extLst>
              <a:ext uri="{FF2B5EF4-FFF2-40B4-BE49-F238E27FC236}">
                <a16:creationId xmlns:a16="http://schemas.microsoft.com/office/drawing/2014/main" id="{6F653994-5C42-33C1-F319-4814F34B56B2}"/>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5014992A-09B4-94C6-DF58-20877723586B}"/>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192383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818F4-9B51-FFBD-ABEB-4CAF39D70E7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A8A2855-FC7D-718B-9E44-D32447E378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ECAF173-DFF1-1226-FE9F-A989B50BAC60}"/>
              </a:ext>
            </a:extLst>
          </p:cNvPr>
          <p:cNvSpPr>
            <a:spLocks noGrp="1"/>
          </p:cNvSpPr>
          <p:nvPr>
            <p:ph type="dt" sz="half" idx="10"/>
          </p:nvPr>
        </p:nvSpPr>
        <p:spPr/>
        <p:txBody>
          <a:bodyPr/>
          <a:lstStyle/>
          <a:p>
            <a:fld id="{2ED708D7-D1F8-4BDF-A1AA-9E222B9877F5}" type="datetimeFigureOut">
              <a:rPr lang="en-US" smtClean="0"/>
              <a:t>5/10/2026</a:t>
            </a:fld>
            <a:endParaRPr lang="en-US"/>
          </a:p>
        </p:txBody>
      </p:sp>
      <p:sp>
        <p:nvSpPr>
          <p:cNvPr id="5" name="Footer Placeholder 4">
            <a:extLst>
              <a:ext uri="{FF2B5EF4-FFF2-40B4-BE49-F238E27FC236}">
                <a16:creationId xmlns:a16="http://schemas.microsoft.com/office/drawing/2014/main" id="{C47D3379-8875-343E-1244-296777C99D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0531D4-ED5E-BB23-115C-251A8064BA9C}"/>
              </a:ext>
            </a:extLst>
          </p:cNvPr>
          <p:cNvSpPr>
            <a:spLocks noGrp="1"/>
          </p:cNvSpPr>
          <p:nvPr>
            <p:ph type="sldNum" sz="quarter" idx="12"/>
          </p:nvPr>
        </p:nvSpPr>
        <p:spPr/>
        <p:txBody>
          <a:bodyPr/>
          <a:lstStyle/>
          <a:p>
            <a:fld id="{45007506-9034-40B9-B692-E6E58DAEFABA}" type="slidenum">
              <a:rPr lang="en-US" smtClean="0"/>
              <a:t>‹#›</a:t>
            </a:fld>
            <a:endParaRPr lang="en-US"/>
          </a:p>
        </p:txBody>
      </p:sp>
    </p:spTree>
    <p:extLst>
      <p:ext uri="{BB962C8B-B14F-4D97-AF65-F5344CB8AC3E}">
        <p14:creationId xmlns:p14="http://schemas.microsoft.com/office/powerpoint/2010/main" val="399889584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A9EB2-BEB0-07A3-30E2-C505ADB5A6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4D1851D-30AE-A2C0-B827-2C51A97C181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47D021-5DF5-D841-79CB-61AB885E9DB3}"/>
              </a:ext>
            </a:extLst>
          </p:cNvPr>
          <p:cNvSpPr>
            <a:spLocks noGrp="1"/>
          </p:cNvSpPr>
          <p:nvPr>
            <p:ph type="dt" sz="half" idx="10"/>
          </p:nvPr>
        </p:nvSpPr>
        <p:spPr/>
        <p:txBody>
          <a:bodyPr/>
          <a:lstStyle/>
          <a:p>
            <a:fld id="{2ED708D7-D1F8-4BDF-A1AA-9E222B9877F5}" type="datetimeFigureOut">
              <a:rPr lang="en-US" smtClean="0"/>
              <a:t>5/10/2026</a:t>
            </a:fld>
            <a:endParaRPr lang="en-US"/>
          </a:p>
        </p:txBody>
      </p:sp>
      <p:sp>
        <p:nvSpPr>
          <p:cNvPr id="5" name="Footer Placeholder 4">
            <a:extLst>
              <a:ext uri="{FF2B5EF4-FFF2-40B4-BE49-F238E27FC236}">
                <a16:creationId xmlns:a16="http://schemas.microsoft.com/office/drawing/2014/main" id="{F8CD7692-CF96-1895-D1BB-9D465D13EF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58C8D5-4C1A-5F52-2F53-3981CCAFDAE5}"/>
              </a:ext>
            </a:extLst>
          </p:cNvPr>
          <p:cNvSpPr>
            <a:spLocks noGrp="1"/>
          </p:cNvSpPr>
          <p:nvPr>
            <p:ph type="sldNum" sz="quarter" idx="12"/>
          </p:nvPr>
        </p:nvSpPr>
        <p:spPr/>
        <p:txBody>
          <a:bodyPr/>
          <a:lstStyle/>
          <a:p>
            <a:fld id="{45007506-9034-40B9-B692-E6E58DAEFABA}" type="slidenum">
              <a:rPr lang="en-US" smtClean="0"/>
              <a:t>‹#›</a:t>
            </a:fld>
            <a:endParaRPr lang="en-US"/>
          </a:p>
        </p:txBody>
      </p:sp>
    </p:spTree>
    <p:extLst>
      <p:ext uri="{BB962C8B-B14F-4D97-AF65-F5344CB8AC3E}">
        <p14:creationId xmlns:p14="http://schemas.microsoft.com/office/powerpoint/2010/main" val="275416191"/>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328E3-E158-A76A-9929-337ED2D7C2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CF6F2DA-1732-95BB-4AEC-6DB80C9E849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FCF973C-167B-1620-5690-9A94B8069632}"/>
              </a:ext>
            </a:extLst>
          </p:cNvPr>
          <p:cNvSpPr>
            <a:spLocks noGrp="1"/>
          </p:cNvSpPr>
          <p:nvPr>
            <p:ph type="dt" sz="half" idx="10"/>
          </p:nvPr>
        </p:nvSpPr>
        <p:spPr/>
        <p:txBody>
          <a:bodyPr/>
          <a:lstStyle/>
          <a:p>
            <a:fld id="{2ED708D7-D1F8-4BDF-A1AA-9E222B9877F5}" type="datetimeFigureOut">
              <a:rPr lang="en-US" smtClean="0"/>
              <a:t>5/10/2026</a:t>
            </a:fld>
            <a:endParaRPr lang="en-US"/>
          </a:p>
        </p:txBody>
      </p:sp>
      <p:sp>
        <p:nvSpPr>
          <p:cNvPr id="5" name="Footer Placeholder 4">
            <a:extLst>
              <a:ext uri="{FF2B5EF4-FFF2-40B4-BE49-F238E27FC236}">
                <a16:creationId xmlns:a16="http://schemas.microsoft.com/office/drawing/2014/main" id="{03C0A857-5B30-3745-9472-1DDCF4F4CC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24BD30-CF69-4533-27F9-F3A7ECC40CDB}"/>
              </a:ext>
            </a:extLst>
          </p:cNvPr>
          <p:cNvSpPr>
            <a:spLocks noGrp="1"/>
          </p:cNvSpPr>
          <p:nvPr>
            <p:ph type="sldNum" sz="quarter" idx="12"/>
          </p:nvPr>
        </p:nvSpPr>
        <p:spPr/>
        <p:txBody>
          <a:bodyPr/>
          <a:lstStyle/>
          <a:p>
            <a:fld id="{45007506-9034-40B9-B692-E6E58DAEFABA}" type="slidenum">
              <a:rPr lang="en-US" smtClean="0"/>
              <a:t>‹#›</a:t>
            </a:fld>
            <a:endParaRPr lang="en-US"/>
          </a:p>
        </p:txBody>
      </p:sp>
    </p:spTree>
    <p:extLst>
      <p:ext uri="{BB962C8B-B14F-4D97-AF65-F5344CB8AC3E}">
        <p14:creationId xmlns:p14="http://schemas.microsoft.com/office/powerpoint/2010/main" val="349802788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72822-6E39-7332-ED8A-32C8C2D6E9D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D014D2D-2F6E-89EE-562C-0BE6A207995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6946757-07FC-8EC0-DC6A-07176DCD1B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9798474-02C3-0430-D28F-2031AA4EDB22}"/>
              </a:ext>
            </a:extLst>
          </p:cNvPr>
          <p:cNvSpPr>
            <a:spLocks noGrp="1"/>
          </p:cNvSpPr>
          <p:nvPr>
            <p:ph type="dt" sz="half" idx="10"/>
          </p:nvPr>
        </p:nvSpPr>
        <p:spPr/>
        <p:txBody>
          <a:bodyPr/>
          <a:lstStyle/>
          <a:p>
            <a:fld id="{2ED708D7-D1F8-4BDF-A1AA-9E222B9877F5}" type="datetimeFigureOut">
              <a:rPr lang="en-US" smtClean="0"/>
              <a:t>5/10/2026</a:t>
            </a:fld>
            <a:endParaRPr lang="en-US"/>
          </a:p>
        </p:txBody>
      </p:sp>
      <p:sp>
        <p:nvSpPr>
          <p:cNvPr id="6" name="Footer Placeholder 5">
            <a:extLst>
              <a:ext uri="{FF2B5EF4-FFF2-40B4-BE49-F238E27FC236}">
                <a16:creationId xmlns:a16="http://schemas.microsoft.com/office/drawing/2014/main" id="{E64E76DA-AD43-FB85-CBA0-3C7B22DE162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A06568-5A6B-0435-55F2-75DCA502CC5D}"/>
              </a:ext>
            </a:extLst>
          </p:cNvPr>
          <p:cNvSpPr>
            <a:spLocks noGrp="1"/>
          </p:cNvSpPr>
          <p:nvPr>
            <p:ph type="sldNum" sz="quarter" idx="12"/>
          </p:nvPr>
        </p:nvSpPr>
        <p:spPr/>
        <p:txBody>
          <a:bodyPr/>
          <a:lstStyle/>
          <a:p>
            <a:fld id="{45007506-9034-40B9-B692-E6E58DAEFABA}" type="slidenum">
              <a:rPr lang="en-US" smtClean="0"/>
              <a:t>‹#›</a:t>
            </a:fld>
            <a:endParaRPr lang="en-US"/>
          </a:p>
        </p:txBody>
      </p:sp>
    </p:spTree>
    <p:extLst>
      <p:ext uri="{BB962C8B-B14F-4D97-AF65-F5344CB8AC3E}">
        <p14:creationId xmlns:p14="http://schemas.microsoft.com/office/powerpoint/2010/main" val="3075856412"/>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483F3-1750-6F54-D698-8EBC902B5A4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AECFB02-D2D2-59B6-8C6F-C397852D3C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7653394-B80C-CF5E-0537-8ECD83ECFD0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A71936F-6371-7337-9FBF-9501BB4DF6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2DDE7CE-530D-D73B-6AD8-A360F38B434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DD4943B-650B-ECF0-D086-16E61D88189D}"/>
              </a:ext>
            </a:extLst>
          </p:cNvPr>
          <p:cNvSpPr>
            <a:spLocks noGrp="1"/>
          </p:cNvSpPr>
          <p:nvPr>
            <p:ph type="dt" sz="half" idx="10"/>
          </p:nvPr>
        </p:nvSpPr>
        <p:spPr/>
        <p:txBody>
          <a:bodyPr/>
          <a:lstStyle/>
          <a:p>
            <a:fld id="{2ED708D7-D1F8-4BDF-A1AA-9E222B9877F5}" type="datetimeFigureOut">
              <a:rPr lang="en-US" smtClean="0"/>
              <a:t>5/10/2026</a:t>
            </a:fld>
            <a:endParaRPr lang="en-US"/>
          </a:p>
        </p:txBody>
      </p:sp>
      <p:sp>
        <p:nvSpPr>
          <p:cNvPr id="8" name="Footer Placeholder 7">
            <a:extLst>
              <a:ext uri="{FF2B5EF4-FFF2-40B4-BE49-F238E27FC236}">
                <a16:creationId xmlns:a16="http://schemas.microsoft.com/office/drawing/2014/main" id="{9940A044-33AC-F4D0-B2B7-F8D2A90C845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989F98-05A1-25FA-94F4-4708FEF25D87}"/>
              </a:ext>
            </a:extLst>
          </p:cNvPr>
          <p:cNvSpPr>
            <a:spLocks noGrp="1"/>
          </p:cNvSpPr>
          <p:nvPr>
            <p:ph type="sldNum" sz="quarter" idx="12"/>
          </p:nvPr>
        </p:nvSpPr>
        <p:spPr/>
        <p:txBody>
          <a:bodyPr/>
          <a:lstStyle/>
          <a:p>
            <a:fld id="{45007506-9034-40B9-B692-E6E58DAEFABA}" type="slidenum">
              <a:rPr lang="en-US" smtClean="0"/>
              <a:t>‹#›</a:t>
            </a:fld>
            <a:endParaRPr lang="en-US"/>
          </a:p>
        </p:txBody>
      </p:sp>
    </p:spTree>
    <p:extLst>
      <p:ext uri="{BB962C8B-B14F-4D97-AF65-F5344CB8AC3E}">
        <p14:creationId xmlns:p14="http://schemas.microsoft.com/office/powerpoint/2010/main" val="4281285433"/>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0FC89-7470-9C10-93FF-AC5233620A7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A154219-5644-5DD9-D0DF-48B2930E8FD0}"/>
              </a:ext>
            </a:extLst>
          </p:cNvPr>
          <p:cNvSpPr>
            <a:spLocks noGrp="1"/>
          </p:cNvSpPr>
          <p:nvPr>
            <p:ph type="dt" sz="half" idx="10"/>
          </p:nvPr>
        </p:nvSpPr>
        <p:spPr/>
        <p:txBody>
          <a:bodyPr/>
          <a:lstStyle/>
          <a:p>
            <a:fld id="{2ED708D7-D1F8-4BDF-A1AA-9E222B9877F5}" type="datetimeFigureOut">
              <a:rPr lang="en-US" smtClean="0"/>
              <a:t>5/10/2026</a:t>
            </a:fld>
            <a:endParaRPr lang="en-US"/>
          </a:p>
        </p:txBody>
      </p:sp>
      <p:sp>
        <p:nvSpPr>
          <p:cNvPr id="4" name="Footer Placeholder 3">
            <a:extLst>
              <a:ext uri="{FF2B5EF4-FFF2-40B4-BE49-F238E27FC236}">
                <a16:creationId xmlns:a16="http://schemas.microsoft.com/office/drawing/2014/main" id="{DB9555A0-BAB0-C4C9-2B64-5001BC34796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1195E53-F2F6-F2A9-2F5E-DA95F15C47D9}"/>
              </a:ext>
            </a:extLst>
          </p:cNvPr>
          <p:cNvSpPr>
            <a:spLocks noGrp="1"/>
          </p:cNvSpPr>
          <p:nvPr>
            <p:ph type="sldNum" sz="quarter" idx="12"/>
          </p:nvPr>
        </p:nvSpPr>
        <p:spPr/>
        <p:txBody>
          <a:bodyPr/>
          <a:lstStyle/>
          <a:p>
            <a:fld id="{45007506-9034-40B9-B692-E6E58DAEFABA}" type="slidenum">
              <a:rPr lang="en-US" smtClean="0"/>
              <a:t>‹#›</a:t>
            </a:fld>
            <a:endParaRPr lang="en-US"/>
          </a:p>
        </p:txBody>
      </p:sp>
    </p:spTree>
    <p:extLst>
      <p:ext uri="{BB962C8B-B14F-4D97-AF65-F5344CB8AC3E}">
        <p14:creationId xmlns:p14="http://schemas.microsoft.com/office/powerpoint/2010/main" val="595122614"/>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13F09D7-BE28-9439-2689-CE7EEF665D0E}"/>
              </a:ext>
            </a:extLst>
          </p:cNvPr>
          <p:cNvSpPr>
            <a:spLocks noGrp="1"/>
          </p:cNvSpPr>
          <p:nvPr>
            <p:ph type="dt" sz="half" idx="10"/>
          </p:nvPr>
        </p:nvSpPr>
        <p:spPr/>
        <p:txBody>
          <a:bodyPr/>
          <a:lstStyle/>
          <a:p>
            <a:fld id="{161B1412-6706-42F6-851C-DD42227CC309}" type="datetimeFigureOut">
              <a:rPr lang="en-US" smtClean="0"/>
              <a:t>5/10/2026</a:t>
            </a:fld>
            <a:endParaRPr lang="en-US"/>
          </a:p>
        </p:txBody>
      </p:sp>
      <p:sp>
        <p:nvSpPr>
          <p:cNvPr id="3" name="Footer Placeholder 2">
            <a:extLst>
              <a:ext uri="{FF2B5EF4-FFF2-40B4-BE49-F238E27FC236}">
                <a16:creationId xmlns:a16="http://schemas.microsoft.com/office/drawing/2014/main" id="{506AF31A-B4E5-18BB-687D-A71E9F9F0EE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CE08795-5646-5B04-73F4-F219A0AE95BC}"/>
              </a:ext>
            </a:extLst>
          </p:cNvPr>
          <p:cNvSpPr>
            <a:spLocks noGrp="1"/>
          </p:cNvSpPr>
          <p:nvPr>
            <p:ph type="sldNum" sz="quarter" idx="12"/>
          </p:nvPr>
        </p:nvSpPr>
        <p:spPr/>
        <p:txBody>
          <a:bodyPr/>
          <a:lstStyle/>
          <a:p>
            <a:fld id="{33A82F04-C584-4F96-A406-6BD08FCADB53}" type="slidenum">
              <a:rPr lang="en-US" smtClean="0"/>
              <a:t>‹#›</a:t>
            </a:fld>
            <a:endParaRPr lang="en-US"/>
          </a:p>
        </p:txBody>
      </p:sp>
    </p:spTree>
    <p:extLst>
      <p:ext uri="{BB962C8B-B14F-4D97-AF65-F5344CB8AC3E}">
        <p14:creationId xmlns:p14="http://schemas.microsoft.com/office/powerpoint/2010/main" val="11830863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FE81E-AE82-F358-E83C-DC1BAE0E16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DEF983E-1CDB-C924-3D25-7AF79A4C3B5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213232B-9A77-B86B-5101-E50BA8BCCA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53AAD4-0DF1-2C6D-D672-E455EBBBF3E2}"/>
              </a:ext>
            </a:extLst>
          </p:cNvPr>
          <p:cNvSpPr>
            <a:spLocks noGrp="1"/>
          </p:cNvSpPr>
          <p:nvPr>
            <p:ph type="dt" sz="half" idx="10"/>
          </p:nvPr>
        </p:nvSpPr>
        <p:spPr/>
        <p:txBody>
          <a:bodyPr/>
          <a:lstStyle/>
          <a:p>
            <a:fld id="{2ED708D7-D1F8-4BDF-A1AA-9E222B9877F5}" type="datetimeFigureOut">
              <a:rPr lang="en-US" smtClean="0"/>
              <a:t>5/10/2026</a:t>
            </a:fld>
            <a:endParaRPr lang="en-US"/>
          </a:p>
        </p:txBody>
      </p:sp>
      <p:sp>
        <p:nvSpPr>
          <p:cNvPr id="6" name="Footer Placeholder 5">
            <a:extLst>
              <a:ext uri="{FF2B5EF4-FFF2-40B4-BE49-F238E27FC236}">
                <a16:creationId xmlns:a16="http://schemas.microsoft.com/office/drawing/2014/main" id="{39228B2B-8948-B40F-F290-AACF62EA4A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BF3642-3556-2B14-9CB7-672EEB5E835E}"/>
              </a:ext>
            </a:extLst>
          </p:cNvPr>
          <p:cNvSpPr>
            <a:spLocks noGrp="1"/>
          </p:cNvSpPr>
          <p:nvPr>
            <p:ph type="sldNum" sz="quarter" idx="12"/>
          </p:nvPr>
        </p:nvSpPr>
        <p:spPr/>
        <p:txBody>
          <a:bodyPr/>
          <a:lstStyle/>
          <a:p>
            <a:fld id="{45007506-9034-40B9-B692-E6E58DAEFABA}" type="slidenum">
              <a:rPr lang="en-US" smtClean="0"/>
              <a:t>‹#›</a:t>
            </a:fld>
            <a:endParaRPr lang="en-US"/>
          </a:p>
        </p:txBody>
      </p:sp>
    </p:spTree>
    <p:extLst>
      <p:ext uri="{BB962C8B-B14F-4D97-AF65-F5344CB8AC3E}">
        <p14:creationId xmlns:p14="http://schemas.microsoft.com/office/powerpoint/2010/main" val="1021138677"/>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ECD337-C5D7-7B56-00CA-03E3D7068BB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604DA82-548D-D702-21C6-61804AD3A76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1110B6F-9C19-B877-0924-7A779B4902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B506AA-49B5-E61E-00F8-9931BE37E21C}"/>
              </a:ext>
            </a:extLst>
          </p:cNvPr>
          <p:cNvSpPr>
            <a:spLocks noGrp="1"/>
          </p:cNvSpPr>
          <p:nvPr>
            <p:ph type="dt" sz="half" idx="10"/>
          </p:nvPr>
        </p:nvSpPr>
        <p:spPr/>
        <p:txBody>
          <a:bodyPr/>
          <a:lstStyle/>
          <a:p>
            <a:fld id="{2ED708D7-D1F8-4BDF-A1AA-9E222B9877F5}" type="datetimeFigureOut">
              <a:rPr lang="en-US" smtClean="0"/>
              <a:t>5/10/2026</a:t>
            </a:fld>
            <a:endParaRPr lang="en-US"/>
          </a:p>
        </p:txBody>
      </p:sp>
      <p:sp>
        <p:nvSpPr>
          <p:cNvPr id="6" name="Footer Placeholder 5">
            <a:extLst>
              <a:ext uri="{FF2B5EF4-FFF2-40B4-BE49-F238E27FC236}">
                <a16:creationId xmlns:a16="http://schemas.microsoft.com/office/drawing/2014/main" id="{7A7D47B7-D617-E141-875B-DC2DAF31BC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7C28C68-A5D2-8C26-3688-EC16D5B9E60A}"/>
              </a:ext>
            </a:extLst>
          </p:cNvPr>
          <p:cNvSpPr>
            <a:spLocks noGrp="1"/>
          </p:cNvSpPr>
          <p:nvPr>
            <p:ph type="sldNum" sz="quarter" idx="12"/>
          </p:nvPr>
        </p:nvSpPr>
        <p:spPr/>
        <p:txBody>
          <a:bodyPr/>
          <a:lstStyle/>
          <a:p>
            <a:fld id="{45007506-9034-40B9-B692-E6E58DAEFABA}" type="slidenum">
              <a:rPr lang="en-US" smtClean="0"/>
              <a:t>‹#›</a:t>
            </a:fld>
            <a:endParaRPr lang="en-US"/>
          </a:p>
        </p:txBody>
      </p:sp>
    </p:spTree>
    <p:extLst>
      <p:ext uri="{BB962C8B-B14F-4D97-AF65-F5344CB8AC3E}">
        <p14:creationId xmlns:p14="http://schemas.microsoft.com/office/powerpoint/2010/main" val="1484773733"/>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0BE97-1D3A-497E-0876-7DA736DC032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41A7653-2BA7-13B5-4808-92FF45CD2E0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043D35-6853-569D-F80C-7FD66DEC5FA3}"/>
              </a:ext>
            </a:extLst>
          </p:cNvPr>
          <p:cNvSpPr>
            <a:spLocks noGrp="1"/>
          </p:cNvSpPr>
          <p:nvPr>
            <p:ph type="dt" sz="half" idx="10"/>
          </p:nvPr>
        </p:nvSpPr>
        <p:spPr/>
        <p:txBody>
          <a:bodyPr/>
          <a:lstStyle/>
          <a:p>
            <a:fld id="{2ED708D7-D1F8-4BDF-A1AA-9E222B9877F5}" type="datetimeFigureOut">
              <a:rPr lang="en-US" smtClean="0"/>
              <a:t>5/10/2026</a:t>
            </a:fld>
            <a:endParaRPr lang="en-US"/>
          </a:p>
        </p:txBody>
      </p:sp>
      <p:sp>
        <p:nvSpPr>
          <p:cNvPr id="5" name="Footer Placeholder 4">
            <a:extLst>
              <a:ext uri="{FF2B5EF4-FFF2-40B4-BE49-F238E27FC236}">
                <a16:creationId xmlns:a16="http://schemas.microsoft.com/office/drawing/2014/main" id="{AF8B34E2-80D9-AE6E-A568-4DADE84866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C57F41-D1A4-BBCD-87A7-C87CBF3E82A5}"/>
              </a:ext>
            </a:extLst>
          </p:cNvPr>
          <p:cNvSpPr>
            <a:spLocks noGrp="1"/>
          </p:cNvSpPr>
          <p:nvPr>
            <p:ph type="sldNum" sz="quarter" idx="12"/>
          </p:nvPr>
        </p:nvSpPr>
        <p:spPr/>
        <p:txBody>
          <a:bodyPr/>
          <a:lstStyle/>
          <a:p>
            <a:fld id="{45007506-9034-40B9-B692-E6E58DAEFABA}" type="slidenum">
              <a:rPr lang="en-US" smtClean="0"/>
              <a:t>‹#›</a:t>
            </a:fld>
            <a:endParaRPr lang="en-US"/>
          </a:p>
        </p:txBody>
      </p:sp>
    </p:spTree>
    <p:extLst>
      <p:ext uri="{BB962C8B-B14F-4D97-AF65-F5344CB8AC3E}">
        <p14:creationId xmlns:p14="http://schemas.microsoft.com/office/powerpoint/2010/main" val="2605842209"/>
      </p:ext>
    </p:extLst>
  </p:cSld>
  <p:clrMapOvr>
    <a:masterClrMapping/>
  </p:clrMapOvr>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400029-B0CF-A7DF-D128-07CF511773C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CB42B8D-083A-B895-0B91-7E0409C5F01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BFCBCB-0C41-057D-825B-3491DC07949F}"/>
              </a:ext>
            </a:extLst>
          </p:cNvPr>
          <p:cNvSpPr>
            <a:spLocks noGrp="1"/>
          </p:cNvSpPr>
          <p:nvPr>
            <p:ph type="dt" sz="half" idx="10"/>
          </p:nvPr>
        </p:nvSpPr>
        <p:spPr/>
        <p:txBody>
          <a:bodyPr/>
          <a:lstStyle/>
          <a:p>
            <a:fld id="{2ED708D7-D1F8-4BDF-A1AA-9E222B9877F5}" type="datetimeFigureOut">
              <a:rPr lang="en-US" smtClean="0"/>
              <a:t>5/10/2026</a:t>
            </a:fld>
            <a:endParaRPr lang="en-US"/>
          </a:p>
        </p:txBody>
      </p:sp>
      <p:sp>
        <p:nvSpPr>
          <p:cNvPr id="5" name="Footer Placeholder 4">
            <a:extLst>
              <a:ext uri="{FF2B5EF4-FFF2-40B4-BE49-F238E27FC236}">
                <a16:creationId xmlns:a16="http://schemas.microsoft.com/office/drawing/2014/main" id="{8CDD2113-DE03-393E-F1CB-1A30ED0877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D81DCA-070D-5CBE-457A-7FD5C9C19B4B}"/>
              </a:ext>
            </a:extLst>
          </p:cNvPr>
          <p:cNvSpPr>
            <a:spLocks noGrp="1"/>
          </p:cNvSpPr>
          <p:nvPr>
            <p:ph type="sldNum" sz="quarter" idx="12"/>
          </p:nvPr>
        </p:nvSpPr>
        <p:spPr/>
        <p:txBody>
          <a:bodyPr/>
          <a:lstStyle/>
          <a:p>
            <a:fld id="{45007506-9034-40B9-B692-E6E58DAEFABA}" type="slidenum">
              <a:rPr lang="en-US" smtClean="0"/>
              <a:t>‹#›</a:t>
            </a:fld>
            <a:endParaRPr lang="en-US"/>
          </a:p>
        </p:txBody>
      </p:sp>
    </p:spTree>
    <p:extLst>
      <p:ext uri="{BB962C8B-B14F-4D97-AF65-F5344CB8AC3E}">
        <p14:creationId xmlns:p14="http://schemas.microsoft.com/office/powerpoint/2010/main" val="2429097174"/>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41987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AF41A-BD52-894B-7746-6E4620AC675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788D35A-1EB9-E331-02E9-16E0B4DF0DC8}"/>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CBD1A98B-4F20-AE07-FFDC-CCB9605C837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058B99B-560B-8263-D45C-3C443F91F88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altLang="zh-CN" smtClean="0"/>
              <a:t>‹#›</a:t>
            </a:fld>
            <a:endParaRPr lang="zh-CN" altLang="en-US"/>
          </a:p>
        </p:txBody>
      </p:sp>
    </p:spTree>
    <p:extLst>
      <p:ext uri="{BB962C8B-B14F-4D97-AF65-F5344CB8AC3E}">
        <p14:creationId xmlns:p14="http://schemas.microsoft.com/office/powerpoint/2010/main" val="329601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97A6665-0D3E-8478-3B38-CBC61B2869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BAFEE2A-2039-8556-8A8D-C0159FEEC4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5336-6EBA-B1D2-1C2E-A10BE49681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a:p>
        </p:txBody>
      </p:sp>
      <p:sp>
        <p:nvSpPr>
          <p:cNvPr id="5" name="Footer Placeholder 4">
            <a:extLst>
              <a:ext uri="{FF2B5EF4-FFF2-40B4-BE49-F238E27FC236}">
                <a16:creationId xmlns:a16="http://schemas.microsoft.com/office/drawing/2014/main" id="{EBBE2AF9-D3EC-78A1-31B4-40A7BBF41F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CCED5A4-B2C0-DA84-D8EB-717CECF105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marL="0" lvl="0" indent="0" algn="r" rtl="0">
              <a:spcBef>
                <a:spcPts val="0"/>
              </a:spcBef>
              <a:spcAft>
                <a:spcPts val="0"/>
              </a:spcAft>
              <a:buNone/>
            </a:pPr>
            <a:fld id="{00000000-1234-1234-1234-123412341234}" type="slidenum">
              <a:rPr lang="en-US" altLang="zh-CN" smtClean="0"/>
              <a:t>‹#›</a:t>
            </a:fld>
            <a:endParaRPr lang="zh-CN" altLang="en-US"/>
          </a:p>
        </p:txBody>
      </p:sp>
    </p:spTree>
    <p:extLst>
      <p:ext uri="{BB962C8B-B14F-4D97-AF65-F5344CB8AC3E}">
        <p14:creationId xmlns:p14="http://schemas.microsoft.com/office/powerpoint/2010/main" val="479414146"/>
      </p:ext>
    </p:extLst>
  </p:cSld>
  <p:clrMap bg1="lt1" tx1="dk1" bg2="lt2" tx2="dk2" accent1="accent1" accent2="accent2" accent3="accent3" accent4="accent4" accent5="accent5" accent6="accent6" hlink="hlink" folHlink="folHlink"/>
  <p:sldLayoutIdLst>
    <p:sldLayoutId id="2157483764" r:id="rId1"/>
    <p:sldLayoutId id="2157483765" r:id="rId2"/>
    <p:sldLayoutId id="2157483766" r:id="rId3"/>
    <p:sldLayoutId id="2157483767" r:id="rId4"/>
    <p:sldLayoutId id="2157483768" r:id="rId5"/>
    <p:sldLayoutId id="2157483769" r:id="rId6"/>
    <p:sldLayoutId id="2157483770" r:id="rId7"/>
    <p:sldLayoutId id="2157483771" r:id="rId8"/>
    <p:sldLayoutId id="2157483772" r:id="rId9"/>
    <p:sldLayoutId id="2157483773" r:id="rId10"/>
    <p:sldLayoutId id="2157483774" r:id="rId11"/>
    <p:sldLayoutId id="2157483775" r:id="rId12"/>
    <p:sldLayoutId id="2157483776" r:id="rId13"/>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10" name="codex_template_right_wash">
            <a:extLst>
              <a:ext uri="{FF2B5EF4-FFF2-40B4-BE49-F238E27FC236}">
                <a16:creationId xmlns:a16="http://schemas.microsoft.com/office/drawing/2014/main" id="{7C28D89D-9EED-8BD6-B855-EFE08F512EB9}"/>
              </a:ext>
            </a:extLst>
          </p:cNvPr>
          <p:cNvSpPr/>
          <p:nvPr/>
        </p:nvSpPr>
        <p:spPr>
          <a:xfrm>
            <a:off x="9509760" y="0"/>
            <a:ext cx="2682240" cy="6858000"/>
          </a:xfrm>
          <a:prstGeom prst="rect">
            <a:avLst/>
          </a:prstGeom>
          <a:solidFill>
            <a:srgbClr val="E7F6FF">
              <a:alpha val="92000"/>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dex_template_header_band">
            <a:extLst>
              <a:ext uri="{FF2B5EF4-FFF2-40B4-BE49-F238E27FC236}">
                <a16:creationId xmlns:a16="http://schemas.microsoft.com/office/drawing/2014/main" id="{FAED20DF-A56C-6F85-1DDB-5175CC5D3734}"/>
              </a:ext>
            </a:extLst>
          </p:cNvPr>
          <p:cNvSpPr/>
          <p:nvPr/>
        </p:nvSpPr>
        <p:spPr>
          <a:xfrm>
            <a:off x="0" y="0"/>
            <a:ext cx="12192000" cy="812800"/>
          </a:xfrm>
          <a:prstGeom prst="rect">
            <a:avLst/>
          </a:prstGeom>
          <a:solidFill>
            <a:srgbClr val="ECF7FF">
              <a:alpha val="95000"/>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dex_template_background">
            <a:extLst>
              <a:ext uri="{FF2B5EF4-FFF2-40B4-BE49-F238E27FC236}">
                <a16:creationId xmlns:a16="http://schemas.microsoft.com/office/drawing/2014/main" id="{9010C6DA-44AD-C6A9-652E-FED666D7DA23}"/>
              </a:ext>
            </a:extLst>
          </p:cNvPr>
          <p:cNvSpPr/>
          <p:nvPr/>
        </p:nvSpPr>
        <p:spPr>
          <a:xfrm>
            <a:off x="0" y="0"/>
            <a:ext cx="12192000" cy="6858000"/>
          </a:xfrm>
          <a:prstGeom prst="rect">
            <a:avLst/>
          </a:prstGeom>
          <a:solidFill>
            <a:srgbClr val="F8FBF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codex_template_top_accent">
            <a:extLst>
              <a:ext uri="{FF2B5EF4-FFF2-40B4-BE49-F238E27FC236}">
                <a16:creationId xmlns:a16="http://schemas.microsoft.com/office/drawing/2014/main" id="{C55C2CAD-DF7A-E085-C2C0-7709C6505C6A}"/>
              </a:ext>
            </a:extLst>
          </p:cNvPr>
          <p:cNvSpPr/>
          <p:nvPr/>
        </p:nvSpPr>
        <p:spPr>
          <a:xfrm>
            <a:off x="0" y="0"/>
            <a:ext cx="12192000" cy="88900"/>
          </a:xfrm>
          <a:prstGeom prst="rect">
            <a:avLst/>
          </a:prstGeom>
          <a:solidFill>
            <a:srgbClr val="00A9E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codex_template_header_line">
            <a:extLst>
              <a:ext uri="{FF2B5EF4-FFF2-40B4-BE49-F238E27FC236}">
                <a16:creationId xmlns:a16="http://schemas.microsoft.com/office/drawing/2014/main" id="{6B552112-F23E-8EF5-A746-83A124FEF3B6}"/>
              </a:ext>
            </a:extLst>
          </p:cNvPr>
          <p:cNvCxnSpPr/>
          <p:nvPr/>
        </p:nvCxnSpPr>
        <p:spPr>
          <a:xfrm>
            <a:off x="0" y="812800"/>
            <a:ext cx="12192000" cy="0"/>
          </a:xfrm>
          <a:prstGeom prst="line">
            <a:avLst/>
          </a:prstGeom>
          <a:ln w="12700">
            <a:solidFill>
              <a:srgbClr val="D6E8F6"/>
            </a:solidFill>
          </a:ln>
        </p:spPr>
        <p:style>
          <a:lnRef idx="1">
            <a:schemeClr val="accent1"/>
          </a:lnRef>
          <a:fillRef idx="0">
            <a:schemeClr val="accent1"/>
          </a:fillRef>
          <a:effectRef idx="0">
            <a:schemeClr val="accent1"/>
          </a:effectRef>
          <a:fontRef idx="minor">
            <a:schemeClr val="tx1"/>
          </a:fontRef>
        </p:style>
      </p:cxnSp>
      <p:sp>
        <p:nvSpPr>
          <p:cNvPr id="13" name="codex_template_footer">
            <a:extLst>
              <a:ext uri="{FF2B5EF4-FFF2-40B4-BE49-F238E27FC236}">
                <a16:creationId xmlns:a16="http://schemas.microsoft.com/office/drawing/2014/main" id="{F568119D-C3E2-0328-0DFA-C4E086771A9C}"/>
              </a:ext>
            </a:extLst>
          </p:cNvPr>
          <p:cNvSpPr txBox="1"/>
          <p:nvPr/>
        </p:nvSpPr>
        <p:spPr>
          <a:xfrm>
            <a:off x="355600" y="6553200"/>
            <a:ext cx="10668000" cy="215444"/>
          </a:xfrm>
          <a:prstGeom prst="rect">
            <a:avLst/>
          </a:prstGeom>
          <a:noFill/>
        </p:spPr>
        <p:txBody>
          <a:bodyPr vert="horz" rtlCol="0">
            <a:spAutoFit/>
          </a:bodyPr>
          <a:lstStyle/>
          <a:p>
            <a:r>
              <a:rPr lang="en-US" sz="800">
                <a:solidFill>
                  <a:srgbClr val="566982"/>
                </a:solidFill>
                <a:latin typeface="Aptos" panose="020B0004020202020204" pitchFamily="34" charset="0"/>
              </a:rPr>
              <a:t>Enterprise Reconciliation Platform | Principal Engineer / Architect Assessment</a:t>
            </a:r>
          </a:p>
        </p:txBody>
      </p:sp>
      <p:sp>
        <p:nvSpPr>
          <p:cNvPr id="14" name="codex_template_slide_number">
            <a:extLst>
              <a:ext uri="{FF2B5EF4-FFF2-40B4-BE49-F238E27FC236}">
                <a16:creationId xmlns:a16="http://schemas.microsoft.com/office/drawing/2014/main" id="{53053DDA-87AB-D745-787D-158B10953BAE}"/>
              </a:ext>
            </a:extLst>
          </p:cNvPr>
          <p:cNvSpPr txBox="1"/>
          <p:nvPr/>
        </p:nvSpPr>
        <p:spPr>
          <a:xfrm>
            <a:off x="11557000" y="6553200"/>
            <a:ext cx="355600" cy="215444"/>
          </a:xfrm>
          <a:prstGeom prst="rect">
            <a:avLst/>
          </a:prstGeom>
          <a:noFill/>
        </p:spPr>
        <p:txBody>
          <a:bodyPr vert="horz" rtlCol="0">
            <a:spAutoFit/>
          </a:bodyPr>
          <a:lstStyle/>
          <a:p>
            <a:r>
              <a:rPr lang="en-US" sz="800">
                <a:solidFill>
                  <a:srgbClr val="566982"/>
                </a:solidFill>
                <a:latin typeface="Aptos" panose="020B0004020202020204" pitchFamily="34" charset="0"/>
              </a:rPr>
              <a:t>1</a:t>
            </a:r>
          </a:p>
        </p:txBody>
      </p:sp>
      <p:sp>
        <p:nvSpPr>
          <p:cNvPr id="15" name="TextBox 14">
            <a:extLst>
              <a:ext uri="{FF2B5EF4-FFF2-40B4-BE49-F238E27FC236}">
                <a16:creationId xmlns:a16="http://schemas.microsoft.com/office/drawing/2014/main" id="{11DD7235-11B4-CA34-1C7F-3AE4DABC867A}"/>
              </a:ext>
            </a:extLst>
          </p:cNvPr>
          <p:cNvSpPr txBox="1"/>
          <p:nvPr/>
        </p:nvSpPr>
        <p:spPr>
          <a:xfrm>
            <a:off x="889000" y="1168400"/>
            <a:ext cx="4572000" cy="323165"/>
          </a:xfrm>
          <a:prstGeom prst="rect">
            <a:avLst/>
          </a:prstGeom>
          <a:noFill/>
        </p:spPr>
        <p:txBody>
          <a:bodyPr vert="horz" rtlCol="0">
            <a:spAutoFit/>
          </a:bodyPr>
          <a:lstStyle/>
          <a:p>
            <a:r>
              <a:rPr lang="en-US" sz="1500" b="1">
                <a:solidFill>
                  <a:srgbClr val="00A9E0"/>
                </a:solidFill>
                <a:latin typeface="Aptos" panose="020B0004020202020204" pitchFamily="34" charset="0"/>
              </a:rPr>
              <a:t>TECHNICAL ASSESSMENT</a:t>
            </a:r>
          </a:p>
        </p:txBody>
      </p:sp>
      <p:cxnSp>
        <p:nvCxnSpPr>
          <p:cNvPr id="16" name="Straight Connector 15">
            <a:extLst>
              <a:ext uri="{FF2B5EF4-FFF2-40B4-BE49-F238E27FC236}">
                <a16:creationId xmlns:a16="http://schemas.microsoft.com/office/drawing/2014/main" id="{D5023623-F96C-984D-42A6-74A34E2FEE9F}"/>
              </a:ext>
            </a:extLst>
          </p:cNvPr>
          <p:cNvCxnSpPr/>
          <p:nvPr/>
        </p:nvCxnSpPr>
        <p:spPr>
          <a:xfrm>
            <a:off x="889000" y="1625600"/>
            <a:ext cx="3302000" cy="0"/>
          </a:xfrm>
          <a:prstGeom prst="line">
            <a:avLst/>
          </a:prstGeom>
          <a:ln w="25400">
            <a:solidFill>
              <a:srgbClr val="00A9E0"/>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7702080C-47D2-4597-AD69-74AAF9EE6E43}"/>
              </a:ext>
            </a:extLst>
          </p:cNvPr>
          <p:cNvSpPr txBox="1"/>
          <p:nvPr/>
        </p:nvSpPr>
        <p:spPr>
          <a:xfrm>
            <a:off x="889000" y="2222500"/>
            <a:ext cx="9017000" cy="1292662"/>
          </a:xfrm>
          <a:prstGeom prst="rect">
            <a:avLst/>
          </a:prstGeom>
          <a:noFill/>
        </p:spPr>
        <p:txBody>
          <a:bodyPr vert="horz" rtlCol="0">
            <a:spAutoFit/>
          </a:bodyPr>
          <a:lstStyle/>
          <a:p>
            <a:r>
              <a:rPr lang="en-US" sz="3900" b="1">
                <a:solidFill>
                  <a:srgbClr val="142D4E"/>
                </a:solidFill>
                <a:latin typeface="Aptos" panose="020B0004020202020204" pitchFamily="34" charset="0"/>
              </a:rPr>
              <a:t>Enterprise-Grade</a:t>
            </a:r>
          </a:p>
          <a:p>
            <a:r>
              <a:rPr lang="en-US" sz="3900" b="1">
                <a:solidFill>
                  <a:srgbClr val="142D4E"/>
                </a:solidFill>
                <a:latin typeface="Aptos" panose="020B0004020202020204" pitchFamily="34" charset="0"/>
              </a:rPr>
              <a:t>Reconciliation Platform</a:t>
            </a:r>
          </a:p>
        </p:txBody>
      </p:sp>
      <p:sp>
        <p:nvSpPr>
          <p:cNvPr id="18" name="TextBox 17">
            <a:extLst>
              <a:ext uri="{FF2B5EF4-FFF2-40B4-BE49-F238E27FC236}">
                <a16:creationId xmlns:a16="http://schemas.microsoft.com/office/drawing/2014/main" id="{674F6952-ECC0-7627-48AB-8A57BC37823E}"/>
              </a:ext>
            </a:extLst>
          </p:cNvPr>
          <p:cNvSpPr txBox="1"/>
          <p:nvPr/>
        </p:nvSpPr>
        <p:spPr>
          <a:xfrm>
            <a:off x="939800" y="4064000"/>
            <a:ext cx="9652000" cy="646331"/>
          </a:xfrm>
          <a:prstGeom prst="rect">
            <a:avLst/>
          </a:prstGeom>
          <a:noFill/>
        </p:spPr>
        <p:txBody>
          <a:bodyPr vert="horz" rtlCol="0">
            <a:spAutoFit/>
          </a:bodyPr>
          <a:lstStyle/>
          <a:p>
            <a:r>
              <a:rPr lang="en-US" sz="1800">
                <a:solidFill>
                  <a:srgbClr val="566982"/>
                </a:solidFill>
                <a:latin typeface="Aptos" panose="020B0004020202020204" pitchFamily="34" charset="0"/>
              </a:rPr>
              <a:t>Principal Engineer / Architect assessment demonstrating production Java engineering, IBM MQ messaging, Kubernetes deployment, resiliency patterns and observability.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5" name="codex_template_right_wash">
            <a:extLst>
              <a:ext uri="{FF2B5EF4-FFF2-40B4-BE49-F238E27FC236}">
                <a16:creationId xmlns:a16="http://schemas.microsoft.com/office/drawing/2014/main" id="{2567CD54-3FD7-A610-21FB-E5939BAB88B1}"/>
              </a:ext>
            </a:extLst>
          </p:cNvPr>
          <p:cNvSpPr/>
          <p:nvPr/>
        </p:nvSpPr>
        <p:spPr>
          <a:xfrm>
            <a:off x="9509760" y="0"/>
            <a:ext cx="2682240" cy="6858000"/>
          </a:xfrm>
          <a:prstGeom prst="rect">
            <a:avLst/>
          </a:prstGeom>
          <a:solidFill>
            <a:srgbClr val="E7F6FF">
              <a:alpha val="92000"/>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dex_template_header_band">
            <a:extLst>
              <a:ext uri="{FF2B5EF4-FFF2-40B4-BE49-F238E27FC236}">
                <a16:creationId xmlns:a16="http://schemas.microsoft.com/office/drawing/2014/main" id="{504D905E-72F6-0C0D-66F2-726C9D8E5D9F}"/>
              </a:ext>
            </a:extLst>
          </p:cNvPr>
          <p:cNvSpPr/>
          <p:nvPr/>
        </p:nvSpPr>
        <p:spPr>
          <a:xfrm>
            <a:off x="0" y="0"/>
            <a:ext cx="12192000" cy="812800"/>
          </a:xfrm>
          <a:prstGeom prst="rect">
            <a:avLst/>
          </a:prstGeom>
          <a:solidFill>
            <a:srgbClr val="ECF7FF">
              <a:alpha val="95000"/>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dex_template_background">
            <a:extLst>
              <a:ext uri="{FF2B5EF4-FFF2-40B4-BE49-F238E27FC236}">
                <a16:creationId xmlns:a16="http://schemas.microsoft.com/office/drawing/2014/main" id="{704A47A4-594D-CCF7-6E24-A8C78B1B6891}"/>
              </a:ext>
            </a:extLst>
          </p:cNvPr>
          <p:cNvSpPr/>
          <p:nvPr/>
        </p:nvSpPr>
        <p:spPr>
          <a:xfrm>
            <a:off x="0" y="0"/>
            <a:ext cx="12192000" cy="6858000"/>
          </a:xfrm>
          <a:prstGeom prst="rect">
            <a:avLst/>
          </a:prstGeom>
          <a:solidFill>
            <a:srgbClr val="F8FBF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AutoShape 2"/>
          <p:cNvSpPr/>
          <p:nvPr/>
        </p:nvSpPr>
        <p:spPr>
          <a:xfrm>
            <a:off x="789484" y="495235"/>
            <a:ext cx="10414000" cy="533400"/>
          </a:xfrm>
          <a:prstGeom prst="rect">
            <a:avLst/>
          </a:prstGeom>
          <a:solidFill>
            <a:scrgbClr r="0" g="0" b="0">
              <a:alpha val="0"/>
            </a:scrgbClr>
          </a:solidFill>
          <a:ln w="15875" cap="flat" cmpd="sng">
            <a:noFill/>
            <a:prstDash val="solid"/>
            <a:round/>
          </a:ln>
          <a:effectLst/>
        </p:spPr>
        <p:txBody>
          <a:bodyPr vert="horz" wrap="square" lIns="0" tIns="0" rIns="0" bIns="0" rtlCol="0" anchor="ctr" anchorCtr="0">
            <a:noAutofit/>
          </a:bodyPr>
          <a:lstStyle/>
          <a:p>
            <a:pPr indent="0" algn="l">
              <a:lnSpc>
                <a:spcPct val="125000"/>
              </a:lnSpc>
              <a:defRPr/>
            </a:pPr>
            <a:r>
              <a:rPr lang="en-US" sz="2800" b="1" i="0" u="none" strike="noStrike" dirty="0">
                <a:solidFill>
                  <a:srgbClr val="142D4E"/>
                </a:solidFill>
                <a:latin typeface="Aptos Display" panose="020B0004020202020204" pitchFamily="34" charset="0"/>
                <a:ea typeface="Montserrat"/>
                <a:cs typeface="Montserrat"/>
                <a:sym typeface="Montserrat"/>
              </a:rPr>
              <a:t>Executive Summary</a:t>
            </a:r>
            <a:endParaRPr lang="en-US" sz="2800" b="1" dirty="0">
              <a:solidFill>
                <a:srgbClr val="142D4E"/>
              </a:solidFill>
              <a:latin typeface="Aptos Display" panose="020B0004020202020204" pitchFamily="34" charset="0"/>
            </a:endParaRPr>
          </a:p>
        </p:txBody>
      </p:sp>
      <p:sp>
        <p:nvSpPr>
          <p:cNvPr id="8" name="Subtitle">
            <a:extLst>
              <a:ext uri="{FF2B5EF4-FFF2-40B4-BE49-F238E27FC236}">
                <a16:creationId xmlns:a16="http://schemas.microsoft.com/office/drawing/2014/main" id="{D3E4C10D-835C-D400-CF8A-27776596A568}"/>
              </a:ext>
            </a:extLst>
          </p:cNvPr>
          <p:cNvSpPr/>
          <p:nvPr/>
        </p:nvSpPr>
        <p:spPr>
          <a:xfrm>
            <a:off x="693906" y="1542236"/>
            <a:ext cx="10972800" cy="548640"/>
          </a:xfrm>
          <a:prstGeom prst="rect">
            <a:avLst/>
          </a:prstGeom>
          <a:solidFill>
            <a:scrgbClr r="0" g="0" b="0">
              <a:alpha val="0"/>
            </a:scrgbClr>
          </a:solidFill>
          <a:ln w="15875">
            <a:noFill/>
          </a:ln>
          <a:effectLst/>
          <a:extLst>
            <a:ext uri="{AF507438-7753-43E0-B8FC-AC1667EBCBE1}">
              <a14:hiddenEffects xmlns:a14="http://schemas.microsoft.com/office/drawing/2010/main">
                <a:effectLst>
                  <a:outerShdw blurRad="63500" dist="28398" dir="3806086" rotWithShape="0">
                    <a:srgbClr val="B9CCE0">
                      <a:alpha val="22000"/>
                    </a:srgbClr>
                  </a:outerShdw>
                </a:effectLst>
              </a14:hiddenEffects>
            </a:ext>
          </a:extLst>
        </p:spPr>
        <p:txBody>
          <a:bodyPr wrap="square" lIns="101600" tIns="63500" rIns="101600" bIns="63500">
            <a:normAutofit/>
          </a:bodyPr>
          <a:lstStyle/>
          <a:p>
            <a:r>
              <a:rPr lang="en-US" sz="1350" dirty="0">
                <a:solidFill>
                  <a:srgbClr val="566982"/>
                </a:solidFill>
                <a:latin typeface="Aptos" panose="020B0004020202020204" pitchFamily="34" charset="0"/>
              </a:rPr>
              <a:t>This assessment defines the target architecture, integration flow, infrastructure model, and operational controls required to build a production-grade reconciliation platform.</a:t>
            </a:r>
          </a:p>
        </p:txBody>
      </p:sp>
      <p:pic>
        <p:nvPicPr>
          <p:cNvPr id="10" name="Picture 9">
            <a:extLst>
              <a:ext uri="{FF2B5EF4-FFF2-40B4-BE49-F238E27FC236}">
                <a16:creationId xmlns:a16="http://schemas.microsoft.com/office/drawing/2014/main" id="{E984C0DA-7CD7-6EF3-4E8A-C55F84395F77}"/>
              </a:ext>
            </a:extLst>
          </p:cNvPr>
          <p:cNvPicPr>
            <a:picLocks noChangeAspect="1"/>
          </p:cNvPicPr>
          <p:nvPr/>
        </p:nvPicPr>
        <p:blipFill>
          <a:blip r:embed="rId3"/>
          <a:stretch>
            <a:fillRect/>
          </a:stretch>
        </p:blipFill>
        <p:spPr>
          <a:xfrm>
            <a:off x="789484" y="2036038"/>
            <a:ext cx="9800232" cy="4572000"/>
          </a:xfrm>
          <a:prstGeom prst="rect">
            <a:avLst/>
          </a:prstGeom>
          <a:ln w="15875">
            <a:solidFill>
              <a:srgbClr val="D6E8F6"/>
            </a:solidFill>
          </a:ln>
          <a:effectLst>
            <a:outerShdw blurRad="63500" dist="28398" dir="3806086" rotWithShape="0">
              <a:srgbClr val="B9CCE0">
                <a:alpha val="22000"/>
              </a:srgbClr>
            </a:outerShdw>
          </a:effectLst>
        </p:spPr>
      </p:pic>
      <p:sp>
        <p:nvSpPr>
          <p:cNvPr id="6" name="codex_template_top_accent">
            <a:extLst>
              <a:ext uri="{FF2B5EF4-FFF2-40B4-BE49-F238E27FC236}">
                <a16:creationId xmlns:a16="http://schemas.microsoft.com/office/drawing/2014/main" id="{F907DDE8-10F8-D91A-C9CC-5AE4DC0F3763}"/>
              </a:ext>
            </a:extLst>
          </p:cNvPr>
          <p:cNvSpPr/>
          <p:nvPr/>
        </p:nvSpPr>
        <p:spPr>
          <a:xfrm>
            <a:off x="0" y="0"/>
            <a:ext cx="12192000" cy="88900"/>
          </a:xfrm>
          <a:prstGeom prst="rect">
            <a:avLst/>
          </a:prstGeom>
          <a:solidFill>
            <a:srgbClr val="00A9E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dex_template_footer">
            <a:extLst>
              <a:ext uri="{FF2B5EF4-FFF2-40B4-BE49-F238E27FC236}">
                <a16:creationId xmlns:a16="http://schemas.microsoft.com/office/drawing/2014/main" id="{9DC3B99D-0679-92AA-BCE2-669A1DEF2F73}"/>
              </a:ext>
            </a:extLst>
          </p:cNvPr>
          <p:cNvSpPr txBox="1"/>
          <p:nvPr/>
        </p:nvSpPr>
        <p:spPr>
          <a:xfrm>
            <a:off x="355600" y="6553200"/>
            <a:ext cx="10668000" cy="215444"/>
          </a:xfrm>
          <a:prstGeom prst="rect">
            <a:avLst/>
          </a:prstGeom>
          <a:noFill/>
        </p:spPr>
        <p:txBody>
          <a:bodyPr vert="horz" rtlCol="0">
            <a:spAutoFit/>
          </a:bodyPr>
          <a:lstStyle/>
          <a:p>
            <a:r>
              <a:rPr lang="en-US" sz="800">
                <a:solidFill>
                  <a:srgbClr val="566982"/>
                </a:solidFill>
                <a:latin typeface="Aptos" panose="020B0004020202020204" pitchFamily="34" charset="0"/>
              </a:rPr>
              <a:t>Enterprise Reconciliation Platform | Principal Engineer / Architect Assessment</a:t>
            </a:r>
          </a:p>
        </p:txBody>
      </p:sp>
      <p:sp>
        <p:nvSpPr>
          <p:cNvPr id="11" name="codex_template_slide_number">
            <a:extLst>
              <a:ext uri="{FF2B5EF4-FFF2-40B4-BE49-F238E27FC236}">
                <a16:creationId xmlns:a16="http://schemas.microsoft.com/office/drawing/2014/main" id="{8930BD67-B59A-EEF9-2AD2-E00DDA348B98}"/>
              </a:ext>
            </a:extLst>
          </p:cNvPr>
          <p:cNvSpPr txBox="1"/>
          <p:nvPr/>
        </p:nvSpPr>
        <p:spPr>
          <a:xfrm>
            <a:off x="11557000" y="6553200"/>
            <a:ext cx="355600" cy="215444"/>
          </a:xfrm>
          <a:prstGeom prst="rect">
            <a:avLst/>
          </a:prstGeom>
          <a:noFill/>
        </p:spPr>
        <p:txBody>
          <a:bodyPr vert="horz" rtlCol="0">
            <a:spAutoFit/>
          </a:bodyPr>
          <a:lstStyle/>
          <a:p>
            <a:r>
              <a:rPr lang="en-US" sz="800">
                <a:solidFill>
                  <a:srgbClr val="566982"/>
                </a:solidFill>
                <a:latin typeface="Aptos" panose="020B0004020202020204" pitchFamily="34" charset="0"/>
              </a:rPr>
              <a:t>2</a:t>
            </a:r>
          </a:p>
        </p:txBody>
      </p:sp>
      <p:cxnSp>
        <p:nvCxnSpPr>
          <p:cNvPr id="12" name="codex_template_title_rule">
            <a:extLst>
              <a:ext uri="{FF2B5EF4-FFF2-40B4-BE49-F238E27FC236}">
                <a16:creationId xmlns:a16="http://schemas.microsoft.com/office/drawing/2014/main" id="{8ED0C242-9D04-0B2B-590F-3A885B604215}"/>
              </a:ext>
            </a:extLst>
          </p:cNvPr>
          <p:cNvCxnSpPr/>
          <p:nvPr/>
        </p:nvCxnSpPr>
        <p:spPr>
          <a:xfrm>
            <a:off x="789484" y="1155635"/>
            <a:ext cx="4648200" cy="0"/>
          </a:xfrm>
          <a:prstGeom prst="line">
            <a:avLst/>
          </a:prstGeom>
          <a:ln w="27940">
            <a:solidFill>
              <a:srgbClr val="00A9E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6" name="codex_template_right_wash">
            <a:extLst>
              <a:ext uri="{FF2B5EF4-FFF2-40B4-BE49-F238E27FC236}">
                <a16:creationId xmlns:a16="http://schemas.microsoft.com/office/drawing/2014/main" id="{28A3FFAF-F753-AE83-007E-BCC44CA4B33D}"/>
              </a:ext>
            </a:extLst>
          </p:cNvPr>
          <p:cNvSpPr/>
          <p:nvPr/>
        </p:nvSpPr>
        <p:spPr>
          <a:xfrm>
            <a:off x="9509760" y="0"/>
            <a:ext cx="2682240" cy="6858000"/>
          </a:xfrm>
          <a:prstGeom prst="rect">
            <a:avLst/>
          </a:prstGeom>
          <a:solidFill>
            <a:srgbClr val="E7F6FF">
              <a:alpha val="92000"/>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dex_template_header_band">
            <a:extLst>
              <a:ext uri="{FF2B5EF4-FFF2-40B4-BE49-F238E27FC236}">
                <a16:creationId xmlns:a16="http://schemas.microsoft.com/office/drawing/2014/main" id="{8AF5EDE5-A986-C450-592F-69021BF47AF8}"/>
              </a:ext>
            </a:extLst>
          </p:cNvPr>
          <p:cNvSpPr/>
          <p:nvPr/>
        </p:nvSpPr>
        <p:spPr>
          <a:xfrm>
            <a:off x="0" y="0"/>
            <a:ext cx="12192000" cy="812800"/>
          </a:xfrm>
          <a:prstGeom prst="rect">
            <a:avLst/>
          </a:prstGeom>
          <a:solidFill>
            <a:srgbClr val="ECF7FF">
              <a:alpha val="95000"/>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dex_template_background">
            <a:extLst>
              <a:ext uri="{FF2B5EF4-FFF2-40B4-BE49-F238E27FC236}">
                <a16:creationId xmlns:a16="http://schemas.microsoft.com/office/drawing/2014/main" id="{16A1B5B7-76F8-F9B4-E54E-8DD8E5125887}"/>
              </a:ext>
            </a:extLst>
          </p:cNvPr>
          <p:cNvSpPr/>
          <p:nvPr/>
        </p:nvSpPr>
        <p:spPr>
          <a:xfrm>
            <a:off x="0" y="0"/>
            <a:ext cx="12192000" cy="6858000"/>
          </a:xfrm>
          <a:prstGeom prst="rect">
            <a:avLst/>
          </a:prstGeom>
          <a:solidFill>
            <a:srgbClr val="F8FBF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AutoShape 2"/>
          <p:cNvSpPr/>
          <p:nvPr/>
        </p:nvSpPr>
        <p:spPr>
          <a:xfrm>
            <a:off x="822528" y="482601"/>
            <a:ext cx="10414000" cy="533400"/>
          </a:xfrm>
          <a:prstGeom prst="rect">
            <a:avLst/>
          </a:prstGeom>
          <a:solidFill>
            <a:scrgbClr r="0" g="0" b="0">
              <a:alpha val="0"/>
            </a:scrgbClr>
          </a:solidFill>
          <a:ln w="15875" cap="flat" cmpd="sng">
            <a:noFill/>
            <a:prstDash val="solid"/>
            <a:round/>
          </a:ln>
          <a:effectLst/>
        </p:spPr>
        <p:txBody>
          <a:bodyPr vert="horz" wrap="square" lIns="0" tIns="0" rIns="0" bIns="0" rtlCol="0" anchor="ctr" anchorCtr="0">
            <a:noAutofit/>
          </a:bodyPr>
          <a:lstStyle/>
          <a:p>
            <a:pPr indent="0" algn="l">
              <a:lnSpc>
                <a:spcPct val="125000"/>
              </a:lnSpc>
              <a:defRPr/>
            </a:pPr>
            <a:r>
              <a:rPr lang="en-US" sz="2800" b="1" i="0" u="none" strike="noStrike" dirty="0">
                <a:solidFill>
                  <a:srgbClr val="142D4E"/>
                </a:solidFill>
                <a:latin typeface="Aptos Display" panose="020B0004020202020204" pitchFamily="34" charset="0"/>
                <a:ea typeface="Montserrat"/>
                <a:cs typeface="Montserrat"/>
                <a:sym typeface="Montserrat"/>
              </a:rPr>
              <a:t>High Level Functional Architecture</a:t>
            </a:r>
            <a:endParaRPr lang="en-US" sz="2800" b="1" dirty="0">
              <a:solidFill>
                <a:srgbClr val="142D4E"/>
              </a:solidFill>
              <a:latin typeface="Aptos Display" panose="020B0004020202020204" pitchFamily="34" charset="0"/>
            </a:endParaRPr>
          </a:p>
        </p:txBody>
      </p:sp>
      <p:pic>
        <p:nvPicPr>
          <p:cNvPr id="5" name="Picture 4">
            <a:extLst>
              <a:ext uri="{FF2B5EF4-FFF2-40B4-BE49-F238E27FC236}">
                <a16:creationId xmlns:a16="http://schemas.microsoft.com/office/drawing/2014/main" id="{516D21A3-64AC-19BD-D8A6-F6EF6907F85A}"/>
              </a:ext>
            </a:extLst>
          </p:cNvPr>
          <p:cNvPicPr>
            <a:picLocks noChangeAspect="1"/>
          </p:cNvPicPr>
          <p:nvPr/>
        </p:nvPicPr>
        <p:blipFill>
          <a:blip r:embed="rId3"/>
          <a:stretch>
            <a:fillRect/>
          </a:stretch>
        </p:blipFill>
        <p:spPr>
          <a:xfrm>
            <a:off x="648640" y="1650998"/>
            <a:ext cx="6885000" cy="4572000"/>
          </a:xfrm>
          <a:prstGeom prst="rect">
            <a:avLst/>
          </a:prstGeom>
          <a:ln w="15875">
            <a:solidFill>
              <a:srgbClr val="D6E8F6"/>
            </a:solidFill>
          </a:ln>
          <a:effectLst>
            <a:outerShdw blurRad="63500" dist="28398" dir="3806086" rotWithShape="0">
              <a:srgbClr val="B9CCE0">
                <a:alpha val="22000"/>
              </a:srgbClr>
            </a:outerShdw>
          </a:effectLst>
        </p:spPr>
      </p:pic>
      <p:sp>
        <p:nvSpPr>
          <p:cNvPr id="8" name="AutoShape 3">
            <a:extLst>
              <a:ext uri="{FF2B5EF4-FFF2-40B4-BE49-F238E27FC236}">
                <a16:creationId xmlns:a16="http://schemas.microsoft.com/office/drawing/2014/main" id="{1FDF8705-6977-B5A8-B505-D170F210B421}"/>
              </a:ext>
            </a:extLst>
          </p:cNvPr>
          <p:cNvSpPr/>
          <p:nvPr/>
        </p:nvSpPr>
        <p:spPr>
          <a:xfrm>
            <a:off x="7830637" y="1650998"/>
            <a:ext cx="3712723" cy="5055545"/>
          </a:xfrm>
          <a:prstGeom prst="rect">
            <a:avLst/>
          </a:prstGeom>
          <a:noFill/>
          <a:ln w="15875" cap="flat" cmpd="sng">
            <a:solidFill>
              <a:srgbClr val="D6E8F6"/>
            </a:solidFill>
            <a:prstDash val="solid"/>
            <a:round/>
          </a:ln>
          <a:effectLst>
            <a:outerShdw blurRad="63500" dist="28398" dir="3806086" rotWithShape="0">
              <a:srgbClr val="B9CCE0">
                <a:alpha val="22000"/>
              </a:srgbClr>
            </a:outerShdw>
          </a:effectLst>
        </p:spPr>
        <p:txBody>
          <a:bodyPr vert="horz" wrap="square" lIns="101600" tIns="63500" rIns="101600" bIns="63500" rtlCol="0" anchor="t" anchorCtr="0">
            <a:normAutofit/>
          </a:bodyPr>
          <a:lstStyle/>
          <a:p>
            <a:pPr marL="457200" indent="-171450">
              <a:lnSpc>
                <a:spcPct val="135000"/>
              </a:lnSpc>
              <a:buFont typeface="Arial" panose="020B0604020202020204" pitchFamily="34" charset="0"/>
              <a:buChar char="•"/>
              <a:defRPr/>
            </a:pPr>
            <a:r>
              <a:rPr lang="en-US" sz="1100" dirty="0">
                <a:solidFill>
                  <a:srgbClr val="566982"/>
                </a:solidFill>
                <a:latin typeface="Aptos" panose="020B0004020202020204" pitchFamily="34" charset="0"/>
              </a:rPr>
              <a:t>Producer Application generates valid and invalid reconciliation transactions, controls transaction volume using configurable TPS, and enriches every message with correlation and tracing metadata.</a:t>
            </a:r>
          </a:p>
          <a:p>
            <a:pPr marL="457200" indent="-171450">
              <a:lnSpc>
                <a:spcPct val="135000"/>
              </a:lnSpc>
              <a:buFont typeface="Arial" panose="020B0604020202020204" pitchFamily="34" charset="0"/>
              <a:buChar char="•"/>
              <a:defRPr/>
            </a:pPr>
            <a:r>
              <a:rPr lang="en-US" sz="1100" dirty="0">
                <a:solidFill>
                  <a:srgbClr val="566982"/>
                </a:solidFill>
                <a:latin typeface="Aptos" panose="020B0004020202020204" pitchFamily="34" charset="0"/>
              </a:rPr>
              <a:t>IBM MQ decouples producer and consumer processing, buffers reconciliation messages reliably, and routes failed or </a:t>
            </a:r>
            <a:r>
              <a:rPr lang="en-US" sz="1100" dirty="0" err="1">
                <a:solidFill>
                  <a:srgbClr val="566982"/>
                </a:solidFill>
                <a:latin typeface="Aptos" panose="020B0004020202020204" pitchFamily="34" charset="0"/>
              </a:rPr>
              <a:t>unprocessable</a:t>
            </a:r>
            <a:r>
              <a:rPr lang="en-US" sz="1100" dirty="0">
                <a:solidFill>
                  <a:srgbClr val="566982"/>
                </a:solidFill>
                <a:latin typeface="Aptos" panose="020B0004020202020204" pitchFamily="34" charset="0"/>
              </a:rPr>
              <a:t> messages to the Dead Letter Queue.</a:t>
            </a:r>
          </a:p>
          <a:p>
            <a:pPr marL="457200" indent="-171450">
              <a:lnSpc>
                <a:spcPct val="135000"/>
              </a:lnSpc>
              <a:buFont typeface="Arial" panose="020B0604020202020204" pitchFamily="34" charset="0"/>
              <a:buChar char="•"/>
              <a:defRPr/>
            </a:pPr>
            <a:r>
              <a:rPr lang="en-US" sz="1100" dirty="0">
                <a:solidFill>
                  <a:srgbClr val="566982"/>
                </a:solidFill>
                <a:latin typeface="Aptos" panose="020B0004020202020204" pitchFamily="34" charset="0"/>
              </a:rPr>
              <a:t>Consumer / Reconciliation Service validates messages, performs reconciliation logic, checks idempotency, processes messages concurrently, retries transient failures, and classifies permanent failures.</a:t>
            </a:r>
          </a:p>
          <a:p>
            <a:pPr marL="457200" indent="-171450">
              <a:lnSpc>
                <a:spcPct val="135000"/>
              </a:lnSpc>
              <a:buFont typeface="Arial" panose="020B0604020202020204" pitchFamily="34" charset="0"/>
              <a:buChar char="•"/>
              <a:defRPr/>
            </a:pPr>
            <a:r>
              <a:rPr lang="en-US" sz="1100" dirty="0">
                <a:solidFill>
                  <a:srgbClr val="566982"/>
                </a:solidFill>
                <a:latin typeface="Aptos" panose="020B0004020202020204" pitchFamily="34" charset="0"/>
              </a:rPr>
              <a:t>Database stores reconciliation records, idempotency keys, processing status, and audit/error details for traceability and reporting.</a:t>
            </a:r>
          </a:p>
          <a:p>
            <a:pPr marL="457200" indent="-171450">
              <a:lnSpc>
                <a:spcPct val="135000"/>
              </a:lnSpc>
              <a:buFont typeface="Arial" panose="020B0604020202020204" pitchFamily="34" charset="0"/>
              <a:buChar char="•"/>
              <a:defRPr/>
            </a:pPr>
            <a:r>
              <a:rPr lang="en-US" sz="1100" dirty="0">
                <a:solidFill>
                  <a:srgbClr val="566982"/>
                </a:solidFill>
                <a:latin typeface="Aptos" panose="020B0004020202020204" pitchFamily="34" charset="0"/>
              </a:rPr>
              <a:t>Observability captures logs, metrics, and traces across the full flow to support monitoring, troubleshooting, and end-to-end transaction tracking.</a:t>
            </a:r>
          </a:p>
        </p:txBody>
      </p:sp>
      <p:sp>
        <p:nvSpPr>
          <p:cNvPr id="7" name="codex_template_top_accent">
            <a:extLst>
              <a:ext uri="{FF2B5EF4-FFF2-40B4-BE49-F238E27FC236}">
                <a16:creationId xmlns:a16="http://schemas.microsoft.com/office/drawing/2014/main" id="{6B47816A-C7B4-466A-287A-F3A4D407B430}"/>
              </a:ext>
            </a:extLst>
          </p:cNvPr>
          <p:cNvSpPr/>
          <p:nvPr/>
        </p:nvSpPr>
        <p:spPr>
          <a:xfrm>
            <a:off x="0" y="0"/>
            <a:ext cx="12192000" cy="88900"/>
          </a:xfrm>
          <a:prstGeom prst="rect">
            <a:avLst/>
          </a:prstGeom>
          <a:solidFill>
            <a:srgbClr val="00A9E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dex_template_footer">
            <a:extLst>
              <a:ext uri="{FF2B5EF4-FFF2-40B4-BE49-F238E27FC236}">
                <a16:creationId xmlns:a16="http://schemas.microsoft.com/office/drawing/2014/main" id="{D6903FC7-DAC0-526E-E335-7EFCE39935B2}"/>
              </a:ext>
            </a:extLst>
          </p:cNvPr>
          <p:cNvSpPr txBox="1"/>
          <p:nvPr/>
        </p:nvSpPr>
        <p:spPr>
          <a:xfrm>
            <a:off x="355600" y="6553200"/>
            <a:ext cx="10668000" cy="215444"/>
          </a:xfrm>
          <a:prstGeom prst="rect">
            <a:avLst/>
          </a:prstGeom>
          <a:noFill/>
        </p:spPr>
        <p:txBody>
          <a:bodyPr vert="horz" rtlCol="0">
            <a:spAutoFit/>
          </a:bodyPr>
          <a:lstStyle/>
          <a:p>
            <a:r>
              <a:rPr lang="en-US" sz="800">
                <a:solidFill>
                  <a:srgbClr val="566982"/>
                </a:solidFill>
                <a:latin typeface="Aptos" panose="020B0004020202020204" pitchFamily="34" charset="0"/>
              </a:rPr>
              <a:t>Enterprise Reconciliation Platform | Principal Engineer / Architect Assessment</a:t>
            </a:r>
          </a:p>
        </p:txBody>
      </p:sp>
      <p:sp>
        <p:nvSpPr>
          <p:cNvPr id="11" name="codex_template_slide_number">
            <a:extLst>
              <a:ext uri="{FF2B5EF4-FFF2-40B4-BE49-F238E27FC236}">
                <a16:creationId xmlns:a16="http://schemas.microsoft.com/office/drawing/2014/main" id="{5A0CB67E-69DF-7927-EC8C-88E68CBA44B8}"/>
              </a:ext>
            </a:extLst>
          </p:cNvPr>
          <p:cNvSpPr txBox="1"/>
          <p:nvPr/>
        </p:nvSpPr>
        <p:spPr>
          <a:xfrm>
            <a:off x="11557000" y="6553200"/>
            <a:ext cx="355600" cy="215444"/>
          </a:xfrm>
          <a:prstGeom prst="rect">
            <a:avLst/>
          </a:prstGeom>
          <a:noFill/>
        </p:spPr>
        <p:txBody>
          <a:bodyPr vert="horz" rtlCol="0">
            <a:spAutoFit/>
          </a:bodyPr>
          <a:lstStyle/>
          <a:p>
            <a:r>
              <a:rPr lang="en-US" sz="800">
                <a:solidFill>
                  <a:srgbClr val="566982"/>
                </a:solidFill>
                <a:latin typeface="Aptos" panose="020B0004020202020204" pitchFamily="34" charset="0"/>
              </a:rPr>
              <a:t>3</a:t>
            </a:r>
          </a:p>
        </p:txBody>
      </p:sp>
      <p:cxnSp>
        <p:nvCxnSpPr>
          <p:cNvPr id="12" name="codex_template_title_rule">
            <a:extLst>
              <a:ext uri="{FF2B5EF4-FFF2-40B4-BE49-F238E27FC236}">
                <a16:creationId xmlns:a16="http://schemas.microsoft.com/office/drawing/2014/main" id="{C2AA7974-0AF7-7E05-D4B3-4938671AB611}"/>
              </a:ext>
            </a:extLst>
          </p:cNvPr>
          <p:cNvCxnSpPr/>
          <p:nvPr/>
        </p:nvCxnSpPr>
        <p:spPr>
          <a:xfrm>
            <a:off x="822528" y="1143001"/>
            <a:ext cx="4648200" cy="0"/>
          </a:xfrm>
          <a:prstGeom prst="line">
            <a:avLst/>
          </a:prstGeom>
          <a:ln w="27940">
            <a:solidFill>
              <a:srgbClr val="00A9E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a:extLst>
            <a:ext uri="{FF2B5EF4-FFF2-40B4-BE49-F238E27FC236}">
              <a16:creationId xmlns:a16="http://schemas.microsoft.com/office/drawing/2014/main" id="{D70F3E62-A581-20EA-E3E5-12D203413A96}"/>
            </a:ext>
          </a:extLst>
        </p:cNvPr>
        <p:cNvGrpSpPr/>
        <p:nvPr/>
      </p:nvGrpSpPr>
      <p:grpSpPr>
        <a:xfrm>
          <a:off x="0" y="0"/>
          <a:ext cx="0" cy="0"/>
          <a:chOff x="0" y="0"/>
          <a:chExt cx="0" cy="0"/>
        </a:xfrm>
      </p:grpSpPr>
      <p:sp>
        <p:nvSpPr>
          <p:cNvPr id="7" name="codex_template_right_wash">
            <a:extLst>
              <a:ext uri="{FF2B5EF4-FFF2-40B4-BE49-F238E27FC236}">
                <a16:creationId xmlns:a16="http://schemas.microsoft.com/office/drawing/2014/main" id="{E0C8B624-7775-3261-390E-321F6D5FBFF2}"/>
              </a:ext>
            </a:extLst>
          </p:cNvPr>
          <p:cNvSpPr/>
          <p:nvPr/>
        </p:nvSpPr>
        <p:spPr>
          <a:xfrm>
            <a:off x="9509760" y="0"/>
            <a:ext cx="2682240" cy="6858000"/>
          </a:xfrm>
          <a:prstGeom prst="rect">
            <a:avLst/>
          </a:prstGeom>
          <a:solidFill>
            <a:srgbClr val="E7F6FF">
              <a:alpha val="92000"/>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dex_template_header_band">
            <a:extLst>
              <a:ext uri="{FF2B5EF4-FFF2-40B4-BE49-F238E27FC236}">
                <a16:creationId xmlns:a16="http://schemas.microsoft.com/office/drawing/2014/main" id="{D7083C5C-E8BE-3012-9D0C-68C925E7AFF9}"/>
              </a:ext>
            </a:extLst>
          </p:cNvPr>
          <p:cNvSpPr/>
          <p:nvPr/>
        </p:nvSpPr>
        <p:spPr>
          <a:xfrm>
            <a:off x="0" y="0"/>
            <a:ext cx="12192000" cy="812800"/>
          </a:xfrm>
          <a:prstGeom prst="rect">
            <a:avLst/>
          </a:prstGeom>
          <a:solidFill>
            <a:srgbClr val="ECF7FF">
              <a:alpha val="95000"/>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dex_template_background">
            <a:extLst>
              <a:ext uri="{FF2B5EF4-FFF2-40B4-BE49-F238E27FC236}">
                <a16:creationId xmlns:a16="http://schemas.microsoft.com/office/drawing/2014/main" id="{3E490B9D-334A-7363-E06B-31C6AC4AF8D4}"/>
              </a:ext>
            </a:extLst>
          </p:cNvPr>
          <p:cNvSpPr/>
          <p:nvPr/>
        </p:nvSpPr>
        <p:spPr>
          <a:xfrm>
            <a:off x="0" y="0"/>
            <a:ext cx="12192000" cy="6858000"/>
          </a:xfrm>
          <a:prstGeom prst="rect">
            <a:avLst/>
          </a:prstGeom>
          <a:solidFill>
            <a:srgbClr val="F8FBF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AutoShape 2">
            <a:extLst>
              <a:ext uri="{FF2B5EF4-FFF2-40B4-BE49-F238E27FC236}">
                <a16:creationId xmlns:a16="http://schemas.microsoft.com/office/drawing/2014/main" id="{D76E8053-46C1-1FDC-38F1-DF6182D09ACF}"/>
              </a:ext>
            </a:extLst>
          </p:cNvPr>
          <p:cNvSpPr/>
          <p:nvPr/>
        </p:nvSpPr>
        <p:spPr>
          <a:xfrm>
            <a:off x="812800" y="499771"/>
            <a:ext cx="10414000" cy="533400"/>
          </a:xfrm>
          <a:prstGeom prst="rect">
            <a:avLst/>
          </a:prstGeom>
          <a:solidFill>
            <a:scrgbClr r="0" g="0" b="0">
              <a:alpha val="0"/>
            </a:scrgbClr>
          </a:solidFill>
          <a:ln w="15875" cap="flat" cmpd="sng">
            <a:noFill/>
            <a:prstDash val="solid"/>
            <a:round/>
          </a:ln>
          <a:effectLst/>
        </p:spPr>
        <p:txBody>
          <a:bodyPr vert="horz" wrap="square" lIns="0" tIns="0" rIns="0" bIns="0" rtlCol="0" anchor="ctr" anchorCtr="0">
            <a:noAutofit/>
          </a:bodyPr>
          <a:lstStyle/>
          <a:p>
            <a:pPr indent="0" algn="l">
              <a:lnSpc>
                <a:spcPct val="125000"/>
              </a:lnSpc>
              <a:defRPr/>
            </a:pPr>
            <a:r>
              <a:rPr lang="en-US" sz="2800" b="1" i="0" u="none" strike="noStrike" dirty="0">
                <a:solidFill>
                  <a:srgbClr val="142D4E"/>
                </a:solidFill>
                <a:latin typeface="Aptos Display" panose="020B0004020202020204" pitchFamily="34" charset="0"/>
                <a:ea typeface="Montserrat"/>
                <a:cs typeface="Montserrat"/>
                <a:sym typeface="Montserrat"/>
              </a:rPr>
              <a:t>High Level Technical Architecture</a:t>
            </a:r>
            <a:endParaRPr lang="en-US" sz="2800" b="1" dirty="0">
              <a:solidFill>
                <a:srgbClr val="142D4E"/>
              </a:solidFill>
              <a:latin typeface="Aptos Display" panose="020B0004020202020204" pitchFamily="34" charset="0"/>
            </a:endParaRPr>
          </a:p>
        </p:txBody>
      </p:sp>
      <p:sp>
        <p:nvSpPr>
          <p:cNvPr id="6" name="AutoShape 3">
            <a:extLst>
              <a:ext uri="{FF2B5EF4-FFF2-40B4-BE49-F238E27FC236}">
                <a16:creationId xmlns:a16="http://schemas.microsoft.com/office/drawing/2014/main" id="{7BABED48-DAEB-0456-ACC0-3BE5D0592CDC}"/>
              </a:ext>
            </a:extLst>
          </p:cNvPr>
          <p:cNvSpPr/>
          <p:nvPr/>
        </p:nvSpPr>
        <p:spPr>
          <a:xfrm>
            <a:off x="9330879" y="1886086"/>
            <a:ext cx="2581721" cy="4082914"/>
          </a:xfrm>
          <a:prstGeom prst="rect">
            <a:avLst/>
          </a:prstGeom>
          <a:noFill/>
          <a:ln w="15875" cap="flat" cmpd="sng">
            <a:solidFill>
              <a:srgbClr val="D6E8F6"/>
            </a:solidFill>
            <a:prstDash val="solid"/>
            <a:round/>
          </a:ln>
          <a:effectLst>
            <a:outerShdw blurRad="63500" dist="28398" dir="3806086" rotWithShape="0">
              <a:srgbClr val="B9CCE0">
                <a:alpha val="22000"/>
              </a:srgbClr>
            </a:outerShdw>
          </a:effectLst>
        </p:spPr>
        <p:txBody>
          <a:bodyPr vert="horz" wrap="square" lIns="101600" tIns="63500" rIns="101600" bIns="63500" rtlCol="0" anchor="t" anchorCtr="0">
            <a:normAutofit/>
          </a:bodyPr>
          <a:lstStyle/>
          <a:p>
            <a:pPr marL="457200" indent="-171450">
              <a:lnSpc>
                <a:spcPct val="135000"/>
              </a:lnSpc>
              <a:buFont typeface="Arial" panose="020B0604020202020204" pitchFamily="34" charset="0"/>
              <a:buChar char="•"/>
              <a:defRPr/>
            </a:pPr>
            <a:r>
              <a:rPr lang="en-US" sz="1100" dirty="0">
                <a:solidFill>
                  <a:srgbClr val="566982"/>
                </a:solidFill>
                <a:latin typeface="Aptos" panose="020B0004020202020204" pitchFamily="34" charset="0"/>
              </a:rPr>
              <a:t>The architecture separates transaction publishing, message buffering, reconciliation processing, and database persistence into clear runtime components.</a:t>
            </a:r>
          </a:p>
          <a:p>
            <a:pPr marL="457200" indent="-171450">
              <a:lnSpc>
                <a:spcPct val="135000"/>
              </a:lnSpc>
              <a:buFont typeface="Arial" panose="020B0604020202020204" pitchFamily="34" charset="0"/>
              <a:buChar char="•"/>
              <a:defRPr/>
            </a:pPr>
            <a:endParaRPr lang="en-US" sz="1100" dirty="0">
              <a:solidFill>
                <a:srgbClr val="566982"/>
              </a:solidFill>
              <a:latin typeface="Aptos" panose="020B0004020202020204" pitchFamily="34" charset="0"/>
            </a:endParaRPr>
          </a:p>
          <a:p>
            <a:pPr marL="457200" indent="-171450">
              <a:lnSpc>
                <a:spcPct val="135000"/>
              </a:lnSpc>
              <a:buFont typeface="Arial" panose="020B0604020202020204" pitchFamily="34" charset="0"/>
              <a:buChar char="•"/>
              <a:defRPr/>
            </a:pPr>
            <a:r>
              <a:rPr lang="en-US" sz="1100" dirty="0">
                <a:solidFill>
                  <a:srgbClr val="566982"/>
                </a:solidFill>
                <a:latin typeface="Aptos" panose="020B0004020202020204" pitchFamily="34" charset="0"/>
              </a:rPr>
              <a:t>IBM MQ provides reliable decoupling between producer and consumer, while correlation IDs help trace each reconciliation transaction end to end.</a:t>
            </a:r>
          </a:p>
        </p:txBody>
      </p:sp>
      <p:sp>
        <p:nvSpPr>
          <p:cNvPr id="8" name="codex_template_top_accent">
            <a:extLst>
              <a:ext uri="{FF2B5EF4-FFF2-40B4-BE49-F238E27FC236}">
                <a16:creationId xmlns:a16="http://schemas.microsoft.com/office/drawing/2014/main" id="{62DE8D3C-0D23-1D0B-7910-7E9B8134C964}"/>
              </a:ext>
            </a:extLst>
          </p:cNvPr>
          <p:cNvSpPr/>
          <p:nvPr/>
        </p:nvSpPr>
        <p:spPr>
          <a:xfrm>
            <a:off x="0" y="0"/>
            <a:ext cx="12192000" cy="88900"/>
          </a:xfrm>
          <a:prstGeom prst="rect">
            <a:avLst/>
          </a:prstGeom>
          <a:solidFill>
            <a:srgbClr val="00A9E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dex_template_footer">
            <a:extLst>
              <a:ext uri="{FF2B5EF4-FFF2-40B4-BE49-F238E27FC236}">
                <a16:creationId xmlns:a16="http://schemas.microsoft.com/office/drawing/2014/main" id="{FF30A71E-E544-D5B5-8E1A-E7308E817266}"/>
              </a:ext>
            </a:extLst>
          </p:cNvPr>
          <p:cNvSpPr txBox="1"/>
          <p:nvPr/>
        </p:nvSpPr>
        <p:spPr>
          <a:xfrm>
            <a:off x="355600" y="6553200"/>
            <a:ext cx="10668000" cy="215444"/>
          </a:xfrm>
          <a:prstGeom prst="rect">
            <a:avLst/>
          </a:prstGeom>
          <a:noFill/>
        </p:spPr>
        <p:txBody>
          <a:bodyPr vert="horz" rtlCol="0">
            <a:spAutoFit/>
          </a:bodyPr>
          <a:lstStyle/>
          <a:p>
            <a:r>
              <a:rPr lang="en-US" sz="800">
                <a:solidFill>
                  <a:srgbClr val="566982"/>
                </a:solidFill>
                <a:latin typeface="Aptos" panose="020B0004020202020204" pitchFamily="34" charset="0"/>
              </a:rPr>
              <a:t>Enterprise Reconciliation Platform | Principal Engineer / Architect Assessment</a:t>
            </a:r>
          </a:p>
        </p:txBody>
      </p:sp>
      <p:sp>
        <p:nvSpPr>
          <p:cNvPr id="11" name="codex_template_slide_number">
            <a:extLst>
              <a:ext uri="{FF2B5EF4-FFF2-40B4-BE49-F238E27FC236}">
                <a16:creationId xmlns:a16="http://schemas.microsoft.com/office/drawing/2014/main" id="{547FD8A8-D132-5FED-EF0F-48ACF47F6C4D}"/>
              </a:ext>
            </a:extLst>
          </p:cNvPr>
          <p:cNvSpPr txBox="1"/>
          <p:nvPr/>
        </p:nvSpPr>
        <p:spPr>
          <a:xfrm>
            <a:off x="11557000" y="6553200"/>
            <a:ext cx="355600" cy="215444"/>
          </a:xfrm>
          <a:prstGeom prst="rect">
            <a:avLst/>
          </a:prstGeom>
          <a:noFill/>
        </p:spPr>
        <p:txBody>
          <a:bodyPr vert="horz" rtlCol="0">
            <a:spAutoFit/>
          </a:bodyPr>
          <a:lstStyle/>
          <a:p>
            <a:r>
              <a:rPr lang="en-US" sz="800">
                <a:solidFill>
                  <a:srgbClr val="566982"/>
                </a:solidFill>
                <a:latin typeface="Aptos" panose="020B0004020202020204" pitchFamily="34" charset="0"/>
              </a:rPr>
              <a:t>4</a:t>
            </a:r>
          </a:p>
        </p:txBody>
      </p:sp>
      <p:cxnSp>
        <p:nvCxnSpPr>
          <p:cNvPr id="12" name="codex_template_title_rule">
            <a:extLst>
              <a:ext uri="{FF2B5EF4-FFF2-40B4-BE49-F238E27FC236}">
                <a16:creationId xmlns:a16="http://schemas.microsoft.com/office/drawing/2014/main" id="{9B46C064-CD11-163B-6BC8-0899FEEC7ED3}"/>
              </a:ext>
            </a:extLst>
          </p:cNvPr>
          <p:cNvCxnSpPr/>
          <p:nvPr/>
        </p:nvCxnSpPr>
        <p:spPr>
          <a:xfrm>
            <a:off x="812800" y="1160171"/>
            <a:ext cx="4648200" cy="0"/>
          </a:xfrm>
          <a:prstGeom prst="line">
            <a:avLst/>
          </a:prstGeom>
          <a:ln w="27940">
            <a:solidFill>
              <a:srgbClr val="00A9E0"/>
            </a:solidFill>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3468C420-5AEF-EA40-C7DF-4B789DA1B50B}"/>
              </a:ext>
            </a:extLst>
          </p:cNvPr>
          <p:cNvPicPr>
            <a:picLocks noChangeAspect="1"/>
          </p:cNvPicPr>
          <p:nvPr/>
        </p:nvPicPr>
        <p:blipFill>
          <a:blip r:embed="rId3"/>
          <a:stretch>
            <a:fillRect/>
          </a:stretch>
        </p:blipFill>
        <p:spPr>
          <a:xfrm>
            <a:off x="812800" y="1786941"/>
            <a:ext cx="8430802" cy="4182059"/>
          </a:xfrm>
          <a:prstGeom prst="rect">
            <a:avLst/>
          </a:prstGeom>
        </p:spPr>
      </p:pic>
    </p:spTree>
    <p:extLst>
      <p:ext uri="{BB962C8B-B14F-4D97-AF65-F5344CB8AC3E}">
        <p14:creationId xmlns:p14="http://schemas.microsoft.com/office/powerpoint/2010/main" val="36996137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a:extLst>
            <a:ext uri="{FF2B5EF4-FFF2-40B4-BE49-F238E27FC236}">
              <a16:creationId xmlns:a16="http://schemas.microsoft.com/office/drawing/2014/main" id="{6C6AE876-F04E-E1B3-B9D0-9D644B5C8AE3}"/>
            </a:ext>
          </a:extLst>
        </p:cNvPr>
        <p:cNvGrpSpPr/>
        <p:nvPr/>
      </p:nvGrpSpPr>
      <p:grpSpPr>
        <a:xfrm>
          <a:off x="0" y="0"/>
          <a:ext cx="0" cy="0"/>
          <a:chOff x="0" y="0"/>
          <a:chExt cx="0" cy="0"/>
        </a:xfrm>
      </p:grpSpPr>
      <p:sp>
        <p:nvSpPr>
          <p:cNvPr id="5" name="codex_template_right_wash">
            <a:extLst>
              <a:ext uri="{FF2B5EF4-FFF2-40B4-BE49-F238E27FC236}">
                <a16:creationId xmlns:a16="http://schemas.microsoft.com/office/drawing/2014/main" id="{84E27C99-E891-CE46-BD6A-17A133FD9213}"/>
              </a:ext>
            </a:extLst>
          </p:cNvPr>
          <p:cNvSpPr/>
          <p:nvPr/>
        </p:nvSpPr>
        <p:spPr>
          <a:xfrm>
            <a:off x="9509760" y="0"/>
            <a:ext cx="2682240" cy="6858000"/>
          </a:xfrm>
          <a:prstGeom prst="rect">
            <a:avLst/>
          </a:prstGeom>
          <a:solidFill>
            <a:srgbClr val="E7F6FF">
              <a:alpha val="92000"/>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dex_template_header_band">
            <a:extLst>
              <a:ext uri="{FF2B5EF4-FFF2-40B4-BE49-F238E27FC236}">
                <a16:creationId xmlns:a16="http://schemas.microsoft.com/office/drawing/2014/main" id="{6A95F72E-F50C-471D-10EA-D3364B19B473}"/>
              </a:ext>
            </a:extLst>
          </p:cNvPr>
          <p:cNvSpPr/>
          <p:nvPr/>
        </p:nvSpPr>
        <p:spPr>
          <a:xfrm>
            <a:off x="0" y="0"/>
            <a:ext cx="12192000" cy="812800"/>
          </a:xfrm>
          <a:prstGeom prst="rect">
            <a:avLst/>
          </a:prstGeom>
          <a:solidFill>
            <a:srgbClr val="ECF7FF">
              <a:alpha val="95000"/>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dex_template_background">
            <a:extLst>
              <a:ext uri="{FF2B5EF4-FFF2-40B4-BE49-F238E27FC236}">
                <a16:creationId xmlns:a16="http://schemas.microsoft.com/office/drawing/2014/main" id="{B44660F2-6476-BC34-3CCC-EDF3792564DD}"/>
              </a:ext>
            </a:extLst>
          </p:cNvPr>
          <p:cNvSpPr/>
          <p:nvPr/>
        </p:nvSpPr>
        <p:spPr>
          <a:xfrm>
            <a:off x="0" y="0"/>
            <a:ext cx="12192000" cy="6858000"/>
          </a:xfrm>
          <a:prstGeom prst="rect">
            <a:avLst/>
          </a:prstGeom>
          <a:solidFill>
            <a:srgbClr val="F8FBF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AutoShape 2">
            <a:extLst>
              <a:ext uri="{FF2B5EF4-FFF2-40B4-BE49-F238E27FC236}">
                <a16:creationId xmlns:a16="http://schemas.microsoft.com/office/drawing/2014/main" id="{B79E406D-5E37-D4E3-C1BA-654DD26B6175}"/>
              </a:ext>
            </a:extLst>
          </p:cNvPr>
          <p:cNvSpPr/>
          <p:nvPr/>
        </p:nvSpPr>
        <p:spPr>
          <a:xfrm>
            <a:off x="812800" y="482839"/>
            <a:ext cx="10414000" cy="533400"/>
          </a:xfrm>
          <a:prstGeom prst="rect">
            <a:avLst/>
          </a:prstGeom>
          <a:solidFill>
            <a:scrgbClr r="0" g="0" b="0">
              <a:alpha val="0"/>
            </a:scrgbClr>
          </a:solidFill>
          <a:ln w="15875" cap="flat" cmpd="sng">
            <a:noFill/>
            <a:prstDash val="solid"/>
            <a:round/>
          </a:ln>
          <a:effectLst/>
        </p:spPr>
        <p:txBody>
          <a:bodyPr vert="horz" wrap="square" lIns="0" tIns="0" rIns="0" bIns="0" rtlCol="0" anchor="ctr" anchorCtr="0">
            <a:noAutofit/>
          </a:bodyPr>
          <a:lstStyle/>
          <a:p>
            <a:pPr indent="0" algn="l">
              <a:lnSpc>
                <a:spcPct val="125000"/>
              </a:lnSpc>
              <a:defRPr/>
            </a:pPr>
            <a:r>
              <a:rPr lang="en-US" sz="2800" b="1" i="0" u="none" strike="noStrike" dirty="0">
                <a:solidFill>
                  <a:srgbClr val="142D4E"/>
                </a:solidFill>
                <a:latin typeface="Aptos Display" panose="020B0004020202020204" pitchFamily="34" charset="0"/>
                <a:ea typeface="Montserrat"/>
                <a:cs typeface="Montserrat"/>
                <a:sym typeface="Montserrat"/>
              </a:rPr>
              <a:t>High Level Infra Architecture</a:t>
            </a:r>
            <a:endParaRPr lang="en-US" sz="2800" b="1" dirty="0">
              <a:solidFill>
                <a:srgbClr val="142D4E"/>
              </a:solidFill>
              <a:latin typeface="Aptos Display" panose="020B0004020202020204" pitchFamily="34" charset="0"/>
            </a:endParaRPr>
          </a:p>
        </p:txBody>
      </p:sp>
      <p:pic>
        <p:nvPicPr>
          <p:cNvPr id="6" name="Picture 5">
            <a:extLst>
              <a:ext uri="{FF2B5EF4-FFF2-40B4-BE49-F238E27FC236}">
                <a16:creationId xmlns:a16="http://schemas.microsoft.com/office/drawing/2014/main" id="{D3FFCFC4-EC35-CAD2-6C4B-E9FD3AFB116C}"/>
              </a:ext>
            </a:extLst>
          </p:cNvPr>
          <p:cNvPicPr>
            <a:picLocks noChangeAspect="1"/>
          </p:cNvPicPr>
          <p:nvPr/>
        </p:nvPicPr>
        <p:blipFill>
          <a:blip r:embed="rId3"/>
          <a:stretch>
            <a:fillRect/>
          </a:stretch>
        </p:blipFill>
        <p:spPr>
          <a:xfrm>
            <a:off x="812800" y="1638302"/>
            <a:ext cx="8309238" cy="4914897"/>
          </a:xfrm>
          <a:prstGeom prst="rect">
            <a:avLst/>
          </a:prstGeom>
          <a:ln w="15875">
            <a:solidFill>
              <a:srgbClr val="D6E8F6"/>
            </a:solidFill>
          </a:ln>
          <a:effectLst>
            <a:outerShdw blurRad="63500" dist="28398" dir="3806086" rotWithShape="0">
              <a:srgbClr val="B9CCE0">
                <a:alpha val="22000"/>
              </a:srgbClr>
            </a:outerShdw>
          </a:effectLst>
        </p:spPr>
      </p:pic>
      <p:sp>
        <p:nvSpPr>
          <p:cNvPr id="7" name="codex_template_top_accent">
            <a:extLst>
              <a:ext uri="{FF2B5EF4-FFF2-40B4-BE49-F238E27FC236}">
                <a16:creationId xmlns:a16="http://schemas.microsoft.com/office/drawing/2014/main" id="{11468EC5-7B03-728C-D480-4C65770530DF}"/>
              </a:ext>
            </a:extLst>
          </p:cNvPr>
          <p:cNvSpPr/>
          <p:nvPr/>
        </p:nvSpPr>
        <p:spPr>
          <a:xfrm>
            <a:off x="0" y="0"/>
            <a:ext cx="12192000" cy="88900"/>
          </a:xfrm>
          <a:prstGeom prst="rect">
            <a:avLst/>
          </a:prstGeom>
          <a:solidFill>
            <a:srgbClr val="00A9E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dex_template_footer">
            <a:extLst>
              <a:ext uri="{FF2B5EF4-FFF2-40B4-BE49-F238E27FC236}">
                <a16:creationId xmlns:a16="http://schemas.microsoft.com/office/drawing/2014/main" id="{240539CD-68F0-9586-2040-61049CAEAD73}"/>
              </a:ext>
            </a:extLst>
          </p:cNvPr>
          <p:cNvSpPr txBox="1"/>
          <p:nvPr/>
        </p:nvSpPr>
        <p:spPr>
          <a:xfrm>
            <a:off x="355600" y="6553200"/>
            <a:ext cx="10668000" cy="215444"/>
          </a:xfrm>
          <a:prstGeom prst="rect">
            <a:avLst/>
          </a:prstGeom>
          <a:noFill/>
        </p:spPr>
        <p:txBody>
          <a:bodyPr vert="horz" rtlCol="0">
            <a:spAutoFit/>
          </a:bodyPr>
          <a:lstStyle/>
          <a:p>
            <a:r>
              <a:rPr lang="en-US" sz="800">
                <a:solidFill>
                  <a:srgbClr val="566982"/>
                </a:solidFill>
                <a:latin typeface="Aptos" panose="020B0004020202020204" pitchFamily="34" charset="0"/>
              </a:rPr>
              <a:t>Enterprise Reconciliation Platform | Principal Engineer / Architect Assessment</a:t>
            </a:r>
          </a:p>
        </p:txBody>
      </p:sp>
      <p:sp>
        <p:nvSpPr>
          <p:cNvPr id="10" name="codex_template_slide_number">
            <a:extLst>
              <a:ext uri="{FF2B5EF4-FFF2-40B4-BE49-F238E27FC236}">
                <a16:creationId xmlns:a16="http://schemas.microsoft.com/office/drawing/2014/main" id="{7DBD281F-8F0F-DDD6-FAC1-26CE67CF2CE8}"/>
              </a:ext>
            </a:extLst>
          </p:cNvPr>
          <p:cNvSpPr txBox="1"/>
          <p:nvPr/>
        </p:nvSpPr>
        <p:spPr>
          <a:xfrm>
            <a:off x="11557000" y="6553200"/>
            <a:ext cx="355600" cy="215444"/>
          </a:xfrm>
          <a:prstGeom prst="rect">
            <a:avLst/>
          </a:prstGeom>
          <a:noFill/>
        </p:spPr>
        <p:txBody>
          <a:bodyPr vert="horz" rtlCol="0">
            <a:spAutoFit/>
          </a:bodyPr>
          <a:lstStyle/>
          <a:p>
            <a:r>
              <a:rPr lang="en-US" sz="800">
                <a:solidFill>
                  <a:srgbClr val="566982"/>
                </a:solidFill>
                <a:latin typeface="Aptos" panose="020B0004020202020204" pitchFamily="34" charset="0"/>
              </a:rPr>
              <a:t>5</a:t>
            </a:r>
          </a:p>
        </p:txBody>
      </p:sp>
      <p:cxnSp>
        <p:nvCxnSpPr>
          <p:cNvPr id="11" name="codex_template_title_rule">
            <a:extLst>
              <a:ext uri="{FF2B5EF4-FFF2-40B4-BE49-F238E27FC236}">
                <a16:creationId xmlns:a16="http://schemas.microsoft.com/office/drawing/2014/main" id="{CE115411-2256-8C0F-12F8-9CF0AB00845A}"/>
              </a:ext>
            </a:extLst>
          </p:cNvPr>
          <p:cNvCxnSpPr/>
          <p:nvPr/>
        </p:nvCxnSpPr>
        <p:spPr>
          <a:xfrm>
            <a:off x="812800" y="1143239"/>
            <a:ext cx="4648200" cy="0"/>
          </a:xfrm>
          <a:prstGeom prst="line">
            <a:avLst/>
          </a:prstGeom>
          <a:ln w="27940">
            <a:solidFill>
              <a:srgbClr val="00A9E0"/>
            </a:solidFill>
          </a:ln>
        </p:spPr>
        <p:style>
          <a:lnRef idx="1">
            <a:schemeClr val="accent1"/>
          </a:lnRef>
          <a:fillRef idx="0">
            <a:schemeClr val="accent1"/>
          </a:fillRef>
          <a:effectRef idx="0">
            <a:schemeClr val="accent1"/>
          </a:effectRef>
          <a:fontRef idx="minor">
            <a:schemeClr val="tx1"/>
          </a:fontRef>
        </p:style>
      </p:cxnSp>
      <p:sp>
        <p:nvSpPr>
          <p:cNvPr id="12" name="AutoShape 3">
            <a:extLst>
              <a:ext uri="{FF2B5EF4-FFF2-40B4-BE49-F238E27FC236}">
                <a16:creationId xmlns:a16="http://schemas.microsoft.com/office/drawing/2014/main" id="{79254302-A816-57FF-D4A2-874440E1D8CC}"/>
              </a:ext>
            </a:extLst>
          </p:cNvPr>
          <p:cNvSpPr/>
          <p:nvPr/>
        </p:nvSpPr>
        <p:spPr>
          <a:xfrm>
            <a:off x="9122038" y="2095029"/>
            <a:ext cx="2821021" cy="4331170"/>
          </a:xfrm>
          <a:prstGeom prst="rect">
            <a:avLst/>
          </a:prstGeom>
          <a:noFill/>
          <a:ln w="15875" cap="flat" cmpd="sng">
            <a:solidFill>
              <a:srgbClr val="D6E8F6"/>
            </a:solidFill>
            <a:prstDash val="solid"/>
            <a:round/>
          </a:ln>
          <a:effectLst>
            <a:outerShdw blurRad="63500" dist="28398" dir="3806086" rotWithShape="0">
              <a:srgbClr val="B9CCE0">
                <a:alpha val="22000"/>
              </a:srgbClr>
            </a:outerShdw>
          </a:effectLst>
        </p:spPr>
        <p:txBody>
          <a:bodyPr vert="horz" wrap="square" lIns="101600" tIns="63500" rIns="101600" bIns="63500" rtlCol="0" anchor="t" anchorCtr="0">
            <a:normAutofit/>
          </a:bodyPr>
          <a:lstStyle/>
          <a:p>
            <a:pPr marL="457200" indent="-171450">
              <a:lnSpc>
                <a:spcPct val="135000"/>
              </a:lnSpc>
              <a:buFont typeface="Arial" panose="020B0604020202020204" pitchFamily="34" charset="0"/>
              <a:buChar char="•"/>
              <a:defRPr/>
            </a:pPr>
            <a:r>
              <a:rPr lang="en-US" sz="1100" dirty="0">
                <a:solidFill>
                  <a:srgbClr val="566982"/>
                </a:solidFill>
                <a:latin typeface="Aptos" panose="020B0004020202020204" pitchFamily="34" charset="0"/>
              </a:rPr>
              <a:t>AWS EKS runs the producer, consumer, and dashboard services as scalable Kubernetes deployments.</a:t>
            </a:r>
          </a:p>
          <a:p>
            <a:pPr marL="457200" indent="-171450">
              <a:lnSpc>
                <a:spcPct val="135000"/>
              </a:lnSpc>
              <a:buFont typeface="Arial" panose="020B0604020202020204" pitchFamily="34" charset="0"/>
              <a:buChar char="•"/>
              <a:defRPr/>
            </a:pPr>
            <a:endParaRPr lang="en-US" sz="1100" dirty="0">
              <a:solidFill>
                <a:srgbClr val="566982"/>
              </a:solidFill>
              <a:latin typeface="Aptos" panose="020B0004020202020204" pitchFamily="34" charset="0"/>
            </a:endParaRPr>
          </a:p>
          <a:p>
            <a:pPr marL="457200" indent="-171450">
              <a:lnSpc>
                <a:spcPct val="135000"/>
              </a:lnSpc>
              <a:buFont typeface="Arial" panose="020B0604020202020204" pitchFamily="34" charset="0"/>
              <a:buChar char="•"/>
              <a:defRPr/>
            </a:pPr>
            <a:r>
              <a:rPr lang="en-US" sz="1100" dirty="0">
                <a:solidFill>
                  <a:srgbClr val="566982"/>
                </a:solidFill>
                <a:latin typeface="Aptos" panose="020B0004020202020204" pitchFamily="34" charset="0"/>
              </a:rPr>
              <a:t>IBM MQ and PostgreSQL provide reliable messaging and durable reconciliation storage with persistent volumes/backups.</a:t>
            </a:r>
          </a:p>
          <a:p>
            <a:pPr marL="457200" indent="-171450">
              <a:lnSpc>
                <a:spcPct val="135000"/>
              </a:lnSpc>
              <a:buFont typeface="Arial" panose="020B0604020202020204" pitchFamily="34" charset="0"/>
              <a:buChar char="•"/>
              <a:defRPr/>
            </a:pPr>
            <a:endParaRPr lang="en-US" sz="1100" dirty="0">
              <a:solidFill>
                <a:srgbClr val="566982"/>
              </a:solidFill>
              <a:latin typeface="Aptos" panose="020B0004020202020204" pitchFamily="34" charset="0"/>
            </a:endParaRPr>
          </a:p>
          <a:p>
            <a:pPr marL="457200" indent="-171450">
              <a:lnSpc>
                <a:spcPct val="135000"/>
              </a:lnSpc>
              <a:buFont typeface="Arial" panose="020B0604020202020204" pitchFamily="34" charset="0"/>
              <a:buChar char="•"/>
              <a:defRPr/>
            </a:pPr>
            <a:r>
              <a:rPr lang="en-US" sz="1100" dirty="0">
                <a:solidFill>
                  <a:srgbClr val="566982"/>
                </a:solidFill>
                <a:latin typeface="Aptos" panose="020B0004020202020204" pitchFamily="34" charset="0"/>
              </a:rPr>
              <a:t>AWS Secrets Manager, IAM roles, security groups, and observability tools secure and monitor the platform end to end.</a:t>
            </a:r>
          </a:p>
        </p:txBody>
      </p:sp>
    </p:spTree>
    <p:extLst>
      <p:ext uri="{BB962C8B-B14F-4D97-AF65-F5344CB8AC3E}">
        <p14:creationId xmlns:p14="http://schemas.microsoft.com/office/powerpoint/2010/main" val="11178098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codex_template_right_wash">
            <a:extLst>
              <a:ext uri="{FF2B5EF4-FFF2-40B4-BE49-F238E27FC236}">
                <a16:creationId xmlns:a16="http://schemas.microsoft.com/office/drawing/2014/main" id="{938D850B-BBCB-4507-02DF-08DF3EA567A9}"/>
              </a:ext>
            </a:extLst>
          </p:cNvPr>
          <p:cNvSpPr/>
          <p:nvPr/>
        </p:nvSpPr>
        <p:spPr>
          <a:xfrm>
            <a:off x="9509760" y="0"/>
            <a:ext cx="2682240" cy="6858000"/>
          </a:xfrm>
          <a:prstGeom prst="rect">
            <a:avLst/>
          </a:prstGeom>
          <a:solidFill>
            <a:srgbClr val="E7F6FF">
              <a:alpha val="92000"/>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odex_template_header_band">
            <a:extLst>
              <a:ext uri="{FF2B5EF4-FFF2-40B4-BE49-F238E27FC236}">
                <a16:creationId xmlns:a16="http://schemas.microsoft.com/office/drawing/2014/main" id="{A2EA9034-7171-6AC2-CEBA-6648F7945534}"/>
              </a:ext>
            </a:extLst>
          </p:cNvPr>
          <p:cNvSpPr/>
          <p:nvPr/>
        </p:nvSpPr>
        <p:spPr>
          <a:xfrm>
            <a:off x="0" y="0"/>
            <a:ext cx="12192000" cy="812800"/>
          </a:xfrm>
          <a:prstGeom prst="rect">
            <a:avLst/>
          </a:prstGeom>
          <a:solidFill>
            <a:srgbClr val="ECF7FF">
              <a:alpha val="95000"/>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dex_template_background">
            <a:extLst>
              <a:ext uri="{FF2B5EF4-FFF2-40B4-BE49-F238E27FC236}">
                <a16:creationId xmlns:a16="http://schemas.microsoft.com/office/drawing/2014/main" id="{445B3358-FE74-499A-8EAC-E4574DF067BE}"/>
              </a:ext>
            </a:extLst>
          </p:cNvPr>
          <p:cNvSpPr/>
          <p:nvPr/>
        </p:nvSpPr>
        <p:spPr>
          <a:xfrm>
            <a:off x="0" y="0"/>
            <a:ext cx="12192000" cy="6858000"/>
          </a:xfrm>
          <a:prstGeom prst="rect">
            <a:avLst/>
          </a:prstGeom>
          <a:solidFill>
            <a:srgbClr val="F8FBF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6D8D296-3529-F8C2-F77A-99AF9FF22BC7}"/>
              </a:ext>
            </a:extLst>
          </p:cNvPr>
          <p:cNvSpPr txBox="1"/>
          <p:nvPr/>
        </p:nvSpPr>
        <p:spPr>
          <a:xfrm>
            <a:off x="812800" y="571229"/>
            <a:ext cx="10414000" cy="533400"/>
          </a:xfrm>
          <a:prstGeom prst="rect">
            <a:avLst/>
          </a:prstGeom>
          <a:solidFill>
            <a:scrgbClr r="0" g="0" b="0">
              <a:alpha val="0"/>
            </a:scrgbClr>
          </a:solidFill>
          <a:ln w="15875">
            <a:noFill/>
          </a:ln>
          <a:effectLst/>
        </p:spPr>
        <p:txBody>
          <a:bodyPr vert="horz" wrap="square" lIns="0" tIns="0" rIns="0" bIns="0" rtlCol="0">
            <a:noAutofit/>
          </a:bodyPr>
          <a:lstStyle/>
          <a:p>
            <a:r>
              <a:rPr lang="en-US" sz="2800" b="1" dirty="0">
                <a:solidFill>
                  <a:srgbClr val="142D4E"/>
                </a:solidFill>
                <a:latin typeface="Aptos Display" panose="020B0004020202020204" pitchFamily="34" charset="0"/>
              </a:rPr>
              <a:t>End-to-End Message Flow</a:t>
            </a:r>
          </a:p>
        </p:txBody>
      </p:sp>
      <p:sp>
        <p:nvSpPr>
          <p:cNvPr id="14" name="Rectangle: Rounded Corners 13">
            <a:extLst>
              <a:ext uri="{FF2B5EF4-FFF2-40B4-BE49-F238E27FC236}">
                <a16:creationId xmlns:a16="http://schemas.microsoft.com/office/drawing/2014/main" id="{4CCF5B9A-2BF4-4142-9A41-618E6840680D}"/>
              </a:ext>
            </a:extLst>
          </p:cNvPr>
          <p:cNvSpPr/>
          <p:nvPr/>
        </p:nvSpPr>
        <p:spPr>
          <a:xfrm>
            <a:off x="571500" y="2159000"/>
            <a:ext cx="1841500" cy="1117600"/>
          </a:xfrm>
          <a:prstGeom prst="roundRect">
            <a:avLst/>
          </a:prstGeom>
          <a:solidFill>
            <a:srgbClr val="E2F1FF"/>
          </a:solidFill>
          <a:ln w="20320" cap="flat" cmpd="sng" algn="ctr">
            <a:noFill/>
            <a:prstDash val="solid"/>
          </a:ln>
          <a:effectLst>
            <a:outerShdw blurRad="63500" dist="28398" dir="3806086" rotWithShape="0">
              <a:srgbClr val="B9CCE0">
                <a:alpha val="22000"/>
              </a:srgbClr>
            </a:outerShdw>
          </a:effectLst>
          <a:extLst>
            <a:ext uri="{91240B29-F687-4F45-9708-019B960494DF}">
              <a14:hiddenLine xmlns:a14="http://schemas.microsoft.com/office/drawing/2010/main" w="15875" cap="flat" cmpd="sng" algn="ctr">
                <a:solidFill>
                  <a:srgbClr val="0076D2"/>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ctr">
            <a:normAutofit/>
          </a:bodyPr>
          <a:lstStyle/>
          <a:p>
            <a:pPr algn="ctr"/>
            <a:r>
              <a:rPr lang="en-US" sz="1300" b="1">
                <a:solidFill>
                  <a:srgbClr val="566982"/>
                </a:solidFill>
                <a:latin typeface="Aptos" panose="020B0004020202020204" pitchFamily="34" charset="0"/>
              </a:rPr>
              <a:t>Producer</a:t>
            </a:r>
          </a:p>
          <a:p>
            <a:pPr algn="ctr"/>
            <a:r>
              <a:rPr lang="en-US" sz="1300" b="1">
                <a:solidFill>
                  <a:srgbClr val="566982"/>
                </a:solidFill>
                <a:latin typeface="Aptos" panose="020B0004020202020204" pitchFamily="34" charset="0"/>
              </a:rPr>
              <a:t>Java 17</a:t>
            </a:r>
          </a:p>
          <a:p>
            <a:pPr algn="ctr"/>
            <a:r>
              <a:rPr lang="en-US" sz="1300" b="1">
                <a:solidFill>
                  <a:srgbClr val="566982"/>
                </a:solidFill>
                <a:latin typeface="Aptos" panose="020B0004020202020204" pitchFamily="34" charset="0"/>
              </a:rPr>
              <a:t>Random transactions</a:t>
            </a:r>
          </a:p>
        </p:txBody>
      </p:sp>
      <p:sp>
        <p:nvSpPr>
          <p:cNvPr id="15" name="Rectangle: Rounded Corners 14">
            <a:extLst>
              <a:ext uri="{FF2B5EF4-FFF2-40B4-BE49-F238E27FC236}">
                <a16:creationId xmlns:a16="http://schemas.microsoft.com/office/drawing/2014/main" id="{D3F54D78-350F-B0FB-734B-05C35FB156DF}"/>
              </a:ext>
            </a:extLst>
          </p:cNvPr>
          <p:cNvSpPr/>
          <p:nvPr/>
        </p:nvSpPr>
        <p:spPr>
          <a:xfrm>
            <a:off x="2984500" y="2006600"/>
            <a:ext cx="1905000" cy="1498600"/>
          </a:xfrm>
          <a:prstGeom prst="roundRect">
            <a:avLst/>
          </a:prstGeom>
          <a:solidFill>
            <a:srgbClr val="FFF2DD"/>
          </a:solidFill>
          <a:ln w="20320" cap="flat" cmpd="sng" algn="ctr">
            <a:noFill/>
            <a:prstDash val="solid"/>
          </a:ln>
          <a:effectLst>
            <a:outerShdw blurRad="63500" dist="28398" dir="3806086" rotWithShape="0">
              <a:srgbClr val="B9CCE0">
                <a:alpha val="22000"/>
              </a:srgbClr>
            </a:outerShdw>
          </a:effectLst>
          <a:extLst>
            <a:ext uri="{91240B29-F687-4F45-9708-019B960494DF}">
              <a14:hiddenLine xmlns:a14="http://schemas.microsoft.com/office/drawing/2010/main" w="15875" cap="flat" cmpd="sng" algn="ctr">
                <a:solidFill>
                  <a:srgbClr val="EE9726"/>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ctr">
            <a:normAutofit/>
          </a:bodyPr>
          <a:lstStyle/>
          <a:p>
            <a:pPr algn="ctr"/>
            <a:r>
              <a:rPr lang="fr-FR" sz="1300" b="1">
                <a:solidFill>
                  <a:srgbClr val="566982"/>
                </a:solidFill>
                <a:latin typeface="Aptos" panose="020B0004020202020204" pitchFamily="34" charset="0"/>
              </a:rPr>
              <a:t>IBM MQ</a:t>
            </a:r>
          </a:p>
          <a:p>
            <a:pPr algn="ctr"/>
            <a:r>
              <a:rPr lang="fr-FR" sz="1300" b="1">
                <a:solidFill>
                  <a:srgbClr val="566982"/>
                </a:solidFill>
                <a:latin typeface="Aptos" panose="020B0004020202020204" pitchFamily="34" charset="0"/>
              </a:rPr>
              <a:t>RECON.IN</a:t>
            </a:r>
          </a:p>
          <a:p>
            <a:pPr algn="ctr"/>
            <a:r>
              <a:rPr lang="fr-FR" sz="1300" b="1">
                <a:solidFill>
                  <a:srgbClr val="566982"/>
                </a:solidFill>
                <a:latin typeface="Aptos" panose="020B0004020202020204" pitchFamily="34" charset="0"/>
              </a:rPr>
              <a:t>Persistent message</a:t>
            </a:r>
            <a:endParaRPr lang="en-US" sz="1300" b="1">
              <a:solidFill>
                <a:srgbClr val="566982"/>
              </a:solidFill>
              <a:latin typeface="Aptos" panose="020B0004020202020204" pitchFamily="34" charset="0"/>
            </a:endParaRPr>
          </a:p>
        </p:txBody>
      </p:sp>
      <p:sp>
        <p:nvSpPr>
          <p:cNvPr id="16" name="Rectangle: Rounded Corners 15">
            <a:extLst>
              <a:ext uri="{FF2B5EF4-FFF2-40B4-BE49-F238E27FC236}">
                <a16:creationId xmlns:a16="http://schemas.microsoft.com/office/drawing/2014/main" id="{339A2ACB-9B13-10C8-76B1-8387CDE9001B}"/>
              </a:ext>
            </a:extLst>
          </p:cNvPr>
          <p:cNvSpPr/>
          <p:nvPr/>
        </p:nvSpPr>
        <p:spPr>
          <a:xfrm>
            <a:off x="5461000" y="2159000"/>
            <a:ext cx="2032000" cy="1117600"/>
          </a:xfrm>
          <a:prstGeom prst="roundRect">
            <a:avLst/>
          </a:prstGeom>
          <a:solidFill>
            <a:srgbClr val="E1F8F4"/>
          </a:solidFill>
          <a:ln w="20320" cap="flat" cmpd="sng" algn="ctr">
            <a:noFill/>
            <a:prstDash val="solid"/>
          </a:ln>
          <a:effectLst>
            <a:outerShdw blurRad="63500" dist="28398" dir="3806086" rotWithShape="0">
              <a:srgbClr val="B9CCE0">
                <a:alpha val="22000"/>
              </a:srgbClr>
            </a:outerShdw>
          </a:effectLst>
          <a:extLst>
            <a:ext uri="{91240B29-F687-4F45-9708-019B960494DF}">
              <a14:hiddenLine xmlns:a14="http://schemas.microsoft.com/office/drawing/2010/main" w="15875" cap="flat" cmpd="sng" algn="ctr">
                <a:solidFill>
                  <a:srgbClr val="00998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ctr">
            <a:normAutofit/>
          </a:bodyPr>
          <a:lstStyle/>
          <a:p>
            <a:pPr algn="ctr"/>
            <a:r>
              <a:rPr lang="en-US" sz="1300" b="1">
                <a:solidFill>
                  <a:srgbClr val="566982"/>
                </a:solidFill>
                <a:latin typeface="Aptos" panose="020B0004020202020204" pitchFamily="34" charset="0"/>
              </a:rPr>
              <a:t>Consumer</a:t>
            </a:r>
          </a:p>
          <a:p>
            <a:pPr algn="ctr"/>
            <a:r>
              <a:rPr lang="en-US" sz="1300" b="1">
                <a:solidFill>
                  <a:srgbClr val="566982"/>
                </a:solidFill>
                <a:latin typeface="Aptos" panose="020B0004020202020204" pitchFamily="34" charset="0"/>
              </a:rPr>
              <a:t>Concurrent JMS</a:t>
            </a:r>
          </a:p>
          <a:p>
            <a:pPr algn="ctr"/>
            <a:r>
              <a:rPr lang="en-US" sz="1300" b="1">
                <a:solidFill>
                  <a:srgbClr val="566982"/>
                </a:solidFill>
                <a:latin typeface="Aptos" panose="020B0004020202020204" pitchFamily="34" charset="0"/>
              </a:rPr>
              <a:t>Reconcile</a:t>
            </a:r>
          </a:p>
        </p:txBody>
      </p:sp>
      <p:sp>
        <p:nvSpPr>
          <p:cNvPr id="17" name="Rectangle: Rounded Corners 16">
            <a:extLst>
              <a:ext uri="{FF2B5EF4-FFF2-40B4-BE49-F238E27FC236}">
                <a16:creationId xmlns:a16="http://schemas.microsoft.com/office/drawing/2014/main" id="{29FC7821-9640-8593-F2FE-40E6D942797C}"/>
              </a:ext>
            </a:extLst>
          </p:cNvPr>
          <p:cNvSpPr/>
          <p:nvPr/>
        </p:nvSpPr>
        <p:spPr>
          <a:xfrm>
            <a:off x="8255000" y="2006600"/>
            <a:ext cx="2159000" cy="1498600"/>
          </a:xfrm>
          <a:prstGeom prst="roundRect">
            <a:avLst/>
          </a:prstGeom>
          <a:solidFill>
            <a:srgbClr val="EFEBFF"/>
          </a:solidFill>
          <a:ln w="20320" cap="flat" cmpd="sng" algn="ctr">
            <a:noFill/>
            <a:prstDash val="solid"/>
          </a:ln>
          <a:effectLst>
            <a:outerShdw blurRad="63500" dist="28398" dir="3806086" rotWithShape="0">
              <a:srgbClr val="B9CCE0">
                <a:alpha val="22000"/>
              </a:srgbClr>
            </a:outerShdw>
          </a:effectLst>
          <a:extLst>
            <a:ext uri="{91240B29-F687-4F45-9708-019B960494DF}">
              <a14:hiddenLine xmlns:a14="http://schemas.microsoft.com/office/drawing/2010/main" w="15875" cap="flat" cmpd="sng" algn="ctr">
                <a:solidFill>
                  <a:srgbClr val="705EC6"/>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ctr">
            <a:normAutofit/>
          </a:bodyPr>
          <a:lstStyle/>
          <a:p>
            <a:pPr algn="ctr"/>
            <a:r>
              <a:rPr lang="fr-FR" sz="1300" b="1">
                <a:solidFill>
                  <a:srgbClr val="566982"/>
                </a:solidFill>
                <a:latin typeface="Aptos" panose="020B0004020202020204" pitchFamily="34" charset="0"/>
              </a:rPr>
              <a:t>PostgreSQL</a:t>
            </a:r>
          </a:p>
          <a:p>
            <a:pPr algn="ctr"/>
            <a:r>
              <a:rPr lang="fr-FR" sz="1300" b="1">
                <a:solidFill>
                  <a:srgbClr val="566982"/>
                </a:solidFill>
                <a:latin typeface="Aptos" panose="020B0004020202020204" pitchFamily="34" charset="0"/>
              </a:rPr>
              <a:t>reconciliation_record</a:t>
            </a:r>
          </a:p>
          <a:p>
            <a:pPr algn="ctr"/>
            <a:r>
              <a:rPr lang="fr-FR" sz="1300" b="1">
                <a:solidFill>
                  <a:srgbClr val="566982"/>
                </a:solidFill>
                <a:latin typeface="Aptos" panose="020B0004020202020204" pitchFamily="34" charset="0"/>
              </a:rPr>
              <a:t>Status + audit</a:t>
            </a:r>
            <a:endParaRPr lang="en-US" sz="1300" b="1">
              <a:solidFill>
                <a:srgbClr val="566982"/>
              </a:solidFill>
              <a:latin typeface="Aptos" panose="020B0004020202020204" pitchFamily="34" charset="0"/>
            </a:endParaRPr>
          </a:p>
        </p:txBody>
      </p:sp>
      <p:sp>
        <p:nvSpPr>
          <p:cNvPr id="18" name="Rectangle: Rounded Corners 17">
            <a:extLst>
              <a:ext uri="{FF2B5EF4-FFF2-40B4-BE49-F238E27FC236}">
                <a16:creationId xmlns:a16="http://schemas.microsoft.com/office/drawing/2014/main" id="{0114FF1E-55B6-4BAE-B774-B0594B5B7D33}"/>
              </a:ext>
            </a:extLst>
          </p:cNvPr>
          <p:cNvSpPr/>
          <p:nvPr/>
        </p:nvSpPr>
        <p:spPr>
          <a:xfrm>
            <a:off x="5461000" y="4191000"/>
            <a:ext cx="2032000" cy="1143000"/>
          </a:xfrm>
          <a:prstGeom prst="roundRect">
            <a:avLst/>
          </a:prstGeom>
          <a:solidFill>
            <a:srgbClr val="F7FAFD"/>
          </a:solidFill>
          <a:ln w="20320" cap="flat" cmpd="sng" algn="ctr">
            <a:noFill/>
            <a:prstDash val="solid"/>
          </a:ln>
          <a:effectLst>
            <a:outerShdw blurRad="63500" dist="28398" dir="3806086" rotWithShape="0">
              <a:srgbClr val="B9CCE0">
                <a:alpha val="22000"/>
              </a:srgbClr>
            </a:outerShdw>
          </a:effectLst>
          <a:extLst>
            <a:ext uri="{91240B29-F687-4F45-9708-019B960494DF}">
              <a14:hiddenLine xmlns:a14="http://schemas.microsoft.com/office/drawing/2010/main" w="15875" cap="flat" cmpd="sng" algn="ctr">
                <a:solidFill>
                  <a:srgbClr val="5B6E86"/>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ctr">
            <a:normAutofit/>
          </a:bodyPr>
          <a:lstStyle/>
          <a:p>
            <a:pPr algn="ctr"/>
            <a:r>
              <a:rPr lang="en-US" sz="1300" b="1">
                <a:solidFill>
                  <a:srgbClr val="566982"/>
                </a:solidFill>
                <a:latin typeface="Aptos" panose="020B0004020202020204" pitchFamily="34" charset="0"/>
              </a:rPr>
              <a:t>Dashboard API</a:t>
            </a:r>
          </a:p>
          <a:p>
            <a:pPr algn="ctr"/>
            <a:r>
              <a:rPr lang="en-US" sz="1300" b="1">
                <a:solidFill>
                  <a:srgbClr val="566982"/>
                </a:solidFill>
                <a:latin typeface="Aptos" panose="020B0004020202020204" pitchFamily="34" charset="0"/>
              </a:rPr>
              <a:t>Status / failed</a:t>
            </a:r>
          </a:p>
          <a:p>
            <a:pPr algn="ctr"/>
            <a:r>
              <a:rPr lang="en-US" sz="1300" b="1">
                <a:solidFill>
                  <a:srgbClr val="566982"/>
                </a:solidFill>
                <a:latin typeface="Aptos" panose="020B0004020202020204" pitchFamily="34" charset="0"/>
              </a:rPr>
              <a:t>Queue / replay</a:t>
            </a:r>
          </a:p>
        </p:txBody>
      </p:sp>
      <p:sp>
        <p:nvSpPr>
          <p:cNvPr id="19" name="Rectangle: Rounded Corners 18">
            <a:extLst>
              <a:ext uri="{FF2B5EF4-FFF2-40B4-BE49-F238E27FC236}">
                <a16:creationId xmlns:a16="http://schemas.microsoft.com/office/drawing/2014/main" id="{1BB3F8C7-E085-86E2-3284-72D6431A46FC}"/>
              </a:ext>
            </a:extLst>
          </p:cNvPr>
          <p:cNvSpPr/>
          <p:nvPr/>
        </p:nvSpPr>
        <p:spPr>
          <a:xfrm>
            <a:off x="2984500" y="4191000"/>
            <a:ext cx="1905000" cy="1143000"/>
          </a:xfrm>
          <a:prstGeom prst="roundRect">
            <a:avLst/>
          </a:prstGeom>
          <a:solidFill>
            <a:srgbClr val="FFE8E8"/>
          </a:solidFill>
          <a:ln w="20320" cap="flat" cmpd="sng" algn="ctr">
            <a:noFill/>
            <a:prstDash val="solid"/>
          </a:ln>
          <a:effectLst>
            <a:outerShdw blurRad="63500" dist="28398" dir="3806086" rotWithShape="0">
              <a:srgbClr val="B9CCE0">
                <a:alpha val="22000"/>
              </a:srgbClr>
            </a:outerShdw>
          </a:effectLst>
          <a:extLst>
            <a:ext uri="{91240B29-F687-4F45-9708-019B960494DF}">
              <a14:hiddenLine xmlns:a14="http://schemas.microsoft.com/office/drawing/2010/main" w="15875" cap="flat" cmpd="sng" algn="ctr">
                <a:solidFill>
                  <a:srgbClr val="D54F4F"/>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ctr">
            <a:normAutofit/>
          </a:bodyPr>
          <a:lstStyle/>
          <a:p>
            <a:pPr algn="ctr"/>
            <a:r>
              <a:rPr lang="en-US" sz="1300" b="1">
                <a:solidFill>
                  <a:srgbClr val="566982"/>
                </a:solidFill>
                <a:latin typeface="Aptos" panose="020B0004020202020204" pitchFamily="34" charset="0"/>
              </a:rPr>
              <a:t>Retry / Backout</a:t>
            </a:r>
          </a:p>
          <a:p>
            <a:pPr algn="ctr"/>
            <a:r>
              <a:rPr lang="en-US" sz="1300" b="1">
                <a:solidFill>
                  <a:srgbClr val="566982"/>
                </a:solidFill>
                <a:latin typeface="Aptos" panose="020B0004020202020204" pitchFamily="34" charset="0"/>
              </a:rPr>
              <a:t>DLQ paths</a:t>
            </a:r>
          </a:p>
          <a:p>
            <a:pPr algn="ctr"/>
            <a:r>
              <a:rPr lang="en-US" sz="1300" b="1">
                <a:solidFill>
                  <a:srgbClr val="566982"/>
                </a:solidFill>
                <a:latin typeface="Aptos" panose="020B0004020202020204" pitchFamily="34" charset="0"/>
              </a:rPr>
              <a:t>Replay support</a:t>
            </a:r>
          </a:p>
        </p:txBody>
      </p:sp>
      <p:cxnSp>
        <p:nvCxnSpPr>
          <p:cNvPr id="20" name="Straight Connector 19">
            <a:extLst>
              <a:ext uri="{FF2B5EF4-FFF2-40B4-BE49-F238E27FC236}">
                <a16:creationId xmlns:a16="http://schemas.microsoft.com/office/drawing/2014/main" id="{F00A52CB-612A-CA73-BF1E-42410CC1F23A}"/>
              </a:ext>
            </a:extLst>
          </p:cNvPr>
          <p:cNvCxnSpPr/>
          <p:nvPr/>
        </p:nvCxnSpPr>
        <p:spPr>
          <a:xfrm>
            <a:off x="2413000" y="2717800"/>
            <a:ext cx="571500" cy="0"/>
          </a:xfrm>
          <a:prstGeom prst="line">
            <a:avLst/>
          </a:prstGeom>
          <a:ln w="22860">
            <a:solidFill>
              <a:srgbClr val="0076D2"/>
            </a:solidFill>
            <a:tailEnd type="arrow"/>
          </a:ln>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EE2D3916-4F1E-BECE-6119-DDF9FD8DD50C}"/>
              </a:ext>
            </a:extLst>
          </p:cNvPr>
          <p:cNvCxnSpPr/>
          <p:nvPr/>
        </p:nvCxnSpPr>
        <p:spPr>
          <a:xfrm>
            <a:off x="4889500" y="2717800"/>
            <a:ext cx="571500" cy="0"/>
          </a:xfrm>
          <a:prstGeom prst="line">
            <a:avLst/>
          </a:prstGeom>
          <a:ln w="22860">
            <a:solidFill>
              <a:srgbClr val="009988"/>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7964E2EF-98A7-5AAD-A919-8AE9DB0DD95E}"/>
              </a:ext>
            </a:extLst>
          </p:cNvPr>
          <p:cNvCxnSpPr/>
          <p:nvPr/>
        </p:nvCxnSpPr>
        <p:spPr>
          <a:xfrm>
            <a:off x="7493000" y="2717800"/>
            <a:ext cx="762000" cy="0"/>
          </a:xfrm>
          <a:prstGeom prst="line">
            <a:avLst/>
          </a:prstGeom>
          <a:ln w="22860">
            <a:solidFill>
              <a:srgbClr val="705EC6"/>
            </a:solidFill>
            <a:tailEnd type="arrow"/>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13CDC078-8B28-30F5-8753-AAF6133CFFD4}"/>
              </a:ext>
            </a:extLst>
          </p:cNvPr>
          <p:cNvCxnSpPr/>
          <p:nvPr/>
        </p:nvCxnSpPr>
        <p:spPr>
          <a:xfrm flipV="1">
            <a:off x="6477000" y="3276600"/>
            <a:ext cx="0" cy="914400"/>
          </a:xfrm>
          <a:prstGeom prst="line">
            <a:avLst/>
          </a:prstGeom>
          <a:ln w="22860">
            <a:solidFill>
              <a:srgbClr val="5B6E86"/>
            </a:solidFill>
            <a:tailEnd type="arrow"/>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B2E5399C-AFC6-93AB-F4DA-643941ABF638}"/>
              </a:ext>
            </a:extLst>
          </p:cNvPr>
          <p:cNvCxnSpPr/>
          <p:nvPr/>
        </p:nvCxnSpPr>
        <p:spPr>
          <a:xfrm flipH="1">
            <a:off x="4889500" y="4749800"/>
            <a:ext cx="571500" cy="0"/>
          </a:xfrm>
          <a:prstGeom prst="line">
            <a:avLst/>
          </a:prstGeom>
          <a:ln w="22860">
            <a:solidFill>
              <a:srgbClr val="D54F4F"/>
            </a:solidFill>
            <a:tailEnd type="arrow"/>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F079ED0A-A276-DF9E-4F8D-9466F917944F}"/>
              </a:ext>
            </a:extLst>
          </p:cNvPr>
          <p:cNvSpPr txBox="1"/>
          <p:nvPr/>
        </p:nvSpPr>
        <p:spPr>
          <a:xfrm>
            <a:off x="812800" y="1600199"/>
            <a:ext cx="10795000" cy="431800"/>
          </a:xfrm>
          <a:prstGeom prst="rect">
            <a:avLst/>
          </a:prstGeom>
          <a:solidFill>
            <a:scrgbClr r="0" g="0" b="0">
              <a:alpha val="0"/>
            </a:scrgbClr>
          </a:solidFill>
          <a:ln w="15875">
            <a:noFill/>
          </a:ln>
          <a:effectLst/>
        </p:spPr>
        <p:txBody>
          <a:bodyPr vert="horz" wrap="square" lIns="0" tIns="0" rIns="0" bIns="0" rtlCol="0">
            <a:noAutofit/>
          </a:bodyPr>
          <a:lstStyle/>
          <a:p>
            <a:r>
              <a:rPr lang="en-US">
                <a:solidFill>
                  <a:srgbClr val="566982"/>
                </a:solidFill>
                <a:latin typeface="Aptos" panose="020B0004020202020204" pitchFamily="34" charset="0"/>
              </a:rPr>
              <a:t>The message is the contract boundary: JSON TextMessage plus JMSCorrelationID and W3C tracing headers.</a:t>
            </a:r>
          </a:p>
        </p:txBody>
      </p:sp>
      <p:sp>
        <p:nvSpPr>
          <p:cNvPr id="26" name="TextBox 25">
            <a:extLst>
              <a:ext uri="{FF2B5EF4-FFF2-40B4-BE49-F238E27FC236}">
                <a16:creationId xmlns:a16="http://schemas.microsoft.com/office/drawing/2014/main" id="{89F734B7-FB28-3BA9-BBEF-96395195D0B2}"/>
              </a:ext>
            </a:extLst>
          </p:cNvPr>
          <p:cNvSpPr txBox="1"/>
          <p:nvPr/>
        </p:nvSpPr>
        <p:spPr>
          <a:xfrm>
            <a:off x="762000" y="5333999"/>
            <a:ext cx="11112500" cy="914400"/>
          </a:xfrm>
          <a:prstGeom prst="rect">
            <a:avLst/>
          </a:prstGeom>
          <a:solidFill>
            <a:scrgbClr r="0" g="0" b="0">
              <a:alpha val="0"/>
            </a:scrgbClr>
          </a:solidFill>
          <a:ln w="15875">
            <a:solidFill>
              <a:srgbClr val="D6E8F6"/>
            </a:solidFill>
          </a:ln>
          <a:effectLst>
            <a:outerShdw blurRad="63500" dist="28398" dir="3806086" rotWithShape="0">
              <a:srgbClr val="B9CCE0">
                <a:alpha val="22000"/>
              </a:srgbClr>
            </a:outerShdw>
          </a:effectLst>
        </p:spPr>
        <p:txBody>
          <a:bodyPr vert="horz" wrap="square" lIns="101600" tIns="63500" rIns="101600" bIns="63500" rtlCol="0">
            <a:normAutofit/>
          </a:bodyPr>
          <a:lstStyle/>
          <a:p>
            <a:r>
              <a:rPr lang="en-US" sz="1300">
                <a:solidFill>
                  <a:srgbClr val="566982"/>
                </a:solidFill>
                <a:latin typeface="Aptos" panose="020B0004020202020204" pitchFamily="34" charset="0"/>
              </a:rPr>
              <a:t>- Business invalid transactions are persisted as INVALID, not silently dropped</a:t>
            </a:r>
          </a:p>
          <a:p>
            <a:r>
              <a:rPr lang="en-US" sz="1300">
                <a:solidFill>
                  <a:srgbClr val="566982"/>
                </a:solidFill>
                <a:latin typeface="Aptos" panose="020B0004020202020204" pitchFamily="34" charset="0"/>
              </a:rPr>
              <a:t>- Retryable technical failures follow retry/backout/DLQ paths</a:t>
            </a:r>
          </a:p>
          <a:p>
            <a:r>
              <a:rPr lang="en-US" sz="1300">
                <a:solidFill>
                  <a:srgbClr val="566982"/>
                </a:solidFill>
                <a:latin typeface="Aptos" panose="020B0004020202020204" pitchFamily="34" charset="0"/>
              </a:rPr>
              <a:t>- Dashboard can prove current status and replay recoverable failures</a:t>
            </a:r>
          </a:p>
        </p:txBody>
      </p:sp>
      <p:sp>
        <p:nvSpPr>
          <p:cNvPr id="30" name="codex_template_top_accent">
            <a:extLst>
              <a:ext uri="{FF2B5EF4-FFF2-40B4-BE49-F238E27FC236}">
                <a16:creationId xmlns:a16="http://schemas.microsoft.com/office/drawing/2014/main" id="{A96FA859-D83F-E56C-4D5F-7B2CA64F9BFA}"/>
              </a:ext>
            </a:extLst>
          </p:cNvPr>
          <p:cNvSpPr/>
          <p:nvPr/>
        </p:nvSpPr>
        <p:spPr>
          <a:xfrm>
            <a:off x="0" y="0"/>
            <a:ext cx="12192000" cy="88900"/>
          </a:xfrm>
          <a:prstGeom prst="rect">
            <a:avLst/>
          </a:prstGeom>
          <a:solidFill>
            <a:srgbClr val="00A9E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codex_template_footer">
            <a:extLst>
              <a:ext uri="{FF2B5EF4-FFF2-40B4-BE49-F238E27FC236}">
                <a16:creationId xmlns:a16="http://schemas.microsoft.com/office/drawing/2014/main" id="{FCCB8017-19A9-2F21-0F6C-7CA3A89B208D}"/>
              </a:ext>
            </a:extLst>
          </p:cNvPr>
          <p:cNvSpPr txBox="1"/>
          <p:nvPr/>
        </p:nvSpPr>
        <p:spPr>
          <a:xfrm>
            <a:off x="355600" y="6553200"/>
            <a:ext cx="10668000" cy="215444"/>
          </a:xfrm>
          <a:prstGeom prst="rect">
            <a:avLst/>
          </a:prstGeom>
          <a:noFill/>
        </p:spPr>
        <p:txBody>
          <a:bodyPr vert="horz" rtlCol="0">
            <a:spAutoFit/>
          </a:bodyPr>
          <a:lstStyle/>
          <a:p>
            <a:r>
              <a:rPr lang="en-US" sz="800">
                <a:solidFill>
                  <a:srgbClr val="566982"/>
                </a:solidFill>
                <a:latin typeface="Aptos" panose="020B0004020202020204" pitchFamily="34" charset="0"/>
              </a:rPr>
              <a:t>Enterprise Reconciliation Platform | Principal Engineer / Architect Assessment</a:t>
            </a:r>
          </a:p>
        </p:txBody>
      </p:sp>
      <p:sp>
        <p:nvSpPr>
          <p:cNvPr id="33" name="codex_template_slide_number">
            <a:extLst>
              <a:ext uri="{FF2B5EF4-FFF2-40B4-BE49-F238E27FC236}">
                <a16:creationId xmlns:a16="http://schemas.microsoft.com/office/drawing/2014/main" id="{26799BD8-FC68-B606-0426-20C95733C4F5}"/>
              </a:ext>
            </a:extLst>
          </p:cNvPr>
          <p:cNvSpPr txBox="1"/>
          <p:nvPr/>
        </p:nvSpPr>
        <p:spPr>
          <a:xfrm>
            <a:off x="11557000" y="6553200"/>
            <a:ext cx="355600" cy="215444"/>
          </a:xfrm>
          <a:prstGeom prst="rect">
            <a:avLst/>
          </a:prstGeom>
          <a:noFill/>
        </p:spPr>
        <p:txBody>
          <a:bodyPr vert="horz" rtlCol="0">
            <a:spAutoFit/>
          </a:bodyPr>
          <a:lstStyle/>
          <a:p>
            <a:r>
              <a:rPr lang="en-US" sz="800">
                <a:solidFill>
                  <a:srgbClr val="566982"/>
                </a:solidFill>
                <a:latin typeface="Aptos" panose="020B0004020202020204" pitchFamily="34" charset="0"/>
              </a:rPr>
              <a:t>6</a:t>
            </a:r>
          </a:p>
        </p:txBody>
      </p:sp>
      <p:cxnSp>
        <p:nvCxnSpPr>
          <p:cNvPr id="34" name="codex_template_title_rule">
            <a:extLst>
              <a:ext uri="{FF2B5EF4-FFF2-40B4-BE49-F238E27FC236}">
                <a16:creationId xmlns:a16="http://schemas.microsoft.com/office/drawing/2014/main" id="{5899E1A5-A97E-E944-E331-9AA6A23C8FAF}"/>
              </a:ext>
            </a:extLst>
          </p:cNvPr>
          <p:cNvCxnSpPr/>
          <p:nvPr/>
        </p:nvCxnSpPr>
        <p:spPr>
          <a:xfrm>
            <a:off x="812800" y="1231629"/>
            <a:ext cx="4648200" cy="0"/>
          </a:xfrm>
          <a:prstGeom prst="line">
            <a:avLst/>
          </a:prstGeom>
          <a:ln w="27940">
            <a:solidFill>
              <a:srgbClr val="00A9E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99151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codex_template_right_wash">
            <a:extLst>
              <a:ext uri="{FF2B5EF4-FFF2-40B4-BE49-F238E27FC236}">
                <a16:creationId xmlns:a16="http://schemas.microsoft.com/office/drawing/2014/main" id="{E5B8FD6D-741D-B5D8-ADE8-1B688C7B5CDF}"/>
              </a:ext>
            </a:extLst>
          </p:cNvPr>
          <p:cNvSpPr/>
          <p:nvPr/>
        </p:nvSpPr>
        <p:spPr>
          <a:xfrm>
            <a:off x="9509760" y="0"/>
            <a:ext cx="2682240" cy="6858000"/>
          </a:xfrm>
          <a:prstGeom prst="rect">
            <a:avLst/>
          </a:prstGeom>
          <a:solidFill>
            <a:srgbClr val="E7F6FF">
              <a:alpha val="92000"/>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codex_template_header_band">
            <a:extLst>
              <a:ext uri="{FF2B5EF4-FFF2-40B4-BE49-F238E27FC236}">
                <a16:creationId xmlns:a16="http://schemas.microsoft.com/office/drawing/2014/main" id="{178960AB-1AF0-83E9-74B5-EF917BD4F425}"/>
              </a:ext>
            </a:extLst>
          </p:cNvPr>
          <p:cNvSpPr/>
          <p:nvPr/>
        </p:nvSpPr>
        <p:spPr>
          <a:xfrm>
            <a:off x="0" y="0"/>
            <a:ext cx="12192000" cy="812800"/>
          </a:xfrm>
          <a:prstGeom prst="rect">
            <a:avLst/>
          </a:prstGeom>
          <a:solidFill>
            <a:srgbClr val="ECF7FF">
              <a:alpha val="95000"/>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codex_template_background">
            <a:extLst>
              <a:ext uri="{FF2B5EF4-FFF2-40B4-BE49-F238E27FC236}">
                <a16:creationId xmlns:a16="http://schemas.microsoft.com/office/drawing/2014/main" id="{F88461EC-4F7D-11A6-DA15-79F934D7857A}"/>
              </a:ext>
            </a:extLst>
          </p:cNvPr>
          <p:cNvSpPr/>
          <p:nvPr/>
        </p:nvSpPr>
        <p:spPr>
          <a:xfrm>
            <a:off x="0" y="0"/>
            <a:ext cx="12192000" cy="6858000"/>
          </a:xfrm>
          <a:prstGeom prst="rect">
            <a:avLst/>
          </a:prstGeom>
          <a:solidFill>
            <a:srgbClr val="F8FBF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809DA32-C6FF-9E30-6413-E4740134D23A}"/>
              </a:ext>
            </a:extLst>
          </p:cNvPr>
          <p:cNvSpPr txBox="1"/>
          <p:nvPr/>
        </p:nvSpPr>
        <p:spPr>
          <a:xfrm>
            <a:off x="822528" y="588488"/>
            <a:ext cx="10414000" cy="533400"/>
          </a:xfrm>
          <a:prstGeom prst="rect">
            <a:avLst/>
          </a:prstGeom>
          <a:solidFill>
            <a:scrgbClr r="0" g="0" b="0">
              <a:alpha val="0"/>
            </a:scrgbClr>
          </a:solidFill>
          <a:ln w="15875">
            <a:noFill/>
          </a:ln>
          <a:effectLst/>
        </p:spPr>
        <p:txBody>
          <a:bodyPr vert="horz" wrap="square" lIns="0" tIns="0" rIns="0" bIns="0" rtlCol="0">
            <a:noAutofit/>
          </a:bodyPr>
          <a:lstStyle/>
          <a:p>
            <a:r>
              <a:rPr lang="en-US" sz="2800" b="1" dirty="0">
                <a:solidFill>
                  <a:srgbClr val="142D4E"/>
                </a:solidFill>
                <a:latin typeface="Aptos Display" panose="020B0004020202020204" pitchFamily="34" charset="0"/>
              </a:rPr>
              <a:t>Producer Engineering Design</a:t>
            </a:r>
          </a:p>
        </p:txBody>
      </p:sp>
      <p:sp>
        <p:nvSpPr>
          <p:cNvPr id="14" name="Rectangle: Rounded Corners 13">
            <a:extLst>
              <a:ext uri="{FF2B5EF4-FFF2-40B4-BE49-F238E27FC236}">
                <a16:creationId xmlns:a16="http://schemas.microsoft.com/office/drawing/2014/main" id="{9062A608-FEFA-6538-30A1-B2B9F900FD25}"/>
              </a:ext>
            </a:extLst>
          </p:cNvPr>
          <p:cNvSpPr/>
          <p:nvPr/>
        </p:nvSpPr>
        <p:spPr>
          <a:xfrm>
            <a:off x="571500" y="2006600"/>
            <a:ext cx="5143500" cy="4572000"/>
          </a:xfrm>
          <a:prstGeom prst="roundRect">
            <a:avLst/>
          </a:prstGeom>
          <a:solidFill>
            <a:srgbClr val="E2F1FF"/>
          </a:solidFill>
          <a:ln w="15875">
            <a:solidFill>
              <a:srgbClr val="D6E8F6"/>
            </a:solidFill>
          </a:ln>
          <a:effectLst>
            <a:outerShdw blurRad="63500" dist="28398" dir="3806086" rotWithShape="0">
              <a:srgbClr val="B9CCE0">
                <a:alpha val="22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01600" tIns="76200" rIns="101600" bIns="76200" rtlCol="0" anchor="ctr"/>
          <a:lstStyle/>
          <a:p>
            <a:pPr algn="ctr"/>
            <a:endParaRPr lang="en-US" b="1" dirty="0">
              <a:solidFill>
                <a:srgbClr val="18304E"/>
              </a:solidFill>
              <a:latin typeface="Aptos" panose="020B0004020202020204" pitchFamily="34" charset="0"/>
            </a:endParaRPr>
          </a:p>
        </p:txBody>
      </p:sp>
      <p:sp>
        <p:nvSpPr>
          <p:cNvPr id="15" name="TextBox 14">
            <a:extLst>
              <a:ext uri="{FF2B5EF4-FFF2-40B4-BE49-F238E27FC236}">
                <a16:creationId xmlns:a16="http://schemas.microsoft.com/office/drawing/2014/main" id="{FBA95231-89DE-B0F2-16C4-82911202E6EF}"/>
              </a:ext>
            </a:extLst>
          </p:cNvPr>
          <p:cNvSpPr txBox="1"/>
          <p:nvPr/>
        </p:nvSpPr>
        <p:spPr>
          <a:xfrm>
            <a:off x="973171" y="2604581"/>
            <a:ext cx="4635500" cy="1877437"/>
          </a:xfrm>
          <a:prstGeom prst="rect">
            <a:avLst/>
          </a:prstGeom>
          <a:noFill/>
          <a:ln w="15875">
            <a:solidFill>
              <a:srgbClr val="D6E8F6"/>
            </a:solidFill>
          </a:ln>
          <a:effectLst>
            <a:outerShdw blurRad="63500" dist="28398" dir="3806086" rotWithShape="0">
              <a:srgbClr val="B9CCE0">
                <a:alpha val="22000"/>
              </a:srgbClr>
            </a:outerShdw>
          </a:effectLst>
        </p:spPr>
        <p:txBody>
          <a:bodyPr vert="horz" wrap="square" lIns="101600" tIns="63500" rIns="101600" bIns="63500" rtlCol="0">
            <a:normAutofit/>
          </a:bodyPr>
          <a:lstStyle/>
          <a:p>
            <a:r>
              <a:rPr lang="en-US" dirty="0">
                <a:solidFill>
                  <a:srgbClr val="566982"/>
                </a:solidFill>
                <a:latin typeface="Aptos" panose="020B0004020202020204" pitchFamily="34" charset="0"/>
              </a:rPr>
              <a:t>- Configurable TPS using PRODUCER_TPS and PRODUCER_INTERVAL_MS</a:t>
            </a:r>
          </a:p>
          <a:p>
            <a:r>
              <a:rPr lang="en-US" dirty="0">
                <a:solidFill>
                  <a:srgbClr val="566982"/>
                </a:solidFill>
                <a:latin typeface="Aptos" panose="020B0004020202020204" pitchFamily="34" charset="0"/>
              </a:rPr>
              <a:t>- Random valid and invalid transaction generation</a:t>
            </a:r>
          </a:p>
          <a:p>
            <a:r>
              <a:rPr lang="en-US" dirty="0">
                <a:solidFill>
                  <a:srgbClr val="566982"/>
                </a:solidFill>
                <a:latin typeface="Aptos" panose="020B0004020202020204" pitchFamily="34" charset="0"/>
              </a:rPr>
              <a:t>- Correlation metadata: </a:t>
            </a:r>
            <a:r>
              <a:rPr lang="en-US" dirty="0" err="1">
                <a:solidFill>
                  <a:srgbClr val="566982"/>
                </a:solidFill>
                <a:latin typeface="Aptos" panose="020B0004020202020204" pitchFamily="34" charset="0"/>
              </a:rPr>
              <a:t>correlationId</a:t>
            </a:r>
            <a:r>
              <a:rPr lang="en-US" dirty="0">
                <a:solidFill>
                  <a:srgbClr val="566982"/>
                </a:solidFill>
                <a:latin typeface="Aptos" panose="020B0004020202020204" pitchFamily="34" charset="0"/>
              </a:rPr>
              <a:t>, </a:t>
            </a:r>
            <a:r>
              <a:rPr lang="en-US" dirty="0" err="1">
                <a:solidFill>
                  <a:srgbClr val="566982"/>
                </a:solidFill>
                <a:latin typeface="Aptos" panose="020B0004020202020204" pitchFamily="34" charset="0"/>
              </a:rPr>
              <a:t>traceId</a:t>
            </a:r>
            <a:r>
              <a:rPr lang="en-US" dirty="0">
                <a:solidFill>
                  <a:srgbClr val="566982"/>
                </a:solidFill>
                <a:latin typeface="Aptos" panose="020B0004020202020204" pitchFamily="34" charset="0"/>
              </a:rPr>
              <a:t> and </a:t>
            </a:r>
            <a:r>
              <a:rPr lang="en-US" dirty="0" err="1">
                <a:solidFill>
                  <a:srgbClr val="566982"/>
                </a:solidFill>
                <a:latin typeface="Aptos" panose="020B0004020202020204" pitchFamily="34" charset="0"/>
              </a:rPr>
              <a:t>traceparent</a:t>
            </a:r>
            <a:endParaRPr lang="en-US" dirty="0">
              <a:solidFill>
                <a:srgbClr val="566982"/>
              </a:solidFill>
              <a:latin typeface="Aptos" panose="020B0004020202020204" pitchFamily="34" charset="0"/>
            </a:endParaRPr>
          </a:p>
          <a:p>
            <a:r>
              <a:rPr lang="en-US" dirty="0">
                <a:solidFill>
                  <a:srgbClr val="566982"/>
                </a:solidFill>
                <a:latin typeface="Aptos" panose="020B0004020202020204" pitchFamily="34" charset="0"/>
              </a:rPr>
              <a:t>- Backpressure guard reads queue depth before publishing</a:t>
            </a:r>
          </a:p>
          <a:p>
            <a:r>
              <a:rPr lang="en-US" dirty="0">
                <a:solidFill>
                  <a:srgbClr val="566982"/>
                </a:solidFill>
                <a:latin typeface="Aptos" panose="020B0004020202020204" pitchFamily="34" charset="0"/>
              </a:rPr>
              <a:t>- Structured logging and Micrometer counters</a:t>
            </a:r>
          </a:p>
        </p:txBody>
      </p:sp>
      <p:sp>
        <p:nvSpPr>
          <p:cNvPr id="16" name="Rectangle: Rounded Corners 15">
            <a:extLst>
              <a:ext uri="{FF2B5EF4-FFF2-40B4-BE49-F238E27FC236}">
                <a16:creationId xmlns:a16="http://schemas.microsoft.com/office/drawing/2014/main" id="{82B5A5A3-44E3-D4BF-34DD-4129361AB859}"/>
              </a:ext>
            </a:extLst>
          </p:cNvPr>
          <p:cNvSpPr/>
          <p:nvPr/>
        </p:nvSpPr>
        <p:spPr>
          <a:xfrm>
            <a:off x="6477000" y="2006600"/>
            <a:ext cx="5143500" cy="4572000"/>
          </a:xfrm>
          <a:prstGeom prst="roundRect">
            <a:avLst/>
          </a:prstGeom>
          <a:solidFill>
            <a:srgbClr val="E1F8F4"/>
          </a:solidFill>
          <a:ln w="15875">
            <a:solidFill>
              <a:srgbClr val="D6E8F6"/>
            </a:solidFill>
          </a:ln>
          <a:effectLst>
            <a:outerShdw blurRad="63500" dist="28398" dir="3806086" rotWithShape="0">
              <a:srgbClr val="B9CCE0">
                <a:alpha val="22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01600" tIns="76200" rIns="101600" bIns="76200" rtlCol="0" anchor="ctr"/>
          <a:lstStyle/>
          <a:p>
            <a:pPr algn="ctr"/>
            <a:endParaRPr lang="en-US" b="1" dirty="0">
              <a:solidFill>
                <a:srgbClr val="18304E"/>
              </a:solidFill>
              <a:latin typeface="Aptos" panose="020B0004020202020204" pitchFamily="34" charset="0"/>
            </a:endParaRPr>
          </a:p>
        </p:txBody>
      </p:sp>
      <p:sp>
        <p:nvSpPr>
          <p:cNvPr id="17" name="TextBox 16">
            <a:extLst>
              <a:ext uri="{FF2B5EF4-FFF2-40B4-BE49-F238E27FC236}">
                <a16:creationId xmlns:a16="http://schemas.microsoft.com/office/drawing/2014/main" id="{BB400ABD-3EC1-74D4-B1A4-8D2A946A27C7}"/>
              </a:ext>
            </a:extLst>
          </p:cNvPr>
          <p:cNvSpPr txBox="1"/>
          <p:nvPr/>
        </p:nvSpPr>
        <p:spPr>
          <a:xfrm>
            <a:off x="7023640" y="2506188"/>
            <a:ext cx="4635500" cy="1661993"/>
          </a:xfrm>
          <a:prstGeom prst="rect">
            <a:avLst/>
          </a:prstGeom>
          <a:noFill/>
          <a:ln w="15875">
            <a:solidFill>
              <a:srgbClr val="D6E8F6"/>
            </a:solidFill>
          </a:ln>
          <a:effectLst>
            <a:outerShdw blurRad="63500" dist="28398" dir="3806086" rotWithShape="0">
              <a:srgbClr val="B9CCE0">
                <a:alpha val="22000"/>
              </a:srgbClr>
            </a:outerShdw>
          </a:effectLst>
        </p:spPr>
        <p:txBody>
          <a:bodyPr vert="horz" wrap="square" lIns="101600" tIns="63500" rIns="101600" bIns="63500" rtlCol="0">
            <a:normAutofit/>
          </a:bodyPr>
          <a:lstStyle/>
          <a:p>
            <a:r>
              <a:rPr lang="en-US" dirty="0">
                <a:solidFill>
                  <a:srgbClr val="566982"/>
                </a:solidFill>
                <a:latin typeface="Aptos" panose="020B0004020202020204" pitchFamily="34" charset="0"/>
              </a:rPr>
              <a:t>- No secrets in source code or properties</a:t>
            </a:r>
          </a:p>
          <a:p>
            <a:r>
              <a:rPr lang="en-US" dirty="0">
                <a:solidFill>
                  <a:srgbClr val="566982"/>
                </a:solidFill>
                <a:latin typeface="Aptos" panose="020B0004020202020204" pitchFamily="34" charset="0"/>
              </a:rPr>
              <a:t>- AWS Secrets Manager loaded at startup</a:t>
            </a:r>
          </a:p>
          <a:p>
            <a:r>
              <a:rPr lang="en-US" dirty="0">
                <a:solidFill>
                  <a:srgbClr val="566982"/>
                </a:solidFill>
                <a:latin typeface="Aptos" panose="020B0004020202020204" pitchFamily="34" charset="0"/>
              </a:rPr>
              <a:t>- MQRC 2035 is logged clearly without exposing credentials</a:t>
            </a:r>
          </a:p>
          <a:p>
            <a:r>
              <a:rPr lang="en-US" dirty="0">
                <a:solidFill>
                  <a:srgbClr val="566982"/>
                </a:solidFill>
                <a:latin typeface="Aptos" panose="020B0004020202020204" pitchFamily="34" charset="0"/>
              </a:rPr>
              <a:t>- Queue-depth cap prevents uncontrolled message growth</a:t>
            </a:r>
          </a:p>
          <a:p>
            <a:r>
              <a:rPr lang="en-US" dirty="0">
                <a:solidFill>
                  <a:srgbClr val="566982"/>
                </a:solidFill>
                <a:latin typeface="Aptos" panose="020B0004020202020204" pitchFamily="34" charset="0"/>
              </a:rPr>
              <a:t>- Prometheus metric: </a:t>
            </a:r>
            <a:r>
              <a:rPr lang="en-US" dirty="0" err="1">
                <a:solidFill>
                  <a:srgbClr val="566982"/>
                </a:solidFill>
                <a:latin typeface="Aptos" panose="020B0004020202020204" pitchFamily="34" charset="0"/>
              </a:rPr>
              <a:t>recon_producer_messages_total</a:t>
            </a:r>
            <a:endParaRPr lang="en-US" dirty="0">
              <a:solidFill>
                <a:srgbClr val="566982"/>
              </a:solidFill>
              <a:latin typeface="Aptos" panose="020B0004020202020204" pitchFamily="34" charset="0"/>
            </a:endParaRPr>
          </a:p>
        </p:txBody>
      </p:sp>
      <p:sp>
        <p:nvSpPr>
          <p:cNvPr id="21" name="TextBox 20">
            <a:extLst>
              <a:ext uri="{FF2B5EF4-FFF2-40B4-BE49-F238E27FC236}">
                <a16:creationId xmlns:a16="http://schemas.microsoft.com/office/drawing/2014/main" id="{15E868E8-DA43-F3B8-E874-6CF54A3A77AF}"/>
              </a:ext>
            </a:extLst>
          </p:cNvPr>
          <p:cNvSpPr txBox="1"/>
          <p:nvPr/>
        </p:nvSpPr>
        <p:spPr>
          <a:xfrm>
            <a:off x="7839358" y="2006600"/>
            <a:ext cx="2528381" cy="374461"/>
          </a:xfrm>
          <a:prstGeom prst="rect">
            <a:avLst/>
          </a:prstGeom>
          <a:noFill/>
          <a:ln w="15875">
            <a:solidFill>
              <a:srgbClr val="D6E8F6"/>
            </a:solidFill>
          </a:ln>
          <a:effectLst>
            <a:outerShdw blurRad="63500" dist="28398" dir="3806086" rotWithShape="0">
              <a:srgbClr val="B9CCE0">
                <a:alpha val="22000"/>
              </a:srgbClr>
            </a:outerShdw>
          </a:effectLst>
        </p:spPr>
        <p:txBody>
          <a:bodyPr wrap="square" lIns="101600" tIns="63500" rIns="101600" bIns="63500" rtlCol="0">
            <a:normAutofit/>
          </a:bodyPr>
          <a:lstStyle/>
          <a:p>
            <a:r>
              <a:rPr lang="en-US" sz="1600" b="1" dirty="0">
                <a:solidFill>
                  <a:srgbClr val="566982"/>
                </a:solidFill>
                <a:latin typeface="Aptos" panose="020B0004020202020204" pitchFamily="34" charset="0"/>
              </a:rPr>
              <a:t>Production controls</a:t>
            </a:r>
          </a:p>
        </p:txBody>
      </p:sp>
      <p:sp>
        <p:nvSpPr>
          <p:cNvPr id="22" name="TextBox 21">
            <a:extLst>
              <a:ext uri="{FF2B5EF4-FFF2-40B4-BE49-F238E27FC236}">
                <a16:creationId xmlns:a16="http://schemas.microsoft.com/office/drawing/2014/main" id="{16661D12-54B3-7417-E4EF-4DAC4C148DDF}"/>
              </a:ext>
            </a:extLst>
          </p:cNvPr>
          <p:cNvSpPr txBox="1"/>
          <p:nvPr/>
        </p:nvSpPr>
        <p:spPr>
          <a:xfrm>
            <a:off x="2149218" y="2006600"/>
            <a:ext cx="2528381" cy="374461"/>
          </a:xfrm>
          <a:prstGeom prst="rect">
            <a:avLst/>
          </a:prstGeom>
          <a:noFill/>
          <a:ln w="15875">
            <a:solidFill>
              <a:srgbClr val="D6E8F6"/>
            </a:solidFill>
          </a:ln>
          <a:effectLst>
            <a:outerShdw blurRad="63500" dist="28398" dir="3806086" rotWithShape="0">
              <a:srgbClr val="B9CCE0">
                <a:alpha val="22000"/>
              </a:srgbClr>
            </a:outerShdw>
          </a:effectLst>
        </p:spPr>
        <p:txBody>
          <a:bodyPr wrap="square" lIns="101600" tIns="63500" rIns="101600" bIns="63500" rtlCol="0">
            <a:normAutofit/>
          </a:bodyPr>
          <a:lstStyle/>
          <a:p>
            <a:r>
              <a:rPr lang="en-US" sz="1600" b="1" dirty="0">
                <a:solidFill>
                  <a:srgbClr val="566982"/>
                </a:solidFill>
                <a:latin typeface="Aptos" panose="020B0004020202020204" pitchFamily="34" charset="0"/>
              </a:rPr>
              <a:t>Capabilities</a:t>
            </a:r>
          </a:p>
        </p:txBody>
      </p:sp>
      <p:sp>
        <p:nvSpPr>
          <p:cNvPr id="26" name="codex_template_top_accent">
            <a:extLst>
              <a:ext uri="{FF2B5EF4-FFF2-40B4-BE49-F238E27FC236}">
                <a16:creationId xmlns:a16="http://schemas.microsoft.com/office/drawing/2014/main" id="{515753E2-9FF8-CC69-C002-BE9DDBBD8BC8}"/>
              </a:ext>
            </a:extLst>
          </p:cNvPr>
          <p:cNvSpPr/>
          <p:nvPr/>
        </p:nvSpPr>
        <p:spPr>
          <a:xfrm>
            <a:off x="0" y="0"/>
            <a:ext cx="12192000" cy="88900"/>
          </a:xfrm>
          <a:prstGeom prst="rect">
            <a:avLst/>
          </a:prstGeom>
          <a:solidFill>
            <a:srgbClr val="00A9E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codex_template_footer">
            <a:extLst>
              <a:ext uri="{FF2B5EF4-FFF2-40B4-BE49-F238E27FC236}">
                <a16:creationId xmlns:a16="http://schemas.microsoft.com/office/drawing/2014/main" id="{8F6D15E1-94A4-9C2C-0500-A7C4B48B5956}"/>
              </a:ext>
            </a:extLst>
          </p:cNvPr>
          <p:cNvSpPr txBox="1"/>
          <p:nvPr/>
        </p:nvSpPr>
        <p:spPr>
          <a:xfrm>
            <a:off x="355600" y="6553200"/>
            <a:ext cx="10668000" cy="215444"/>
          </a:xfrm>
          <a:prstGeom prst="rect">
            <a:avLst/>
          </a:prstGeom>
          <a:noFill/>
        </p:spPr>
        <p:txBody>
          <a:bodyPr vert="horz" rtlCol="0">
            <a:spAutoFit/>
          </a:bodyPr>
          <a:lstStyle/>
          <a:p>
            <a:r>
              <a:rPr lang="en-US" sz="800">
                <a:solidFill>
                  <a:srgbClr val="566982"/>
                </a:solidFill>
                <a:latin typeface="Aptos" panose="020B0004020202020204" pitchFamily="34" charset="0"/>
              </a:rPr>
              <a:t>Enterprise Reconciliation Platform | Principal Engineer / Architect Assessment</a:t>
            </a:r>
          </a:p>
        </p:txBody>
      </p:sp>
      <p:sp>
        <p:nvSpPr>
          <p:cNvPr id="29" name="codex_template_slide_number">
            <a:extLst>
              <a:ext uri="{FF2B5EF4-FFF2-40B4-BE49-F238E27FC236}">
                <a16:creationId xmlns:a16="http://schemas.microsoft.com/office/drawing/2014/main" id="{A2362B3C-FF22-AD4F-115B-12B4E2E5DEC1}"/>
              </a:ext>
            </a:extLst>
          </p:cNvPr>
          <p:cNvSpPr txBox="1"/>
          <p:nvPr/>
        </p:nvSpPr>
        <p:spPr>
          <a:xfrm>
            <a:off x="11557000" y="6553200"/>
            <a:ext cx="355600" cy="215444"/>
          </a:xfrm>
          <a:prstGeom prst="rect">
            <a:avLst/>
          </a:prstGeom>
          <a:noFill/>
        </p:spPr>
        <p:txBody>
          <a:bodyPr vert="horz" rtlCol="0">
            <a:spAutoFit/>
          </a:bodyPr>
          <a:lstStyle/>
          <a:p>
            <a:r>
              <a:rPr lang="en-US" sz="800">
                <a:solidFill>
                  <a:srgbClr val="566982"/>
                </a:solidFill>
                <a:latin typeface="Aptos" panose="020B0004020202020204" pitchFamily="34" charset="0"/>
              </a:rPr>
              <a:t>7</a:t>
            </a:r>
          </a:p>
        </p:txBody>
      </p:sp>
      <p:cxnSp>
        <p:nvCxnSpPr>
          <p:cNvPr id="30" name="codex_template_title_rule">
            <a:extLst>
              <a:ext uri="{FF2B5EF4-FFF2-40B4-BE49-F238E27FC236}">
                <a16:creationId xmlns:a16="http://schemas.microsoft.com/office/drawing/2014/main" id="{ADC1E059-9EC9-3BDA-1EEC-D315EFA09141}"/>
              </a:ext>
            </a:extLst>
          </p:cNvPr>
          <p:cNvCxnSpPr/>
          <p:nvPr/>
        </p:nvCxnSpPr>
        <p:spPr>
          <a:xfrm>
            <a:off x="822528" y="1248888"/>
            <a:ext cx="4648200" cy="0"/>
          </a:xfrm>
          <a:prstGeom prst="line">
            <a:avLst/>
          </a:prstGeom>
          <a:ln w="27940">
            <a:solidFill>
              <a:srgbClr val="00A9E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42449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codex_template_right_wash">
            <a:extLst>
              <a:ext uri="{FF2B5EF4-FFF2-40B4-BE49-F238E27FC236}">
                <a16:creationId xmlns:a16="http://schemas.microsoft.com/office/drawing/2014/main" id="{8A2C8D93-009C-61F8-D38D-645E535B083E}"/>
              </a:ext>
            </a:extLst>
          </p:cNvPr>
          <p:cNvSpPr/>
          <p:nvPr/>
        </p:nvSpPr>
        <p:spPr>
          <a:xfrm>
            <a:off x="9509760" y="0"/>
            <a:ext cx="2682240" cy="6858000"/>
          </a:xfrm>
          <a:prstGeom prst="rect">
            <a:avLst/>
          </a:prstGeom>
          <a:solidFill>
            <a:srgbClr val="E7F6FF">
              <a:alpha val="92000"/>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codex_template_header_band">
            <a:extLst>
              <a:ext uri="{FF2B5EF4-FFF2-40B4-BE49-F238E27FC236}">
                <a16:creationId xmlns:a16="http://schemas.microsoft.com/office/drawing/2014/main" id="{270019E0-9FBC-4705-DB68-05C77658C49A}"/>
              </a:ext>
            </a:extLst>
          </p:cNvPr>
          <p:cNvSpPr/>
          <p:nvPr/>
        </p:nvSpPr>
        <p:spPr>
          <a:xfrm>
            <a:off x="0" y="0"/>
            <a:ext cx="12192000" cy="812800"/>
          </a:xfrm>
          <a:prstGeom prst="rect">
            <a:avLst/>
          </a:prstGeom>
          <a:solidFill>
            <a:srgbClr val="ECF7FF">
              <a:alpha val="95000"/>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codex_template_background">
            <a:extLst>
              <a:ext uri="{FF2B5EF4-FFF2-40B4-BE49-F238E27FC236}">
                <a16:creationId xmlns:a16="http://schemas.microsoft.com/office/drawing/2014/main" id="{BC45044B-96F8-46FA-5143-0B857F4CE765}"/>
              </a:ext>
            </a:extLst>
          </p:cNvPr>
          <p:cNvSpPr/>
          <p:nvPr/>
        </p:nvSpPr>
        <p:spPr>
          <a:xfrm>
            <a:off x="0" y="0"/>
            <a:ext cx="12192000" cy="6858000"/>
          </a:xfrm>
          <a:prstGeom prst="rect">
            <a:avLst/>
          </a:prstGeom>
          <a:solidFill>
            <a:srgbClr val="F8FBF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CF484BB-BBBD-73F4-563E-FE699CE519B8}"/>
              </a:ext>
            </a:extLst>
          </p:cNvPr>
          <p:cNvSpPr txBox="1"/>
          <p:nvPr/>
        </p:nvSpPr>
        <p:spPr>
          <a:xfrm>
            <a:off x="773889" y="571500"/>
            <a:ext cx="10414000" cy="533400"/>
          </a:xfrm>
          <a:prstGeom prst="rect">
            <a:avLst/>
          </a:prstGeom>
          <a:solidFill>
            <a:scrgbClr r="0" g="0" b="0">
              <a:alpha val="0"/>
            </a:scrgbClr>
          </a:solidFill>
          <a:ln w="15875">
            <a:noFill/>
          </a:ln>
          <a:effectLst/>
        </p:spPr>
        <p:txBody>
          <a:bodyPr vert="horz" wrap="square" lIns="0" tIns="0" rIns="0" bIns="0" rtlCol="0">
            <a:noAutofit/>
          </a:bodyPr>
          <a:lstStyle/>
          <a:p>
            <a:r>
              <a:rPr lang="en-US" sz="2800" b="1" dirty="0">
                <a:solidFill>
                  <a:srgbClr val="142D4E"/>
                </a:solidFill>
                <a:latin typeface="Aptos Display" panose="020B0004020202020204" pitchFamily="34" charset="0"/>
              </a:rPr>
              <a:t>Consumer / Reconciliation Engineering Design</a:t>
            </a:r>
          </a:p>
        </p:txBody>
      </p:sp>
      <p:sp>
        <p:nvSpPr>
          <p:cNvPr id="14" name="Rectangle: Rounded Corners 13">
            <a:extLst>
              <a:ext uri="{FF2B5EF4-FFF2-40B4-BE49-F238E27FC236}">
                <a16:creationId xmlns:a16="http://schemas.microsoft.com/office/drawing/2014/main" id="{37BFAE2B-1A37-5CEF-A071-5D8CBE12DA1B}"/>
              </a:ext>
            </a:extLst>
          </p:cNvPr>
          <p:cNvSpPr/>
          <p:nvPr/>
        </p:nvSpPr>
        <p:spPr>
          <a:xfrm>
            <a:off x="571500" y="2006600"/>
            <a:ext cx="5143500" cy="4038600"/>
          </a:xfrm>
          <a:prstGeom prst="roundRect">
            <a:avLst/>
          </a:prstGeom>
          <a:solidFill>
            <a:srgbClr val="E2F1FF"/>
          </a:solidFill>
          <a:ln w="15875">
            <a:solidFill>
              <a:srgbClr val="D6E8F6"/>
            </a:solidFill>
          </a:ln>
          <a:effectLst>
            <a:outerShdw blurRad="63500" dist="28398" dir="3806086" rotWithShape="0">
              <a:srgbClr val="B9CCE0">
                <a:alpha val="22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01600" tIns="76200" rIns="101600" bIns="76200" rtlCol="0" anchor="ctr"/>
          <a:lstStyle/>
          <a:p>
            <a:pPr algn="ctr"/>
            <a:endParaRPr lang="en-US" b="1" dirty="0">
              <a:solidFill>
                <a:srgbClr val="18304E"/>
              </a:solidFill>
              <a:latin typeface="Aptos" panose="020B0004020202020204" pitchFamily="34" charset="0"/>
            </a:endParaRPr>
          </a:p>
        </p:txBody>
      </p:sp>
      <p:sp>
        <p:nvSpPr>
          <p:cNvPr id="15" name="TextBox 14">
            <a:extLst>
              <a:ext uri="{FF2B5EF4-FFF2-40B4-BE49-F238E27FC236}">
                <a16:creationId xmlns:a16="http://schemas.microsoft.com/office/drawing/2014/main" id="{9167F9A8-EBA1-340B-F202-52DBD4D2B7FC}"/>
              </a:ext>
            </a:extLst>
          </p:cNvPr>
          <p:cNvSpPr txBox="1"/>
          <p:nvPr/>
        </p:nvSpPr>
        <p:spPr>
          <a:xfrm>
            <a:off x="867113" y="2819935"/>
            <a:ext cx="4635500" cy="1661993"/>
          </a:xfrm>
          <a:prstGeom prst="rect">
            <a:avLst/>
          </a:prstGeom>
          <a:noFill/>
          <a:ln w="15875">
            <a:solidFill>
              <a:srgbClr val="D6E8F6"/>
            </a:solidFill>
          </a:ln>
          <a:effectLst>
            <a:outerShdw blurRad="63500" dist="28398" dir="3806086" rotWithShape="0">
              <a:srgbClr val="B9CCE0">
                <a:alpha val="22000"/>
              </a:srgbClr>
            </a:outerShdw>
          </a:effectLst>
        </p:spPr>
        <p:txBody>
          <a:bodyPr vert="horz" wrap="square" lIns="101600" tIns="63500" rIns="101600" bIns="63500" rtlCol="0">
            <a:normAutofit/>
          </a:bodyPr>
          <a:lstStyle/>
          <a:p>
            <a:r>
              <a:rPr lang="en-US" dirty="0">
                <a:solidFill>
                  <a:srgbClr val="566982"/>
                </a:solidFill>
                <a:latin typeface="Aptos" panose="020B0004020202020204" pitchFamily="34" charset="0"/>
              </a:rPr>
              <a:t>- JMS listener consumes RECON.IN and RECON.RETRY</a:t>
            </a:r>
          </a:p>
          <a:p>
            <a:r>
              <a:rPr lang="en-US" dirty="0">
                <a:solidFill>
                  <a:srgbClr val="566982"/>
                </a:solidFill>
                <a:latin typeface="Aptos" panose="020B0004020202020204" pitchFamily="34" charset="0"/>
              </a:rPr>
              <a:t>- Business validation marks records RECONCILED or INVALID</a:t>
            </a:r>
          </a:p>
          <a:p>
            <a:r>
              <a:rPr lang="en-US" dirty="0">
                <a:solidFill>
                  <a:srgbClr val="566982"/>
                </a:solidFill>
                <a:latin typeface="Aptos" panose="020B0004020202020204" pitchFamily="34" charset="0"/>
              </a:rPr>
              <a:t>- PostgreSQL persistence with unique transaction/correlation keys</a:t>
            </a:r>
          </a:p>
          <a:p>
            <a:r>
              <a:rPr lang="en-US" dirty="0">
                <a:solidFill>
                  <a:srgbClr val="566982"/>
                </a:solidFill>
                <a:latin typeface="Aptos" panose="020B0004020202020204" pitchFamily="34" charset="0"/>
              </a:rPr>
              <a:t>- Idempotency prevents duplicate processing side effects</a:t>
            </a:r>
          </a:p>
          <a:p>
            <a:r>
              <a:rPr lang="en-US" dirty="0">
                <a:solidFill>
                  <a:srgbClr val="566982"/>
                </a:solidFill>
                <a:latin typeface="Aptos" panose="020B0004020202020204" pitchFamily="34" charset="0"/>
              </a:rPr>
              <a:t>- Concurrent processing controlled through configuration</a:t>
            </a:r>
          </a:p>
        </p:txBody>
      </p:sp>
      <p:sp>
        <p:nvSpPr>
          <p:cNvPr id="16" name="Rectangle: Rounded Corners 15">
            <a:extLst>
              <a:ext uri="{FF2B5EF4-FFF2-40B4-BE49-F238E27FC236}">
                <a16:creationId xmlns:a16="http://schemas.microsoft.com/office/drawing/2014/main" id="{C05DBAD8-755A-2A4E-97BD-B202CAC48795}"/>
              </a:ext>
            </a:extLst>
          </p:cNvPr>
          <p:cNvSpPr/>
          <p:nvPr/>
        </p:nvSpPr>
        <p:spPr>
          <a:xfrm>
            <a:off x="6477000" y="2006600"/>
            <a:ext cx="5143500" cy="4038597"/>
          </a:xfrm>
          <a:prstGeom prst="roundRect">
            <a:avLst/>
          </a:prstGeom>
          <a:solidFill>
            <a:srgbClr val="E1F8F4"/>
          </a:solidFill>
          <a:ln w="15875">
            <a:solidFill>
              <a:srgbClr val="D6E8F6"/>
            </a:solidFill>
          </a:ln>
          <a:effectLst>
            <a:outerShdw blurRad="63500" dist="28398" dir="3806086" rotWithShape="0">
              <a:srgbClr val="B9CCE0">
                <a:alpha val="22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01600" tIns="76200" rIns="101600" bIns="76200" rtlCol="0" anchor="ctr"/>
          <a:lstStyle/>
          <a:p>
            <a:pPr algn="ctr"/>
            <a:endParaRPr lang="en-US" b="1" dirty="0">
              <a:solidFill>
                <a:srgbClr val="18304E"/>
              </a:solidFill>
              <a:latin typeface="Aptos" panose="020B0004020202020204" pitchFamily="34" charset="0"/>
            </a:endParaRPr>
          </a:p>
        </p:txBody>
      </p:sp>
      <p:sp>
        <p:nvSpPr>
          <p:cNvPr id="17" name="TextBox 16">
            <a:extLst>
              <a:ext uri="{FF2B5EF4-FFF2-40B4-BE49-F238E27FC236}">
                <a16:creationId xmlns:a16="http://schemas.microsoft.com/office/drawing/2014/main" id="{A24376C8-44CA-2ED3-0BF0-EF574CE0BC07}"/>
              </a:ext>
            </a:extLst>
          </p:cNvPr>
          <p:cNvSpPr txBox="1"/>
          <p:nvPr/>
        </p:nvSpPr>
        <p:spPr>
          <a:xfrm>
            <a:off x="6817505" y="2744956"/>
            <a:ext cx="4635500" cy="1231106"/>
          </a:xfrm>
          <a:prstGeom prst="rect">
            <a:avLst/>
          </a:prstGeom>
          <a:noFill/>
          <a:ln w="15875">
            <a:solidFill>
              <a:srgbClr val="D6E8F6"/>
            </a:solidFill>
          </a:ln>
          <a:effectLst>
            <a:outerShdw blurRad="63500" dist="28398" dir="3806086" rotWithShape="0">
              <a:srgbClr val="B9CCE0">
                <a:alpha val="22000"/>
              </a:srgbClr>
            </a:outerShdw>
          </a:effectLst>
        </p:spPr>
        <p:txBody>
          <a:bodyPr vert="horz" wrap="square" lIns="101600" tIns="63500" rIns="101600" bIns="63500" rtlCol="0">
            <a:normAutofit/>
          </a:bodyPr>
          <a:lstStyle/>
          <a:p>
            <a:r>
              <a:rPr lang="en-US" dirty="0">
                <a:solidFill>
                  <a:srgbClr val="566982"/>
                </a:solidFill>
                <a:latin typeface="Aptos" panose="020B0004020202020204" pitchFamily="34" charset="0"/>
              </a:rPr>
              <a:t>- Deadlock retry with exponential backoff</a:t>
            </a:r>
          </a:p>
          <a:p>
            <a:r>
              <a:rPr lang="en-US" dirty="0">
                <a:solidFill>
                  <a:srgbClr val="566982"/>
                </a:solidFill>
                <a:latin typeface="Aptos" panose="020B0004020202020204" pitchFamily="34" charset="0"/>
              </a:rPr>
              <a:t>- Circuit breaker around database calls</a:t>
            </a:r>
          </a:p>
          <a:p>
            <a:r>
              <a:rPr lang="en-US" dirty="0">
                <a:solidFill>
                  <a:srgbClr val="566982"/>
                </a:solidFill>
                <a:latin typeface="Aptos" panose="020B0004020202020204" pitchFamily="34" charset="0"/>
              </a:rPr>
              <a:t>- Bulkhead isolation protects worker threads</a:t>
            </a:r>
          </a:p>
          <a:p>
            <a:r>
              <a:rPr lang="en-US" dirty="0">
                <a:solidFill>
                  <a:srgbClr val="566982"/>
                </a:solidFill>
                <a:latin typeface="Aptos" panose="020B0004020202020204" pitchFamily="34" charset="0"/>
              </a:rPr>
              <a:t>- Poison messages move to RECON.BACKOUT</a:t>
            </a:r>
          </a:p>
          <a:p>
            <a:r>
              <a:rPr lang="en-US" dirty="0">
                <a:solidFill>
                  <a:srgbClr val="566982"/>
                </a:solidFill>
                <a:latin typeface="Aptos" panose="020B0004020202020204" pitchFamily="34" charset="0"/>
              </a:rPr>
              <a:t>- Prometheus counters for retries, failures and deadlocks</a:t>
            </a:r>
          </a:p>
        </p:txBody>
      </p:sp>
      <p:sp>
        <p:nvSpPr>
          <p:cNvPr id="20" name="TextBox 19">
            <a:extLst>
              <a:ext uri="{FF2B5EF4-FFF2-40B4-BE49-F238E27FC236}">
                <a16:creationId xmlns:a16="http://schemas.microsoft.com/office/drawing/2014/main" id="{FB14062C-FFEC-A301-9805-A9D3285A42E9}"/>
              </a:ext>
            </a:extLst>
          </p:cNvPr>
          <p:cNvSpPr txBox="1"/>
          <p:nvPr/>
        </p:nvSpPr>
        <p:spPr>
          <a:xfrm>
            <a:off x="2149218" y="2006600"/>
            <a:ext cx="2528381" cy="374461"/>
          </a:xfrm>
          <a:prstGeom prst="rect">
            <a:avLst/>
          </a:prstGeom>
          <a:noFill/>
          <a:ln w="15875">
            <a:solidFill>
              <a:srgbClr val="D6E8F6"/>
            </a:solidFill>
          </a:ln>
          <a:effectLst>
            <a:outerShdw blurRad="63500" dist="28398" dir="3806086" rotWithShape="0">
              <a:srgbClr val="B9CCE0">
                <a:alpha val="22000"/>
              </a:srgbClr>
            </a:outerShdw>
          </a:effectLst>
        </p:spPr>
        <p:txBody>
          <a:bodyPr wrap="square" lIns="101600" tIns="63500" rIns="101600" bIns="63500" rtlCol="0">
            <a:normAutofit/>
          </a:bodyPr>
          <a:lstStyle/>
          <a:p>
            <a:r>
              <a:rPr lang="en-US" sz="1600" b="1" dirty="0">
                <a:solidFill>
                  <a:srgbClr val="566982"/>
                </a:solidFill>
                <a:latin typeface="Aptos" panose="020B0004020202020204" pitchFamily="34" charset="0"/>
              </a:rPr>
              <a:t>Core Processing</a:t>
            </a:r>
          </a:p>
        </p:txBody>
      </p:sp>
      <p:sp>
        <p:nvSpPr>
          <p:cNvPr id="21" name="TextBox 20">
            <a:extLst>
              <a:ext uri="{FF2B5EF4-FFF2-40B4-BE49-F238E27FC236}">
                <a16:creationId xmlns:a16="http://schemas.microsoft.com/office/drawing/2014/main" id="{72F92C16-0F0A-6AC9-8A10-5E502ADD89FC}"/>
              </a:ext>
            </a:extLst>
          </p:cNvPr>
          <p:cNvSpPr txBox="1"/>
          <p:nvPr/>
        </p:nvSpPr>
        <p:spPr>
          <a:xfrm>
            <a:off x="7292718" y="2078395"/>
            <a:ext cx="2528381" cy="374461"/>
          </a:xfrm>
          <a:prstGeom prst="rect">
            <a:avLst/>
          </a:prstGeom>
          <a:noFill/>
          <a:ln w="15875">
            <a:solidFill>
              <a:srgbClr val="D6E8F6"/>
            </a:solidFill>
          </a:ln>
          <a:effectLst>
            <a:outerShdw blurRad="63500" dist="28398" dir="3806086" rotWithShape="0">
              <a:srgbClr val="B9CCE0">
                <a:alpha val="22000"/>
              </a:srgbClr>
            </a:outerShdw>
          </a:effectLst>
        </p:spPr>
        <p:txBody>
          <a:bodyPr wrap="square" lIns="101600" tIns="63500" rIns="101600" bIns="63500" rtlCol="0">
            <a:normAutofit/>
          </a:bodyPr>
          <a:lstStyle/>
          <a:p>
            <a:pPr algn="ctr"/>
            <a:r>
              <a:rPr lang="en-US" sz="1600" b="1" dirty="0">
                <a:solidFill>
                  <a:srgbClr val="566982"/>
                </a:solidFill>
                <a:latin typeface="Aptos" panose="020B0004020202020204" pitchFamily="34" charset="0"/>
              </a:rPr>
              <a:t>Reliability controls</a:t>
            </a:r>
          </a:p>
        </p:txBody>
      </p:sp>
      <p:sp>
        <p:nvSpPr>
          <p:cNvPr id="25" name="codex_template_top_accent">
            <a:extLst>
              <a:ext uri="{FF2B5EF4-FFF2-40B4-BE49-F238E27FC236}">
                <a16:creationId xmlns:a16="http://schemas.microsoft.com/office/drawing/2014/main" id="{1F12394A-330C-A43D-3C4B-218E9DFED924}"/>
              </a:ext>
            </a:extLst>
          </p:cNvPr>
          <p:cNvSpPr/>
          <p:nvPr/>
        </p:nvSpPr>
        <p:spPr>
          <a:xfrm>
            <a:off x="0" y="0"/>
            <a:ext cx="12192000" cy="88900"/>
          </a:xfrm>
          <a:prstGeom prst="rect">
            <a:avLst/>
          </a:prstGeom>
          <a:solidFill>
            <a:srgbClr val="00A9E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codex_template_footer">
            <a:extLst>
              <a:ext uri="{FF2B5EF4-FFF2-40B4-BE49-F238E27FC236}">
                <a16:creationId xmlns:a16="http://schemas.microsoft.com/office/drawing/2014/main" id="{0389412C-8311-7388-A136-0E95744B88FC}"/>
              </a:ext>
            </a:extLst>
          </p:cNvPr>
          <p:cNvSpPr txBox="1"/>
          <p:nvPr/>
        </p:nvSpPr>
        <p:spPr>
          <a:xfrm>
            <a:off x="355600" y="6553200"/>
            <a:ext cx="10668000" cy="215444"/>
          </a:xfrm>
          <a:prstGeom prst="rect">
            <a:avLst/>
          </a:prstGeom>
          <a:noFill/>
        </p:spPr>
        <p:txBody>
          <a:bodyPr vert="horz" rtlCol="0">
            <a:spAutoFit/>
          </a:bodyPr>
          <a:lstStyle/>
          <a:p>
            <a:r>
              <a:rPr lang="en-US" sz="800">
                <a:solidFill>
                  <a:srgbClr val="566982"/>
                </a:solidFill>
                <a:latin typeface="Aptos" panose="020B0004020202020204" pitchFamily="34" charset="0"/>
              </a:rPr>
              <a:t>Enterprise Reconciliation Platform | Principal Engineer / Architect Assessment</a:t>
            </a:r>
          </a:p>
        </p:txBody>
      </p:sp>
      <p:sp>
        <p:nvSpPr>
          <p:cNvPr id="28" name="codex_template_slide_number">
            <a:extLst>
              <a:ext uri="{FF2B5EF4-FFF2-40B4-BE49-F238E27FC236}">
                <a16:creationId xmlns:a16="http://schemas.microsoft.com/office/drawing/2014/main" id="{BE12846E-8B9B-D2DE-9F38-A9F28648C136}"/>
              </a:ext>
            </a:extLst>
          </p:cNvPr>
          <p:cNvSpPr txBox="1"/>
          <p:nvPr/>
        </p:nvSpPr>
        <p:spPr>
          <a:xfrm>
            <a:off x="11557000" y="6553200"/>
            <a:ext cx="355600" cy="215444"/>
          </a:xfrm>
          <a:prstGeom prst="rect">
            <a:avLst/>
          </a:prstGeom>
          <a:noFill/>
        </p:spPr>
        <p:txBody>
          <a:bodyPr vert="horz" rtlCol="0">
            <a:spAutoFit/>
          </a:bodyPr>
          <a:lstStyle/>
          <a:p>
            <a:r>
              <a:rPr lang="en-US" sz="800">
                <a:solidFill>
                  <a:srgbClr val="566982"/>
                </a:solidFill>
                <a:latin typeface="Aptos" panose="020B0004020202020204" pitchFamily="34" charset="0"/>
              </a:rPr>
              <a:t>8</a:t>
            </a:r>
          </a:p>
        </p:txBody>
      </p:sp>
      <p:cxnSp>
        <p:nvCxnSpPr>
          <p:cNvPr id="29" name="codex_template_title_rule">
            <a:extLst>
              <a:ext uri="{FF2B5EF4-FFF2-40B4-BE49-F238E27FC236}">
                <a16:creationId xmlns:a16="http://schemas.microsoft.com/office/drawing/2014/main" id="{1DB528AD-F284-9BA5-2C96-0DC70ABF0126}"/>
              </a:ext>
            </a:extLst>
          </p:cNvPr>
          <p:cNvCxnSpPr/>
          <p:nvPr/>
        </p:nvCxnSpPr>
        <p:spPr>
          <a:xfrm>
            <a:off x="773889" y="1231900"/>
            <a:ext cx="4648200" cy="0"/>
          </a:xfrm>
          <a:prstGeom prst="line">
            <a:avLst/>
          </a:prstGeom>
          <a:ln w="27940">
            <a:solidFill>
              <a:srgbClr val="00A9E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812495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codex_template_right_wash">
            <a:extLst>
              <a:ext uri="{FF2B5EF4-FFF2-40B4-BE49-F238E27FC236}">
                <a16:creationId xmlns:a16="http://schemas.microsoft.com/office/drawing/2014/main" id="{DCF687E9-A5A9-6C40-4C1E-3B3E46FA92E5}"/>
              </a:ext>
            </a:extLst>
          </p:cNvPr>
          <p:cNvSpPr/>
          <p:nvPr/>
        </p:nvSpPr>
        <p:spPr>
          <a:xfrm>
            <a:off x="9509760" y="0"/>
            <a:ext cx="2682240" cy="6858000"/>
          </a:xfrm>
          <a:prstGeom prst="rect">
            <a:avLst/>
          </a:prstGeom>
          <a:solidFill>
            <a:srgbClr val="E7F6FF">
              <a:alpha val="92000"/>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codex_template_header_band">
            <a:extLst>
              <a:ext uri="{FF2B5EF4-FFF2-40B4-BE49-F238E27FC236}">
                <a16:creationId xmlns:a16="http://schemas.microsoft.com/office/drawing/2014/main" id="{9284BEB5-E84E-D206-1310-15FCF0416904}"/>
              </a:ext>
            </a:extLst>
          </p:cNvPr>
          <p:cNvSpPr/>
          <p:nvPr/>
        </p:nvSpPr>
        <p:spPr>
          <a:xfrm>
            <a:off x="0" y="0"/>
            <a:ext cx="12192000" cy="812800"/>
          </a:xfrm>
          <a:prstGeom prst="rect">
            <a:avLst/>
          </a:prstGeom>
          <a:solidFill>
            <a:srgbClr val="ECF7FF">
              <a:alpha val="95000"/>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codex_template_background">
            <a:extLst>
              <a:ext uri="{FF2B5EF4-FFF2-40B4-BE49-F238E27FC236}">
                <a16:creationId xmlns:a16="http://schemas.microsoft.com/office/drawing/2014/main" id="{5377DFAB-6888-7946-8B2D-E449AE9E8921}"/>
              </a:ext>
            </a:extLst>
          </p:cNvPr>
          <p:cNvSpPr/>
          <p:nvPr/>
        </p:nvSpPr>
        <p:spPr>
          <a:xfrm>
            <a:off x="0" y="0"/>
            <a:ext cx="12192000" cy="6858000"/>
          </a:xfrm>
          <a:prstGeom prst="rect">
            <a:avLst/>
          </a:prstGeom>
          <a:solidFill>
            <a:srgbClr val="F8FBF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C702179-3441-1DB1-C9DF-AA75C7E6A1B0}"/>
              </a:ext>
            </a:extLst>
          </p:cNvPr>
          <p:cNvSpPr txBox="1"/>
          <p:nvPr/>
        </p:nvSpPr>
        <p:spPr>
          <a:xfrm>
            <a:off x="822527" y="590778"/>
            <a:ext cx="10414000" cy="533400"/>
          </a:xfrm>
          <a:prstGeom prst="rect">
            <a:avLst/>
          </a:prstGeom>
          <a:solidFill>
            <a:scrgbClr r="0" g="0" b="0">
              <a:alpha val="0"/>
            </a:scrgbClr>
          </a:solidFill>
          <a:ln w="15875">
            <a:noFill/>
          </a:ln>
          <a:effectLst/>
        </p:spPr>
        <p:txBody>
          <a:bodyPr vert="horz" wrap="square" lIns="0" tIns="0" rIns="0" bIns="0" rtlCol="0">
            <a:noAutofit/>
          </a:bodyPr>
          <a:lstStyle/>
          <a:p>
            <a:r>
              <a:rPr lang="en-US" sz="2800" b="1" dirty="0">
                <a:solidFill>
                  <a:srgbClr val="142D4E"/>
                </a:solidFill>
                <a:latin typeface="Aptos Display" panose="020B0004020202020204" pitchFamily="34" charset="0"/>
              </a:rPr>
              <a:t>Dashboard/API Engineering Design</a:t>
            </a:r>
          </a:p>
        </p:txBody>
      </p:sp>
      <p:sp>
        <p:nvSpPr>
          <p:cNvPr id="14" name="Rectangle: Rounded Corners 13">
            <a:extLst>
              <a:ext uri="{FF2B5EF4-FFF2-40B4-BE49-F238E27FC236}">
                <a16:creationId xmlns:a16="http://schemas.microsoft.com/office/drawing/2014/main" id="{8CF3B2F1-ADBB-BF2C-24F6-9A992A472DF9}"/>
              </a:ext>
            </a:extLst>
          </p:cNvPr>
          <p:cNvSpPr/>
          <p:nvPr/>
        </p:nvSpPr>
        <p:spPr>
          <a:xfrm>
            <a:off x="571500" y="2006600"/>
            <a:ext cx="5143500" cy="4572000"/>
          </a:xfrm>
          <a:prstGeom prst="roundRect">
            <a:avLst/>
          </a:prstGeom>
          <a:solidFill>
            <a:srgbClr val="E2F1FF"/>
          </a:solidFill>
          <a:ln w="15875">
            <a:solidFill>
              <a:srgbClr val="D6E8F6"/>
            </a:solidFill>
          </a:ln>
          <a:effectLst>
            <a:outerShdw blurRad="63500" dist="28398" dir="3806086" rotWithShape="0">
              <a:srgbClr val="B9CCE0">
                <a:alpha val="22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01600" tIns="76200" rIns="101600" bIns="76200" rtlCol="0" anchor="ctr"/>
          <a:lstStyle/>
          <a:p>
            <a:pPr algn="ctr"/>
            <a:endParaRPr lang="en-US" b="1" dirty="0">
              <a:solidFill>
                <a:srgbClr val="18304E"/>
              </a:solidFill>
              <a:latin typeface="Aptos" panose="020B0004020202020204" pitchFamily="34" charset="0"/>
            </a:endParaRPr>
          </a:p>
        </p:txBody>
      </p:sp>
      <p:sp>
        <p:nvSpPr>
          <p:cNvPr id="15" name="TextBox 14">
            <a:extLst>
              <a:ext uri="{FF2B5EF4-FFF2-40B4-BE49-F238E27FC236}">
                <a16:creationId xmlns:a16="http://schemas.microsoft.com/office/drawing/2014/main" id="{22F83FA9-43A3-C76E-CCAF-8A6CD5164639}"/>
              </a:ext>
            </a:extLst>
          </p:cNvPr>
          <p:cNvSpPr txBox="1"/>
          <p:nvPr/>
        </p:nvSpPr>
        <p:spPr>
          <a:xfrm>
            <a:off x="1365250" y="2927746"/>
            <a:ext cx="4635500" cy="1231106"/>
          </a:xfrm>
          <a:prstGeom prst="rect">
            <a:avLst/>
          </a:prstGeom>
          <a:noFill/>
          <a:ln w="15875">
            <a:solidFill>
              <a:srgbClr val="D6E8F6"/>
            </a:solidFill>
          </a:ln>
          <a:effectLst>
            <a:outerShdw blurRad="63500" dist="28398" dir="3806086" rotWithShape="0">
              <a:srgbClr val="B9CCE0">
                <a:alpha val="22000"/>
              </a:srgbClr>
            </a:outerShdw>
          </a:effectLst>
        </p:spPr>
        <p:txBody>
          <a:bodyPr vert="horz" wrap="square" lIns="101600" tIns="63500" rIns="101600" bIns="63500" rtlCol="0">
            <a:normAutofit/>
          </a:bodyPr>
          <a:lstStyle/>
          <a:p>
            <a:r>
              <a:rPr lang="en-US" dirty="0">
                <a:solidFill>
                  <a:srgbClr val="566982"/>
                </a:solidFill>
                <a:latin typeface="Aptos" panose="020B0004020202020204" pitchFamily="34" charset="0"/>
              </a:rPr>
              <a:t>- GET /</a:t>
            </a:r>
            <a:r>
              <a:rPr lang="en-US" dirty="0" err="1">
                <a:solidFill>
                  <a:srgbClr val="566982"/>
                </a:solidFill>
                <a:latin typeface="Aptos" panose="020B0004020202020204" pitchFamily="34" charset="0"/>
              </a:rPr>
              <a:t>api</a:t>
            </a:r>
            <a:r>
              <a:rPr lang="en-US" dirty="0">
                <a:solidFill>
                  <a:srgbClr val="566982"/>
                </a:solidFill>
                <a:latin typeface="Aptos" panose="020B0004020202020204" pitchFamily="34" charset="0"/>
              </a:rPr>
              <a:t>/reconciliation/status</a:t>
            </a:r>
          </a:p>
          <a:p>
            <a:r>
              <a:rPr lang="en-US" dirty="0">
                <a:solidFill>
                  <a:srgbClr val="566982"/>
                </a:solidFill>
                <a:latin typeface="Aptos" panose="020B0004020202020204" pitchFamily="34" charset="0"/>
              </a:rPr>
              <a:t>- GET /</a:t>
            </a:r>
            <a:r>
              <a:rPr lang="en-US" dirty="0" err="1">
                <a:solidFill>
                  <a:srgbClr val="566982"/>
                </a:solidFill>
                <a:latin typeface="Aptos" panose="020B0004020202020204" pitchFamily="34" charset="0"/>
              </a:rPr>
              <a:t>api</a:t>
            </a:r>
            <a:r>
              <a:rPr lang="en-US" dirty="0">
                <a:solidFill>
                  <a:srgbClr val="566982"/>
                </a:solidFill>
                <a:latin typeface="Aptos" panose="020B0004020202020204" pitchFamily="34" charset="0"/>
              </a:rPr>
              <a:t>/reconciliation/failed</a:t>
            </a:r>
          </a:p>
          <a:p>
            <a:r>
              <a:rPr lang="en-US" dirty="0">
                <a:solidFill>
                  <a:srgbClr val="566982"/>
                </a:solidFill>
                <a:latin typeface="Aptos" panose="020B0004020202020204" pitchFamily="34" charset="0"/>
              </a:rPr>
              <a:t>- GET /</a:t>
            </a:r>
            <a:r>
              <a:rPr lang="en-US" dirty="0" err="1">
                <a:solidFill>
                  <a:srgbClr val="566982"/>
                </a:solidFill>
                <a:latin typeface="Aptos" panose="020B0004020202020204" pitchFamily="34" charset="0"/>
              </a:rPr>
              <a:t>api</a:t>
            </a:r>
            <a:r>
              <a:rPr lang="en-US" dirty="0">
                <a:solidFill>
                  <a:srgbClr val="566982"/>
                </a:solidFill>
                <a:latin typeface="Aptos" panose="020B0004020202020204" pitchFamily="34" charset="0"/>
              </a:rPr>
              <a:t>/reconciliation/queues</a:t>
            </a:r>
          </a:p>
          <a:p>
            <a:r>
              <a:rPr lang="en-US" dirty="0">
                <a:solidFill>
                  <a:srgbClr val="566982"/>
                </a:solidFill>
                <a:latin typeface="Aptos" panose="020B0004020202020204" pitchFamily="34" charset="0"/>
              </a:rPr>
              <a:t>- POST /</a:t>
            </a:r>
            <a:r>
              <a:rPr lang="en-US" dirty="0" err="1">
                <a:solidFill>
                  <a:srgbClr val="566982"/>
                </a:solidFill>
                <a:latin typeface="Aptos" panose="020B0004020202020204" pitchFamily="34" charset="0"/>
              </a:rPr>
              <a:t>api</a:t>
            </a:r>
            <a:r>
              <a:rPr lang="en-US" dirty="0">
                <a:solidFill>
                  <a:srgbClr val="566982"/>
                </a:solidFill>
                <a:latin typeface="Aptos" panose="020B0004020202020204" pitchFamily="34" charset="0"/>
              </a:rPr>
              <a:t>/reconciliation/replay</a:t>
            </a:r>
          </a:p>
          <a:p>
            <a:r>
              <a:rPr lang="en-US" dirty="0">
                <a:solidFill>
                  <a:srgbClr val="566982"/>
                </a:solidFill>
                <a:latin typeface="Aptos" panose="020B0004020202020204" pitchFamily="34" charset="0"/>
              </a:rPr>
              <a:t>- Actuator liveness and readiness probes</a:t>
            </a:r>
          </a:p>
        </p:txBody>
      </p:sp>
      <p:sp>
        <p:nvSpPr>
          <p:cNvPr id="16" name="Rectangle: Rounded Corners 15">
            <a:extLst>
              <a:ext uri="{FF2B5EF4-FFF2-40B4-BE49-F238E27FC236}">
                <a16:creationId xmlns:a16="http://schemas.microsoft.com/office/drawing/2014/main" id="{820AA12D-A545-4C0A-4FDD-38703C8F770A}"/>
              </a:ext>
            </a:extLst>
          </p:cNvPr>
          <p:cNvSpPr/>
          <p:nvPr/>
        </p:nvSpPr>
        <p:spPr>
          <a:xfrm>
            <a:off x="6477000" y="2006600"/>
            <a:ext cx="5143500" cy="4572000"/>
          </a:xfrm>
          <a:prstGeom prst="roundRect">
            <a:avLst/>
          </a:prstGeom>
          <a:solidFill>
            <a:srgbClr val="E1F8F4"/>
          </a:solidFill>
          <a:ln w="15875">
            <a:solidFill>
              <a:srgbClr val="D6E8F6"/>
            </a:solidFill>
          </a:ln>
          <a:effectLst>
            <a:outerShdw blurRad="63500" dist="28398" dir="3806086" rotWithShape="0">
              <a:srgbClr val="B9CCE0">
                <a:alpha val="22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01600" tIns="76200" rIns="101600" bIns="76200" rtlCol="0" anchor="ctr"/>
          <a:lstStyle/>
          <a:p>
            <a:pPr algn="ctr"/>
            <a:endParaRPr lang="en-US" b="1" dirty="0">
              <a:solidFill>
                <a:srgbClr val="18304E"/>
              </a:solidFill>
              <a:latin typeface="Aptos" panose="020B0004020202020204" pitchFamily="34" charset="0"/>
            </a:endParaRPr>
          </a:p>
        </p:txBody>
      </p:sp>
      <p:sp>
        <p:nvSpPr>
          <p:cNvPr id="17" name="TextBox 16">
            <a:extLst>
              <a:ext uri="{FF2B5EF4-FFF2-40B4-BE49-F238E27FC236}">
                <a16:creationId xmlns:a16="http://schemas.microsoft.com/office/drawing/2014/main" id="{11063BA3-54A8-F35D-1859-05606FE6E415}"/>
              </a:ext>
            </a:extLst>
          </p:cNvPr>
          <p:cNvSpPr txBox="1"/>
          <p:nvPr/>
        </p:nvSpPr>
        <p:spPr>
          <a:xfrm>
            <a:off x="7016750" y="3202444"/>
            <a:ext cx="4635500" cy="1231106"/>
          </a:xfrm>
          <a:prstGeom prst="rect">
            <a:avLst/>
          </a:prstGeom>
          <a:noFill/>
          <a:ln w="15875">
            <a:solidFill>
              <a:srgbClr val="D6E8F6"/>
            </a:solidFill>
          </a:ln>
          <a:effectLst>
            <a:outerShdw blurRad="63500" dist="28398" dir="3806086" rotWithShape="0">
              <a:srgbClr val="B9CCE0">
                <a:alpha val="22000"/>
              </a:srgbClr>
            </a:outerShdw>
          </a:effectLst>
        </p:spPr>
        <p:txBody>
          <a:bodyPr vert="horz" wrap="square" lIns="101600" tIns="63500" rIns="101600" bIns="63500" rtlCol="0">
            <a:normAutofit/>
          </a:bodyPr>
          <a:lstStyle/>
          <a:p>
            <a:r>
              <a:rPr lang="en-US" dirty="0">
                <a:solidFill>
                  <a:srgbClr val="566982"/>
                </a:solidFill>
                <a:latin typeface="Aptos" panose="020B0004020202020204" pitchFamily="34" charset="0"/>
              </a:rPr>
              <a:t>- Shows total, reconciled, invalid, failed and DLQ counts</a:t>
            </a:r>
          </a:p>
          <a:p>
            <a:r>
              <a:rPr lang="en-US" dirty="0">
                <a:solidFill>
                  <a:srgbClr val="566982"/>
                </a:solidFill>
                <a:latin typeface="Aptos" panose="020B0004020202020204" pitchFamily="34" charset="0"/>
              </a:rPr>
              <a:t>- Exposes queue backlog visibility</a:t>
            </a:r>
          </a:p>
          <a:p>
            <a:r>
              <a:rPr lang="en-US" dirty="0">
                <a:solidFill>
                  <a:srgbClr val="566982"/>
                </a:solidFill>
                <a:latin typeface="Aptos" panose="020B0004020202020204" pitchFamily="34" charset="0"/>
              </a:rPr>
              <a:t>- Provides controlled replay mechanism</a:t>
            </a:r>
          </a:p>
          <a:p>
            <a:r>
              <a:rPr lang="en-US" dirty="0">
                <a:solidFill>
                  <a:srgbClr val="566982"/>
                </a:solidFill>
                <a:latin typeface="Aptos" panose="020B0004020202020204" pitchFamily="34" charset="0"/>
              </a:rPr>
              <a:t>- Supports live demo and recovery walkthrough</a:t>
            </a:r>
          </a:p>
          <a:p>
            <a:r>
              <a:rPr lang="en-US" dirty="0">
                <a:solidFill>
                  <a:srgbClr val="566982"/>
                </a:solidFill>
                <a:latin typeface="Aptos" panose="020B0004020202020204" pitchFamily="34" charset="0"/>
              </a:rPr>
              <a:t>- Feeds Prometheus queue-depth metrics</a:t>
            </a:r>
          </a:p>
        </p:txBody>
      </p:sp>
      <p:sp>
        <p:nvSpPr>
          <p:cNvPr id="20" name="TextBox 19">
            <a:extLst>
              <a:ext uri="{FF2B5EF4-FFF2-40B4-BE49-F238E27FC236}">
                <a16:creationId xmlns:a16="http://schemas.microsoft.com/office/drawing/2014/main" id="{B498BECF-8378-F536-ABC7-EF785C535D65}"/>
              </a:ext>
            </a:extLst>
          </p:cNvPr>
          <p:cNvSpPr txBox="1"/>
          <p:nvPr/>
        </p:nvSpPr>
        <p:spPr>
          <a:xfrm>
            <a:off x="2149218" y="2006600"/>
            <a:ext cx="2528381" cy="374461"/>
          </a:xfrm>
          <a:prstGeom prst="rect">
            <a:avLst/>
          </a:prstGeom>
          <a:noFill/>
          <a:ln w="15875">
            <a:solidFill>
              <a:srgbClr val="D6E8F6"/>
            </a:solidFill>
          </a:ln>
          <a:effectLst>
            <a:outerShdw blurRad="63500" dist="28398" dir="3806086" rotWithShape="0">
              <a:srgbClr val="B9CCE0">
                <a:alpha val="22000"/>
              </a:srgbClr>
            </a:outerShdw>
          </a:effectLst>
        </p:spPr>
        <p:txBody>
          <a:bodyPr wrap="square" lIns="101600" tIns="63500" rIns="101600" bIns="63500" rtlCol="0">
            <a:normAutofit/>
          </a:bodyPr>
          <a:lstStyle/>
          <a:p>
            <a:r>
              <a:rPr lang="en-US" sz="1600" b="1" dirty="0">
                <a:solidFill>
                  <a:srgbClr val="566982"/>
                </a:solidFill>
                <a:latin typeface="Aptos" panose="020B0004020202020204" pitchFamily="34" charset="0"/>
              </a:rPr>
              <a:t>API Surface</a:t>
            </a:r>
          </a:p>
        </p:txBody>
      </p:sp>
      <p:sp>
        <p:nvSpPr>
          <p:cNvPr id="21" name="TextBox 20">
            <a:extLst>
              <a:ext uri="{FF2B5EF4-FFF2-40B4-BE49-F238E27FC236}">
                <a16:creationId xmlns:a16="http://schemas.microsoft.com/office/drawing/2014/main" id="{E08346AB-46C8-5A0C-C1CD-68E2A0F95EB0}"/>
              </a:ext>
            </a:extLst>
          </p:cNvPr>
          <p:cNvSpPr txBox="1"/>
          <p:nvPr/>
        </p:nvSpPr>
        <p:spPr>
          <a:xfrm>
            <a:off x="7568119" y="2006600"/>
            <a:ext cx="2528381" cy="374461"/>
          </a:xfrm>
          <a:prstGeom prst="rect">
            <a:avLst/>
          </a:prstGeom>
          <a:noFill/>
          <a:ln w="15875">
            <a:solidFill>
              <a:srgbClr val="D6E8F6"/>
            </a:solidFill>
          </a:ln>
          <a:effectLst>
            <a:outerShdw blurRad="63500" dist="28398" dir="3806086" rotWithShape="0">
              <a:srgbClr val="B9CCE0">
                <a:alpha val="22000"/>
              </a:srgbClr>
            </a:outerShdw>
          </a:effectLst>
        </p:spPr>
        <p:txBody>
          <a:bodyPr wrap="square" lIns="101600" tIns="63500" rIns="101600" bIns="63500" rtlCol="0">
            <a:normAutofit/>
          </a:bodyPr>
          <a:lstStyle/>
          <a:p>
            <a:pPr algn="ctr"/>
            <a:r>
              <a:rPr lang="en-US" sz="1600" b="1" dirty="0">
                <a:solidFill>
                  <a:srgbClr val="566982"/>
                </a:solidFill>
                <a:latin typeface="Aptos" panose="020B0004020202020204" pitchFamily="34" charset="0"/>
              </a:rPr>
              <a:t>Operational value</a:t>
            </a:r>
          </a:p>
        </p:txBody>
      </p:sp>
      <p:sp>
        <p:nvSpPr>
          <p:cNvPr id="25" name="codex_template_top_accent">
            <a:extLst>
              <a:ext uri="{FF2B5EF4-FFF2-40B4-BE49-F238E27FC236}">
                <a16:creationId xmlns:a16="http://schemas.microsoft.com/office/drawing/2014/main" id="{E8B58934-DFAA-230C-720B-C311E6ADBFD6}"/>
              </a:ext>
            </a:extLst>
          </p:cNvPr>
          <p:cNvSpPr/>
          <p:nvPr/>
        </p:nvSpPr>
        <p:spPr>
          <a:xfrm>
            <a:off x="0" y="0"/>
            <a:ext cx="12192000" cy="88900"/>
          </a:xfrm>
          <a:prstGeom prst="rect">
            <a:avLst/>
          </a:prstGeom>
          <a:solidFill>
            <a:srgbClr val="00A9E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codex_template_footer">
            <a:extLst>
              <a:ext uri="{FF2B5EF4-FFF2-40B4-BE49-F238E27FC236}">
                <a16:creationId xmlns:a16="http://schemas.microsoft.com/office/drawing/2014/main" id="{4E365636-BFD6-629B-A5B3-5F29E0C2F93B}"/>
              </a:ext>
            </a:extLst>
          </p:cNvPr>
          <p:cNvSpPr txBox="1"/>
          <p:nvPr/>
        </p:nvSpPr>
        <p:spPr>
          <a:xfrm>
            <a:off x="355600" y="6553200"/>
            <a:ext cx="10668000" cy="215444"/>
          </a:xfrm>
          <a:prstGeom prst="rect">
            <a:avLst/>
          </a:prstGeom>
          <a:noFill/>
        </p:spPr>
        <p:txBody>
          <a:bodyPr vert="horz" rtlCol="0">
            <a:spAutoFit/>
          </a:bodyPr>
          <a:lstStyle/>
          <a:p>
            <a:r>
              <a:rPr lang="en-US" sz="800">
                <a:solidFill>
                  <a:srgbClr val="566982"/>
                </a:solidFill>
                <a:latin typeface="Aptos" panose="020B0004020202020204" pitchFamily="34" charset="0"/>
              </a:rPr>
              <a:t>Enterprise Reconciliation Platform | Principal Engineer / Architect Assessment</a:t>
            </a:r>
          </a:p>
        </p:txBody>
      </p:sp>
      <p:sp>
        <p:nvSpPr>
          <p:cNvPr id="28" name="codex_template_slide_number">
            <a:extLst>
              <a:ext uri="{FF2B5EF4-FFF2-40B4-BE49-F238E27FC236}">
                <a16:creationId xmlns:a16="http://schemas.microsoft.com/office/drawing/2014/main" id="{BB043ADA-183B-AA6E-2DA5-3050036E9DA3}"/>
              </a:ext>
            </a:extLst>
          </p:cNvPr>
          <p:cNvSpPr txBox="1"/>
          <p:nvPr/>
        </p:nvSpPr>
        <p:spPr>
          <a:xfrm>
            <a:off x="11557000" y="6553200"/>
            <a:ext cx="355600" cy="215444"/>
          </a:xfrm>
          <a:prstGeom prst="rect">
            <a:avLst/>
          </a:prstGeom>
          <a:noFill/>
        </p:spPr>
        <p:txBody>
          <a:bodyPr vert="horz" rtlCol="0">
            <a:spAutoFit/>
          </a:bodyPr>
          <a:lstStyle/>
          <a:p>
            <a:r>
              <a:rPr lang="en-US" sz="800">
                <a:solidFill>
                  <a:srgbClr val="566982"/>
                </a:solidFill>
                <a:latin typeface="Aptos" panose="020B0004020202020204" pitchFamily="34" charset="0"/>
              </a:rPr>
              <a:t>9</a:t>
            </a:r>
          </a:p>
        </p:txBody>
      </p:sp>
      <p:cxnSp>
        <p:nvCxnSpPr>
          <p:cNvPr id="29" name="codex_template_title_rule">
            <a:extLst>
              <a:ext uri="{FF2B5EF4-FFF2-40B4-BE49-F238E27FC236}">
                <a16:creationId xmlns:a16="http://schemas.microsoft.com/office/drawing/2014/main" id="{0CB5F525-179C-3375-D3A6-43F33C769CF5}"/>
              </a:ext>
            </a:extLst>
          </p:cNvPr>
          <p:cNvCxnSpPr/>
          <p:nvPr/>
        </p:nvCxnSpPr>
        <p:spPr>
          <a:xfrm>
            <a:off x="822527" y="1251178"/>
            <a:ext cx="4648200" cy="0"/>
          </a:xfrm>
          <a:prstGeom prst="line">
            <a:avLst/>
          </a:prstGeom>
          <a:ln w="27940">
            <a:solidFill>
              <a:srgbClr val="00A9E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31472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codex_template_right_wash">
            <a:extLst>
              <a:ext uri="{FF2B5EF4-FFF2-40B4-BE49-F238E27FC236}">
                <a16:creationId xmlns:a16="http://schemas.microsoft.com/office/drawing/2014/main" id="{E29900C0-4573-0C87-0993-870D2CAE2B90}"/>
              </a:ext>
            </a:extLst>
          </p:cNvPr>
          <p:cNvSpPr/>
          <p:nvPr/>
        </p:nvSpPr>
        <p:spPr>
          <a:xfrm>
            <a:off x="9509760" y="0"/>
            <a:ext cx="2682240" cy="6858000"/>
          </a:xfrm>
          <a:prstGeom prst="rect">
            <a:avLst/>
          </a:prstGeom>
          <a:solidFill>
            <a:srgbClr val="E7F6FF">
              <a:alpha val="92000"/>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codex_template_header_band">
            <a:extLst>
              <a:ext uri="{FF2B5EF4-FFF2-40B4-BE49-F238E27FC236}">
                <a16:creationId xmlns:a16="http://schemas.microsoft.com/office/drawing/2014/main" id="{4E5BA983-4732-E826-587D-8846727C904B}"/>
              </a:ext>
            </a:extLst>
          </p:cNvPr>
          <p:cNvSpPr/>
          <p:nvPr/>
        </p:nvSpPr>
        <p:spPr>
          <a:xfrm>
            <a:off x="0" y="0"/>
            <a:ext cx="12192000" cy="812800"/>
          </a:xfrm>
          <a:prstGeom prst="rect">
            <a:avLst/>
          </a:prstGeom>
          <a:solidFill>
            <a:srgbClr val="ECF7FF">
              <a:alpha val="95000"/>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codex_template_background">
            <a:extLst>
              <a:ext uri="{FF2B5EF4-FFF2-40B4-BE49-F238E27FC236}">
                <a16:creationId xmlns:a16="http://schemas.microsoft.com/office/drawing/2014/main" id="{060C68B8-149D-571C-A9CB-D37D98542FBC}"/>
              </a:ext>
            </a:extLst>
          </p:cNvPr>
          <p:cNvSpPr/>
          <p:nvPr/>
        </p:nvSpPr>
        <p:spPr>
          <a:xfrm>
            <a:off x="0" y="0"/>
            <a:ext cx="12192000" cy="6858000"/>
          </a:xfrm>
          <a:prstGeom prst="rect">
            <a:avLst/>
          </a:prstGeom>
          <a:solidFill>
            <a:srgbClr val="F8FBF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CD5AB5F2-AE25-65E4-2849-4025349B0CAA}"/>
              </a:ext>
            </a:extLst>
          </p:cNvPr>
          <p:cNvSpPr txBox="1"/>
          <p:nvPr/>
        </p:nvSpPr>
        <p:spPr>
          <a:xfrm>
            <a:off x="825500" y="617246"/>
            <a:ext cx="10414000" cy="533400"/>
          </a:xfrm>
          <a:prstGeom prst="rect">
            <a:avLst/>
          </a:prstGeom>
          <a:solidFill>
            <a:scrgbClr r="0" g="0" b="0">
              <a:alpha val="0"/>
            </a:scrgbClr>
          </a:solidFill>
          <a:ln w="15875">
            <a:noFill/>
          </a:ln>
          <a:effectLst/>
        </p:spPr>
        <p:txBody>
          <a:bodyPr vert="horz" wrap="square" lIns="0" tIns="0" rIns="0" bIns="0" rtlCol="0">
            <a:noAutofit/>
          </a:bodyPr>
          <a:lstStyle/>
          <a:p>
            <a:r>
              <a:rPr lang="en-US" sz="2800" b="1" dirty="0">
                <a:solidFill>
                  <a:srgbClr val="142D4E"/>
                </a:solidFill>
                <a:latin typeface="Aptos Display" panose="020B0004020202020204" pitchFamily="34" charset="0"/>
              </a:rPr>
              <a:t>IBM MQ Topology and Recovery Paths</a:t>
            </a:r>
          </a:p>
        </p:txBody>
      </p:sp>
      <p:sp>
        <p:nvSpPr>
          <p:cNvPr id="14" name="Rectangle: Rounded Corners 13">
            <a:extLst>
              <a:ext uri="{FF2B5EF4-FFF2-40B4-BE49-F238E27FC236}">
                <a16:creationId xmlns:a16="http://schemas.microsoft.com/office/drawing/2014/main" id="{19DC7CC3-99B2-6E4B-39D3-85665D44B1BE}"/>
              </a:ext>
            </a:extLst>
          </p:cNvPr>
          <p:cNvSpPr/>
          <p:nvPr/>
        </p:nvSpPr>
        <p:spPr>
          <a:xfrm>
            <a:off x="814691" y="1721907"/>
            <a:ext cx="2159000" cy="923636"/>
          </a:xfrm>
          <a:prstGeom prst="roundRect">
            <a:avLst/>
          </a:prstGeom>
          <a:solidFill>
            <a:srgbClr val="FFF2DD"/>
          </a:solidFill>
          <a:ln w="20320" cap="flat" cmpd="sng" algn="ctr">
            <a:noFill/>
            <a:prstDash val="solid"/>
          </a:ln>
          <a:effectLst>
            <a:outerShdw blurRad="63500" dist="28398" dir="3806096" rotWithShape="0">
              <a:srgbClr val="B9CCE0">
                <a:alpha val="22000"/>
              </a:srgbClr>
            </a:outerShdw>
          </a:effectLst>
          <a:extLst>
            <a:ext uri="{91240B29-F687-4F45-9708-019B960494DF}">
              <a14:hiddenLine xmlns:a14="http://schemas.microsoft.com/office/drawing/2010/main" w="15875" cap="flat" cmpd="sng" algn="ctr">
                <a:solidFill>
                  <a:srgbClr val="EE9726"/>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ctr">
            <a:normAutofit/>
          </a:bodyPr>
          <a:lstStyle/>
          <a:p>
            <a:pPr algn="ctr"/>
            <a:r>
              <a:rPr lang="en-US" sz="1400" b="1" dirty="0">
                <a:solidFill>
                  <a:srgbClr val="566982"/>
                </a:solidFill>
                <a:latin typeface="Aptos" panose="020B0004020202020204" pitchFamily="34" charset="0"/>
              </a:rPr>
              <a:t>RECON.IN</a:t>
            </a:r>
          </a:p>
          <a:p>
            <a:pPr algn="ctr"/>
            <a:r>
              <a:rPr lang="en-US" sz="1400" b="1" dirty="0">
                <a:solidFill>
                  <a:srgbClr val="566982"/>
                </a:solidFill>
                <a:latin typeface="Aptos" panose="020B0004020202020204" pitchFamily="34" charset="0"/>
              </a:rPr>
              <a:t>Primary input</a:t>
            </a:r>
          </a:p>
        </p:txBody>
      </p:sp>
      <p:sp>
        <p:nvSpPr>
          <p:cNvPr id="15" name="Rectangle: Rounded Corners 14">
            <a:extLst>
              <a:ext uri="{FF2B5EF4-FFF2-40B4-BE49-F238E27FC236}">
                <a16:creationId xmlns:a16="http://schemas.microsoft.com/office/drawing/2014/main" id="{8A373127-503C-F6BD-F93D-CC382829620E}"/>
              </a:ext>
            </a:extLst>
          </p:cNvPr>
          <p:cNvSpPr/>
          <p:nvPr/>
        </p:nvSpPr>
        <p:spPr>
          <a:xfrm>
            <a:off x="3799191" y="1721907"/>
            <a:ext cx="2159000" cy="923636"/>
          </a:xfrm>
          <a:prstGeom prst="roundRect">
            <a:avLst/>
          </a:prstGeom>
          <a:solidFill>
            <a:srgbClr val="FFF2DD"/>
          </a:solidFill>
          <a:ln w="20320" cap="flat" cmpd="sng" algn="ctr">
            <a:noFill/>
            <a:prstDash val="solid"/>
          </a:ln>
          <a:effectLst>
            <a:outerShdw blurRad="63500" dist="28398" dir="3806096" rotWithShape="0">
              <a:srgbClr val="B9CCE0">
                <a:alpha val="22000"/>
              </a:srgbClr>
            </a:outerShdw>
          </a:effectLst>
          <a:extLst>
            <a:ext uri="{91240B29-F687-4F45-9708-019B960494DF}">
              <a14:hiddenLine xmlns:a14="http://schemas.microsoft.com/office/drawing/2010/main" w="15875" cap="flat" cmpd="sng" algn="ctr">
                <a:solidFill>
                  <a:srgbClr val="EE9726"/>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ctr">
            <a:normAutofit/>
          </a:bodyPr>
          <a:lstStyle/>
          <a:p>
            <a:pPr algn="ctr"/>
            <a:r>
              <a:rPr lang="en-US" sz="1400" b="1">
                <a:solidFill>
                  <a:srgbClr val="566982"/>
                </a:solidFill>
                <a:latin typeface="Aptos" panose="020B0004020202020204" pitchFamily="34" charset="0"/>
              </a:rPr>
              <a:t>RECON.RETRY</a:t>
            </a:r>
          </a:p>
          <a:p>
            <a:pPr algn="ctr"/>
            <a:r>
              <a:rPr lang="en-US" sz="1400" b="1">
                <a:solidFill>
                  <a:srgbClr val="566982"/>
                </a:solidFill>
                <a:latin typeface="Aptos" panose="020B0004020202020204" pitchFamily="34" charset="0"/>
              </a:rPr>
              <a:t>Retry queue</a:t>
            </a:r>
          </a:p>
        </p:txBody>
      </p:sp>
      <p:sp>
        <p:nvSpPr>
          <p:cNvPr id="16" name="Rectangle: Rounded Corners 15">
            <a:extLst>
              <a:ext uri="{FF2B5EF4-FFF2-40B4-BE49-F238E27FC236}">
                <a16:creationId xmlns:a16="http://schemas.microsoft.com/office/drawing/2014/main" id="{12A77A74-DBAA-094D-394E-524B31199C2E}"/>
              </a:ext>
            </a:extLst>
          </p:cNvPr>
          <p:cNvSpPr/>
          <p:nvPr/>
        </p:nvSpPr>
        <p:spPr>
          <a:xfrm>
            <a:off x="6783691" y="1721907"/>
            <a:ext cx="2159000" cy="923636"/>
          </a:xfrm>
          <a:prstGeom prst="roundRect">
            <a:avLst/>
          </a:prstGeom>
          <a:solidFill>
            <a:srgbClr val="FFE8E8"/>
          </a:solidFill>
          <a:ln w="20320" cap="flat" cmpd="sng" algn="ctr">
            <a:noFill/>
            <a:prstDash val="solid"/>
          </a:ln>
          <a:effectLst>
            <a:outerShdw blurRad="63500" dist="28398" dir="3806096" rotWithShape="0">
              <a:srgbClr val="B9CCE0">
                <a:alpha val="22000"/>
              </a:srgbClr>
            </a:outerShdw>
          </a:effectLst>
          <a:extLst>
            <a:ext uri="{91240B29-F687-4F45-9708-019B960494DF}">
              <a14:hiddenLine xmlns:a14="http://schemas.microsoft.com/office/drawing/2010/main" w="15875" cap="flat" cmpd="sng" algn="ctr">
                <a:solidFill>
                  <a:srgbClr val="D54F4F"/>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ctr">
            <a:normAutofit/>
          </a:bodyPr>
          <a:lstStyle/>
          <a:p>
            <a:pPr algn="ctr"/>
            <a:r>
              <a:rPr lang="en-US" sz="1400" b="1" dirty="0">
                <a:solidFill>
                  <a:srgbClr val="566982"/>
                </a:solidFill>
                <a:latin typeface="Aptos" panose="020B0004020202020204" pitchFamily="34" charset="0"/>
              </a:rPr>
              <a:t>RECON.BACKOUT</a:t>
            </a:r>
          </a:p>
          <a:p>
            <a:pPr algn="ctr"/>
            <a:r>
              <a:rPr lang="en-US" sz="1400" b="1" dirty="0">
                <a:solidFill>
                  <a:srgbClr val="566982"/>
                </a:solidFill>
                <a:latin typeface="Aptos" panose="020B0004020202020204" pitchFamily="34" charset="0"/>
              </a:rPr>
              <a:t>Poison/exhausted</a:t>
            </a:r>
          </a:p>
        </p:txBody>
      </p:sp>
      <p:sp>
        <p:nvSpPr>
          <p:cNvPr id="17" name="Rectangle: Rounded Corners 16">
            <a:extLst>
              <a:ext uri="{FF2B5EF4-FFF2-40B4-BE49-F238E27FC236}">
                <a16:creationId xmlns:a16="http://schemas.microsoft.com/office/drawing/2014/main" id="{CBC94CEB-DC37-9919-7854-EF27BD295932}"/>
              </a:ext>
            </a:extLst>
          </p:cNvPr>
          <p:cNvSpPr/>
          <p:nvPr/>
        </p:nvSpPr>
        <p:spPr>
          <a:xfrm>
            <a:off x="9768191" y="1721907"/>
            <a:ext cx="2159000" cy="923636"/>
          </a:xfrm>
          <a:prstGeom prst="roundRect">
            <a:avLst/>
          </a:prstGeom>
          <a:solidFill>
            <a:srgbClr val="FFE8E8"/>
          </a:solidFill>
          <a:ln w="20320" cap="flat" cmpd="sng" algn="ctr">
            <a:noFill/>
            <a:prstDash val="solid"/>
          </a:ln>
          <a:effectLst>
            <a:outerShdw blurRad="63500" dist="28398" dir="3806096" rotWithShape="0">
              <a:srgbClr val="B9CCE0">
                <a:alpha val="22000"/>
              </a:srgbClr>
            </a:outerShdw>
          </a:effectLst>
          <a:extLst>
            <a:ext uri="{91240B29-F687-4F45-9708-019B960494DF}">
              <a14:hiddenLine xmlns:a14="http://schemas.microsoft.com/office/drawing/2010/main" w="15875" cap="flat" cmpd="sng" algn="ctr">
                <a:solidFill>
                  <a:srgbClr val="D54F4F"/>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ctr">
            <a:normAutofit/>
          </a:bodyPr>
          <a:lstStyle/>
          <a:p>
            <a:pPr algn="ctr"/>
            <a:r>
              <a:rPr lang="en-US" sz="1400" b="1" dirty="0">
                <a:solidFill>
                  <a:srgbClr val="566982"/>
                </a:solidFill>
                <a:latin typeface="Aptos" panose="020B0004020202020204" pitchFamily="34" charset="0"/>
              </a:rPr>
              <a:t>SYSTEM.DLQ</a:t>
            </a:r>
          </a:p>
          <a:p>
            <a:pPr algn="ctr"/>
            <a:r>
              <a:rPr lang="en-US" sz="1400" b="1" dirty="0">
                <a:solidFill>
                  <a:srgbClr val="566982"/>
                </a:solidFill>
                <a:latin typeface="Aptos" panose="020B0004020202020204" pitchFamily="34" charset="0"/>
              </a:rPr>
              <a:t>Undeliverable</a:t>
            </a:r>
          </a:p>
        </p:txBody>
      </p:sp>
      <p:cxnSp>
        <p:nvCxnSpPr>
          <p:cNvPr id="18" name="Straight Connector 17">
            <a:extLst>
              <a:ext uri="{FF2B5EF4-FFF2-40B4-BE49-F238E27FC236}">
                <a16:creationId xmlns:a16="http://schemas.microsoft.com/office/drawing/2014/main" id="{7A37DF9F-AE22-F67E-4BF6-F759FBE2AE54}"/>
              </a:ext>
            </a:extLst>
          </p:cNvPr>
          <p:cNvCxnSpPr/>
          <p:nvPr/>
        </p:nvCxnSpPr>
        <p:spPr>
          <a:xfrm>
            <a:off x="2973691" y="2183725"/>
            <a:ext cx="825500" cy="0"/>
          </a:xfrm>
          <a:prstGeom prst="line">
            <a:avLst/>
          </a:prstGeom>
          <a:ln w="22860">
            <a:solidFill>
              <a:srgbClr val="EE9726"/>
            </a:solidFill>
            <a:tailEnd type="arrow"/>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36BEE6D5-A77F-887C-7AB2-E0146FE2E28E}"/>
              </a:ext>
            </a:extLst>
          </p:cNvPr>
          <p:cNvCxnSpPr/>
          <p:nvPr/>
        </p:nvCxnSpPr>
        <p:spPr>
          <a:xfrm>
            <a:off x="5958191" y="2183725"/>
            <a:ext cx="825500" cy="0"/>
          </a:xfrm>
          <a:prstGeom prst="line">
            <a:avLst/>
          </a:prstGeom>
          <a:ln w="22860">
            <a:solidFill>
              <a:srgbClr val="D54F4F"/>
            </a:solidFill>
            <a:tailEnd type="arrow"/>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AD8BEA6F-65B5-7C87-DBF9-9A2D8B25AE83}"/>
              </a:ext>
            </a:extLst>
          </p:cNvPr>
          <p:cNvCxnSpPr/>
          <p:nvPr/>
        </p:nvCxnSpPr>
        <p:spPr>
          <a:xfrm>
            <a:off x="8942691" y="2183725"/>
            <a:ext cx="825500" cy="0"/>
          </a:xfrm>
          <a:prstGeom prst="line">
            <a:avLst/>
          </a:prstGeom>
          <a:ln w="22860">
            <a:solidFill>
              <a:srgbClr val="D54F4F"/>
            </a:solidFill>
            <a:tailEnd type="arrow"/>
          </a:ln>
        </p:spPr>
        <p:style>
          <a:lnRef idx="2">
            <a:schemeClr val="accent1"/>
          </a:lnRef>
          <a:fillRef idx="0">
            <a:schemeClr val="accent1"/>
          </a:fillRef>
          <a:effectRef idx="1">
            <a:schemeClr val="accent1"/>
          </a:effectRef>
          <a:fontRef idx="minor">
            <a:schemeClr val="tx1"/>
          </a:fontRef>
        </p:style>
      </p:cxnSp>
      <p:sp>
        <p:nvSpPr>
          <p:cNvPr id="21" name="Rectangle: Rounded Corners 20">
            <a:extLst>
              <a:ext uri="{FF2B5EF4-FFF2-40B4-BE49-F238E27FC236}">
                <a16:creationId xmlns:a16="http://schemas.microsoft.com/office/drawing/2014/main" id="{20B9C1A5-CC25-DB3B-BA40-0B9A0BF2C5DB}"/>
              </a:ext>
            </a:extLst>
          </p:cNvPr>
          <p:cNvSpPr/>
          <p:nvPr/>
        </p:nvSpPr>
        <p:spPr>
          <a:xfrm>
            <a:off x="825500" y="3175000"/>
            <a:ext cx="3175000" cy="1841500"/>
          </a:xfrm>
          <a:prstGeom prst="roundRect">
            <a:avLst/>
          </a:prstGeom>
          <a:solidFill>
            <a:srgbClr val="F7FAFD"/>
          </a:solidFill>
          <a:ln w="20320" cap="flat" cmpd="sng" algn="ctr">
            <a:noFill/>
            <a:prstDash val="solid"/>
          </a:ln>
          <a:effectLst>
            <a:outerShdw blurRad="63500" dist="28398" dir="3806086" rotWithShape="0">
              <a:srgbClr val="B9CCE0">
                <a:alpha val="22000"/>
              </a:srgbClr>
            </a:outerShdw>
          </a:effectLst>
          <a:extLst>
            <a:ext uri="{91240B29-F687-4F45-9708-019B960494DF}">
              <a14:hiddenLine xmlns:a14="http://schemas.microsoft.com/office/drawing/2010/main" w="15875" cap="flat" cmpd="sng" algn="ctr">
                <a:solidFill>
                  <a:srgbClr val="5B6E86"/>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ctr">
            <a:noAutofit/>
          </a:bodyPr>
          <a:lstStyle/>
          <a:p>
            <a:pPr algn="ctr"/>
            <a:r>
              <a:rPr lang="en-US" sz="1300" b="1">
                <a:solidFill>
                  <a:srgbClr val="566982"/>
                </a:solidFill>
                <a:latin typeface="Aptos" panose="020B0004020202020204" pitchFamily="34" charset="0"/>
              </a:rPr>
              <a:t>MQ features demonstrated</a:t>
            </a:r>
          </a:p>
          <a:p>
            <a:pPr algn="ctr"/>
            <a:r>
              <a:rPr lang="en-US" sz="1300" b="1">
                <a:solidFill>
                  <a:srgbClr val="566982"/>
                </a:solidFill>
                <a:latin typeface="Aptos" panose="020B0004020202020204" pitchFamily="34" charset="0"/>
              </a:rPr>
              <a:t>- Retry queues</a:t>
            </a:r>
          </a:p>
          <a:p>
            <a:pPr algn="ctr"/>
            <a:r>
              <a:rPr lang="en-US" sz="1300" b="1">
                <a:solidFill>
                  <a:srgbClr val="566982"/>
                </a:solidFill>
                <a:latin typeface="Aptos" panose="020B0004020202020204" pitchFamily="34" charset="0"/>
              </a:rPr>
              <a:t>- Backout queue</a:t>
            </a:r>
          </a:p>
          <a:p>
            <a:pPr algn="ctr"/>
            <a:r>
              <a:rPr lang="en-US" sz="1300" b="1">
                <a:solidFill>
                  <a:srgbClr val="566982"/>
                </a:solidFill>
                <a:latin typeface="Aptos" panose="020B0004020202020204" pitchFamily="34" charset="0"/>
              </a:rPr>
              <a:t>- Dead-letter queue handling</a:t>
            </a:r>
          </a:p>
          <a:p>
            <a:pPr algn="ctr"/>
            <a:r>
              <a:rPr lang="en-US" sz="1300" b="1">
                <a:solidFill>
                  <a:srgbClr val="566982"/>
                </a:solidFill>
                <a:latin typeface="Aptos" panose="020B0004020202020204" pitchFamily="34" charset="0"/>
              </a:rPr>
              <a:t>- MQRC 2035 diagnosis and correction</a:t>
            </a:r>
          </a:p>
          <a:p>
            <a:pPr algn="ctr"/>
            <a:r>
              <a:rPr lang="en-US" sz="1300" b="1">
                <a:solidFill>
                  <a:srgbClr val="566982"/>
                </a:solidFill>
                <a:latin typeface="Aptos" panose="020B0004020202020204" pitchFamily="34" charset="0"/>
              </a:rPr>
              <a:t>- Poison message handling</a:t>
            </a:r>
          </a:p>
          <a:p>
            <a:pPr algn="ctr"/>
            <a:r>
              <a:rPr lang="en-US" sz="1300" b="1">
                <a:solidFill>
                  <a:srgbClr val="566982"/>
                </a:solidFill>
                <a:latin typeface="Aptos" panose="020B0004020202020204" pitchFamily="34" charset="0"/>
              </a:rPr>
              <a:t>- Message replay through dashboard</a:t>
            </a:r>
          </a:p>
        </p:txBody>
      </p:sp>
      <p:sp>
        <p:nvSpPr>
          <p:cNvPr id="22" name="Rectangle: Rounded Corners 21">
            <a:extLst>
              <a:ext uri="{FF2B5EF4-FFF2-40B4-BE49-F238E27FC236}">
                <a16:creationId xmlns:a16="http://schemas.microsoft.com/office/drawing/2014/main" id="{7D2824E3-12F7-DA24-6CF1-7ECB78E21990}"/>
              </a:ext>
            </a:extLst>
          </p:cNvPr>
          <p:cNvSpPr/>
          <p:nvPr/>
        </p:nvSpPr>
        <p:spPr>
          <a:xfrm>
            <a:off x="4572000" y="3175000"/>
            <a:ext cx="3175000" cy="1841500"/>
          </a:xfrm>
          <a:prstGeom prst="roundRect">
            <a:avLst/>
          </a:prstGeom>
          <a:solidFill>
            <a:srgbClr val="E1F8F4"/>
          </a:solidFill>
          <a:ln w="20320" cap="flat" cmpd="sng" algn="ctr">
            <a:noFill/>
            <a:prstDash val="solid"/>
          </a:ln>
          <a:effectLst>
            <a:outerShdw blurRad="63500" dist="28398" dir="3806086" rotWithShape="0">
              <a:srgbClr val="B9CCE0">
                <a:alpha val="22000"/>
              </a:srgbClr>
            </a:outerShdw>
          </a:effectLst>
          <a:extLst>
            <a:ext uri="{91240B29-F687-4F45-9708-019B960494DF}">
              <a14:hiddenLine xmlns:a14="http://schemas.microsoft.com/office/drawing/2010/main" w="15875" cap="flat" cmpd="sng" algn="ctr">
                <a:solidFill>
                  <a:srgbClr val="00998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ctr">
            <a:noAutofit/>
          </a:bodyPr>
          <a:lstStyle/>
          <a:p>
            <a:pPr algn="ctr"/>
            <a:r>
              <a:rPr lang="en-US" sz="1300" b="1">
                <a:solidFill>
                  <a:srgbClr val="566982"/>
                </a:solidFill>
                <a:latin typeface="Aptos" panose="020B0004020202020204" pitchFamily="34" charset="0"/>
              </a:rPr>
              <a:t>Recovery behavior</a:t>
            </a:r>
          </a:p>
          <a:p>
            <a:pPr algn="ctr"/>
            <a:r>
              <a:rPr lang="en-US" sz="1300" b="1">
                <a:solidFill>
                  <a:srgbClr val="566982"/>
                </a:solidFill>
                <a:latin typeface="Aptos" panose="020B0004020202020204" pitchFamily="34" charset="0"/>
              </a:rPr>
              <a:t>- Retryable failures are isolated</a:t>
            </a:r>
          </a:p>
          <a:p>
            <a:pPr algn="ctr"/>
            <a:r>
              <a:rPr lang="en-US" sz="1300" b="1">
                <a:solidFill>
                  <a:srgbClr val="566982"/>
                </a:solidFill>
                <a:latin typeface="Aptos" panose="020B0004020202020204" pitchFamily="34" charset="0"/>
              </a:rPr>
              <a:t>- Poison messages stop blocking the main queue</a:t>
            </a:r>
          </a:p>
          <a:p>
            <a:pPr algn="ctr"/>
            <a:r>
              <a:rPr lang="en-US" sz="1300" b="1">
                <a:solidFill>
                  <a:srgbClr val="566982"/>
                </a:solidFill>
                <a:latin typeface="Aptos" panose="020B0004020202020204" pitchFamily="34" charset="0"/>
              </a:rPr>
              <a:t>- DLQ is visible and measurable</a:t>
            </a:r>
          </a:p>
          <a:p>
            <a:pPr algn="ctr"/>
            <a:r>
              <a:rPr lang="en-US" sz="1300" b="1">
                <a:solidFill>
                  <a:srgbClr val="566982"/>
                </a:solidFill>
                <a:latin typeface="Aptos" panose="020B0004020202020204" pitchFamily="34" charset="0"/>
              </a:rPr>
              <a:t>- Replay path is explicit and auditable</a:t>
            </a:r>
          </a:p>
          <a:p>
            <a:pPr algn="ctr"/>
            <a:r>
              <a:rPr lang="en-US" sz="1300" b="1">
                <a:solidFill>
                  <a:srgbClr val="566982"/>
                </a:solidFill>
                <a:latin typeface="Aptos" panose="020B0004020202020204" pitchFamily="34" charset="0"/>
              </a:rPr>
              <a:t>- Correlation metadata is preserved</a:t>
            </a:r>
          </a:p>
        </p:txBody>
      </p:sp>
      <p:sp>
        <p:nvSpPr>
          <p:cNvPr id="23" name="Rectangle: Rounded Corners 22">
            <a:extLst>
              <a:ext uri="{FF2B5EF4-FFF2-40B4-BE49-F238E27FC236}">
                <a16:creationId xmlns:a16="http://schemas.microsoft.com/office/drawing/2014/main" id="{8811EF0F-C68D-D37A-1AAA-2C073C6E98AD}"/>
              </a:ext>
            </a:extLst>
          </p:cNvPr>
          <p:cNvSpPr/>
          <p:nvPr/>
        </p:nvSpPr>
        <p:spPr>
          <a:xfrm>
            <a:off x="8318500" y="3175000"/>
            <a:ext cx="3175000" cy="1841500"/>
          </a:xfrm>
          <a:prstGeom prst="roundRect">
            <a:avLst/>
          </a:prstGeom>
          <a:solidFill>
            <a:srgbClr val="E2F1FF"/>
          </a:solidFill>
          <a:ln w="20320" cap="flat" cmpd="sng" algn="ctr">
            <a:noFill/>
            <a:prstDash val="solid"/>
          </a:ln>
          <a:effectLst>
            <a:outerShdw blurRad="63500" dist="28398" dir="3806086" rotWithShape="0">
              <a:srgbClr val="B9CCE0">
                <a:alpha val="22000"/>
              </a:srgbClr>
            </a:outerShdw>
          </a:effectLst>
          <a:extLst>
            <a:ext uri="{91240B29-F687-4F45-9708-019B960494DF}">
              <a14:hiddenLine xmlns:a14="http://schemas.microsoft.com/office/drawing/2010/main" w="15875" cap="flat" cmpd="sng" algn="ctr">
                <a:solidFill>
                  <a:srgbClr val="0076D2"/>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ctr">
            <a:normAutofit/>
          </a:bodyPr>
          <a:lstStyle/>
          <a:p>
            <a:pPr algn="ctr"/>
            <a:r>
              <a:rPr lang="en-US" sz="1300" b="1">
                <a:solidFill>
                  <a:srgbClr val="566982"/>
                </a:solidFill>
                <a:latin typeface="Aptos" panose="020B0004020202020204" pitchFamily="34" charset="0"/>
              </a:rPr>
              <a:t>Operational evidence</a:t>
            </a:r>
          </a:p>
          <a:p>
            <a:pPr algn="ctr"/>
            <a:r>
              <a:rPr lang="en-US" sz="1300" b="1">
                <a:solidFill>
                  <a:srgbClr val="566982"/>
                </a:solidFill>
                <a:latin typeface="Aptos" panose="020B0004020202020204" pitchFamily="34" charset="0"/>
              </a:rPr>
              <a:t>- MQRC 2035 failure runbook</a:t>
            </a:r>
          </a:p>
          <a:p>
            <a:pPr algn="ctr"/>
            <a:r>
              <a:rPr lang="en-US" sz="1300" b="1">
                <a:solidFill>
                  <a:srgbClr val="566982"/>
                </a:solidFill>
                <a:latin typeface="Aptos" panose="020B0004020202020204" pitchFamily="34" charset="0"/>
              </a:rPr>
              <a:t>- OAM authority script</a:t>
            </a:r>
          </a:p>
          <a:p>
            <a:pPr algn="ctr"/>
            <a:r>
              <a:rPr lang="en-US" sz="1300" b="1">
                <a:solidFill>
                  <a:srgbClr val="566982"/>
                </a:solidFill>
                <a:latin typeface="Aptos" panose="020B0004020202020204" pitchFamily="34" charset="0"/>
              </a:rPr>
              <a:t>- Queue depth metrics</a:t>
            </a:r>
          </a:p>
          <a:p>
            <a:pPr algn="ctr"/>
            <a:r>
              <a:rPr lang="en-US" sz="1300" b="1">
                <a:solidFill>
                  <a:srgbClr val="566982"/>
                </a:solidFill>
                <a:latin typeface="Aptos" panose="020B0004020202020204" pitchFamily="34" charset="0"/>
              </a:rPr>
              <a:t>- Logs with correlationId</a:t>
            </a:r>
          </a:p>
          <a:p>
            <a:pPr algn="ctr"/>
            <a:r>
              <a:rPr lang="en-US" sz="1300" b="1">
                <a:solidFill>
                  <a:srgbClr val="566982"/>
                </a:solidFill>
                <a:latin typeface="Aptos" panose="020B0004020202020204" pitchFamily="34" charset="0"/>
              </a:rPr>
              <a:t>- Dashboard status confirms DB results</a:t>
            </a:r>
          </a:p>
        </p:txBody>
      </p:sp>
      <p:sp>
        <p:nvSpPr>
          <p:cNvPr id="29" name="codex_template_top_accent">
            <a:extLst>
              <a:ext uri="{FF2B5EF4-FFF2-40B4-BE49-F238E27FC236}">
                <a16:creationId xmlns:a16="http://schemas.microsoft.com/office/drawing/2014/main" id="{ADF3ECAA-8549-4845-2748-A7A66477EEC2}"/>
              </a:ext>
            </a:extLst>
          </p:cNvPr>
          <p:cNvSpPr/>
          <p:nvPr/>
        </p:nvSpPr>
        <p:spPr>
          <a:xfrm>
            <a:off x="0" y="0"/>
            <a:ext cx="12192000" cy="88900"/>
          </a:xfrm>
          <a:prstGeom prst="rect">
            <a:avLst/>
          </a:prstGeom>
          <a:solidFill>
            <a:srgbClr val="00A9E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codex_template_footer">
            <a:extLst>
              <a:ext uri="{FF2B5EF4-FFF2-40B4-BE49-F238E27FC236}">
                <a16:creationId xmlns:a16="http://schemas.microsoft.com/office/drawing/2014/main" id="{3372C9D0-81B2-2D19-22E5-77025FFB4BD2}"/>
              </a:ext>
            </a:extLst>
          </p:cNvPr>
          <p:cNvSpPr txBox="1"/>
          <p:nvPr/>
        </p:nvSpPr>
        <p:spPr>
          <a:xfrm>
            <a:off x="355600" y="6553200"/>
            <a:ext cx="10668000" cy="215444"/>
          </a:xfrm>
          <a:prstGeom prst="rect">
            <a:avLst/>
          </a:prstGeom>
          <a:noFill/>
        </p:spPr>
        <p:txBody>
          <a:bodyPr vert="horz" rtlCol="0">
            <a:spAutoFit/>
          </a:bodyPr>
          <a:lstStyle/>
          <a:p>
            <a:r>
              <a:rPr lang="en-US" sz="800">
                <a:solidFill>
                  <a:srgbClr val="566982"/>
                </a:solidFill>
                <a:latin typeface="Aptos" panose="020B0004020202020204" pitchFamily="34" charset="0"/>
              </a:rPr>
              <a:t>Enterprise Reconciliation Platform | Principal Engineer / Architect Assessment</a:t>
            </a:r>
          </a:p>
        </p:txBody>
      </p:sp>
      <p:sp>
        <p:nvSpPr>
          <p:cNvPr id="32" name="codex_template_slide_number">
            <a:extLst>
              <a:ext uri="{FF2B5EF4-FFF2-40B4-BE49-F238E27FC236}">
                <a16:creationId xmlns:a16="http://schemas.microsoft.com/office/drawing/2014/main" id="{34D0B6C9-2A59-8C3E-DEF6-688465FFA629}"/>
              </a:ext>
            </a:extLst>
          </p:cNvPr>
          <p:cNvSpPr txBox="1"/>
          <p:nvPr/>
        </p:nvSpPr>
        <p:spPr>
          <a:xfrm>
            <a:off x="11557000" y="6553200"/>
            <a:ext cx="355600" cy="215444"/>
          </a:xfrm>
          <a:prstGeom prst="rect">
            <a:avLst/>
          </a:prstGeom>
          <a:noFill/>
        </p:spPr>
        <p:txBody>
          <a:bodyPr vert="horz" rtlCol="0">
            <a:spAutoFit/>
          </a:bodyPr>
          <a:lstStyle/>
          <a:p>
            <a:r>
              <a:rPr lang="en-US" sz="800">
                <a:solidFill>
                  <a:srgbClr val="566982"/>
                </a:solidFill>
                <a:latin typeface="Aptos" panose="020B0004020202020204" pitchFamily="34" charset="0"/>
              </a:rPr>
              <a:t>10</a:t>
            </a:r>
          </a:p>
        </p:txBody>
      </p:sp>
      <p:cxnSp>
        <p:nvCxnSpPr>
          <p:cNvPr id="33" name="codex_template_title_rule">
            <a:extLst>
              <a:ext uri="{FF2B5EF4-FFF2-40B4-BE49-F238E27FC236}">
                <a16:creationId xmlns:a16="http://schemas.microsoft.com/office/drawing/2014/main" id="{FAE1221B-A12E-A597-6973-7FBCAD518C0D}"/>
              </a:ext>
            </a:extLst>
          </p:cNvPr>
          <p:cNvCxnSpPr/>
          <p:nvPr/>
        </p:nvCxnSpPr>
        <p:spPr>
          <a:xfrm>
            <a:off x="825500" y="1150646"/>
            <a:ext cx="4648200" cy="0"/>
          </a:xfrm>
          <a:prstGeom prst="line">
            <a:avLst/>
          </a:prstGeom>
          <a:ln w="27940">
            <a:solidFill>
              <a:srgbClr val="00A9E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70362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codex_template_right_wash">
            <a:extLst>
              <a:ext uri="{FF2B5EF4-FFF2-40B4-BE49-F238E27FC236}">
                <a16:creationId xmlns:a16="http://schemas.microsoft.com/office/drawing/2014/main" id="{36348014-71FC-79BA-7828-AD39559902FE}"/>
              </a:ext>
            </a:extLst>
          </p:cNvPr>
          <p:cNvSpPr/>
          <p:nvPr/>
        </p:nvSpPr>
        <p:spPr>
          <a:xfrm>
            <a:off x="9509760" y="0"/>
            <a:ext cx="2682240" cy="6858000"/>
          </a:xfrm>
          <a:prstGeom prst="rect">
            <a:avLst/>
          </a:prstGeom>
          <a:solidFill>
            <a:srgbClr val="E7F6FF">
              <a:alpha val="92000"/>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codex_template_header_band">
            <a:extLst>
              <a:ext uri="{FF2B5EF4-FFF2-40B4-BE49-F238E27FC236}">
                <a16:creationId xmlns:a16="http://schemas.microsoft.com/office/drawing/2014/main" id="{8D3D89BB-5CC9-60E0-D200-E6B2328094FB}"/>
              </a:ext>
            </a:extLst>
          </p:cNvPr>
          <p:cNvSpPr/>
          <p:nvPr/>
        </p:nvSpPr>
        <p:spPr>
          <a:xfrm>
            <a:off x="0" y="0"/>
            <a:ext cx="12192000" cy="812800"/>
          </a:xfrm>
          <a:prstGeom prst="rect">
            <a:avLst/>
          </a:prstGeom>
          <a:solidFill>
            <a:srgbClr val="ECF7FF">
              <a:alpha val="95000"/>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codex_template_background">
            <a:extLst>
              <a:ext uri="{FF2B5EF4-FFF2-40B4-BE49-F238E27FC236}">
                <a16:creationId xmlns:a16="http://schemas.microsoft.com/office/drawing/2014/main" id="{2070EC63-9C06-940E-779C-4ECE8B6828F0}"/>
              </a:ext>
            </a:extLst>
          </p:cNvPr>
          <p:cNvSpPr/>
          <p:nvPr/>
        </p:nvSpPr>
        <p:spPr>
          <a:xfrm>
            <a:off x="0" y="0"/>
            <a:ext cx="12192000" cy="6858000"/>
          </a:xfrm>
          <a:prstGeom prst="rect">
            <a:avLst/>
          </a:prstGeom>
          <a:solidFill>
            <a:srgbClr val="F8FBF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9491D44-1D1E-00E7-F61C-7B6F61AAA39B}"/>
              </a:ext>
            </a:extLst>
          </p:cNvPr>
          <p:cNvSpPr txBox="1"/>
          <p:nvPr/>
        </p:nvSpPr>
        <p:spPr>
          <a:xfrm>
            <a:off x="824357" y="576904"/>
            <a:ext cx="10414000" cy="533400"/>
          </a:xfrm>
          <a:prstGeom prst="rect">
            <a:avLst/>
          </a:prstGeom>
          <a:solidFill>
            <a:scrgbClr r="0" g="0" b="0">
              <a:alpha val="0"/>
            </a:scrgbClr>
          </a:solidFill>
          <a:ln w="15875">
            <a:noFill/>
          </a:ln>
          <a:effectLst/>
        </p:spPr>
        <p:txBody>
          <a:bodyPr vert="horz" wrap="square" lIns="0" tIns="0" rIns="0" bIns="0" rtlCol="0">
            <a:noAutofit/>
          </a:bodyPr>
          <a:lstStyle/>
          <a:p>
            <a:r>
              <a:rPr lang="en-US" sz="2800" b="1" dirty="0">
                <a:solidFill>
                  <a:srgbClr val="142D4E"/>
                </a:solidFill>
                <a:latin typeface="Aptos Display" panose="020B0004020202020204" pitchFamily="34" charset="0"/>
              </a:rPr>
              <a:t>Kubernetes Objects Implemented</a:t>
            </a:r>
          </a:p>
        </p:txBody>
      </p:sp>
      <p:sp>
        <p:nvSpPr>
          <p:cNvPr id="14" name="Rectangle: Rounded Corners 13">
            <a:extLst>
              <a:ext uri="{FF2B5EF4-FFF2-40B4-BE49-F238E27FC236}">
                <a16:creationId xmlns:a16="http://schemas.microsoft.com/office/drawing/2014/main" id="{024B89D3-3E6C-D024-64AE-02E12B940F32}"/>
              </a:ext>
            </a:extLst>
          </p:cNvPr>
          <p:cNvSpPr/>
          <p:nvPr/>
        </p:nvSpPr>
        <p:spPr>
          <a:xfrm>
            <a:off x="571500" y="2006600"/>
            <a:ext cx="5143500" cy="3722988"/>
          </a:xfrm>
          <a:prstGeom prst="roundRect">
            <a:avLst/>
          </a:prstGeom>
          <a:solidFill>
            <a:srgbClr val="E2F1FF"/>
          </a:solidFill>
          <a:ln w="15875">
            <a:solidFill>
              <a:srgbClr val="D6E8F6"/>
            </a:solidFill>
          </a:ln>
          <a:effectLst>
            <a:outerShdw blurRad="63500" dist="28398" dir="3806086" rotWithShape="0">
              <a:srgbClr val="B9CCE0">
                <a:alpha val="22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01600" tIns="76200" rIns="101600" bIns="76200" rtlCol="0" anchor="ctr"/>
          <a:lstStyle/>
          <a:p>
            <a:pPr algn="ctr"/>
            <a:endParaRPr lang="en-US" b="1" dirty="0">
              <a:solidFill>
                <a:srgbClr val="18304E"/>
              </a:solidFill>
              <a:latin typeface="Aptos" panose="020B0004020202020204" pitchFamily="34" charset="0"/>
            </a:endParaRPr>
          </a:p>
        </p:txBody>
      </p:sp>
      <p:sp>
        <p:nvSpPr>
          <p:cNvPr id="15" name="TextBox 14">
            <a:extLst>
              <a:ext uri="{FF2B5EF4-FFF2-40B4-BE49-F238E27FC236}">
                <a16:creationId xmlns:a16="http://schemas.microsoft.com/office/drawing/2014/main" id="{15C376CF-C3F9-6D2F-5DC0-C8A31B2084E0}"/>
              </a:ext>
            </a:extLst>
          </p:cNvPr>
          <p:cNvSpPr txBox="1"/>
          <p:nvPr/>
        </p:nvSpPr>
        <p:spPr>
          <a:xfrm>
            <a:off x="837057" y="2959724"/>
            <a:ext cx="4635500" cy="1446550"/>
          </a:xfrm>
          <a:prstGeom prst="rect">
            <a:avLst/>
          </a:prstGeom>
          <a:noFill/>
          <a:ln w="15875">
            <a:solidFill>
              <a:srgbClr val="D6E8F6"/>
            </a:solidFill>
          </a:ln>
          <a:effectLst>
            <a:outerShdw blurRad="63500" dist="28398" dir="3806086" rotWithShape="0">
              <a:srgbClr val="B9CCE0">
                <a:alpha val="22000"/>
              </a:srgbClr>
            </a:outerShdw>
          </a:effectLst>
        </p:spPr>
        <p:txBody>
          <a:bodyPr vert="horz" wrap="square" lIns="101600" tIns="63500" rIns="101600" bIns="63500" rtlCol="0">
            <a:normAutofit/>
          </a:bodyPr>
          <a:lstStyle/>
          <a:p>
            <a:r>
              <a:rPr lang="en-US" dirty="0">
                <a:solidFill>
                  <a:srgbClr val="566982"/>
                </a:solidFill>
                <a:latin typeface="Aptos" panose="020B0004020202020204" pitchFamily="34" charset="0"/>
              </a:rPr>
              <a:t>- Deployments for producer, consumer and dashboard</a:t>
            </a:r>
          </a:p>
          <a:p>
            <a:r>
              <a:rPr lang="en-US" dirty="0">
                <a:solidFill>
                  <a:srgbClr val="566982"/>
                </a:solidFill>
                <a:latin typeface="Aptos" panose="020B0004020202020204" pitchFamily="34" charset="0"/>
              </a:rPr>
              <a:t>- </a:t>
            </a:r>
            <a:r>
              <a:rPr lang="en-US" dirty="0" err="1">
                <a:solidFill>
                  <a:srgbClr val="566982"/>
                </a:solidFill>
                <a:latin typeface="Aptos" panose="020B0004020202020204" pitchFamily="34" charset="0"/>
              </a:rPr>
              <a:t>StatefulSet</a:t>
            </a:r>
            <a:r>
              <a:rPr lang="en-US" dirty="0">
                <a:solidFill>
                  <a:srgbClr val="566982"/>
                </a:solidFill>
                <a:latin typeface="Aptos" panose="020B0004020202020204" pitchFamily="34" charset="0"/>
              </a:rPr>
              <a:t> for IBM MQ</a:t>
            </a:r>
          </a:p>
          <a:p>
            <a:r>
              <a:rPr lang="en-US" dirty="0">
                <a:solidFill>
                  <a:srgbClr val="566982"/>
                </a:solidFill>
                <a:latin typeface="Aptos" panose="020B0004020202020204" pitchFamily="34" charset="0"/>
              </a:rPr>
              <a:t>- Services for app access and MQ internal routing</a:t>
            </a:r>
          </a:p>
          <a:p>
            <a:r>
              <a:rPr lang="en-US" dirty="0">
                <a:solidFill>
                  <a:srgbClr val="566982"/>
                </a:solidFill>
                <a:latin typeface="Aptos" panose="020B0004020202020204" pitchFamily="34" charset="0"/>
              </a:rPr>
              <a:t>- </a:t>
            </a:r>
            <a:r>
              <a:rPr lang="en-US" dirty="0" err="1">
                <a:solidFill>
                  <a:srgbClr val="566982"/>
                </a:solidFill>
                <a:latin typeface="Aptos" panose="020B0004020202020204" pitchFamily="34" charset="0"/>
              </a:rPr>
              <a:t>ConfigMaps</a:t>
            </a:r>
            <a:r>
              <a:rPr lang="en-US" dirty="0">
                <a:solidFill>
                  <a:srgbClr val="566982"/>
                </a:solidFill>
                <a:latin typeface="Aptos" panose="020B0004020202020204" pitchFamily="34" charset="0"/>
              </a:rPr>
              <a:t> for runtime configuration and MQSC setup</a:t>
            </a:r>
          </a:p>
          <a:p>
            <a:r>
              <a:rPr lang="en-US" dirty="0">
                <a:solidFill>
                  <a:srgbClr val="566982"/>
                </a:solidFill>
                <a:latin typeface="Aptos" panose="020B0004020202020204" pitchFamily="34" charset="0"/>
              </a:rPr>
              <a:t>- Secrets and IRSA for runtime credentials</a:t>
            </a:r>
          </a:p>
          <a:p>
            <a:r>
              <a:rPr lang="en-US" dirty="0">
                <a:solidFill>
                  <a:srgbClr val="566982"/>
                </a:solidFill>
                <a:latin typeface="Aptos" panose="020B0004020202020204" pitchFamily="34" charset="0"/>
              </a:rPr>
              <a:t>- HPAs, PDBs, liveness and readiness probes</a:t>
            </a:r>
          </a:p>
        </p:txBody>
      </p:sp>
      <p:sp>
        <p:nvSpPr>
          <p:cNvPr id="16" name="Rectangle: Rounded Corners 15">
            <a:extLst>
              <a:ext uri="{FF2B5EF4-FFF2-40B4-BE49-F238E27FC236}">
                <a16:creationId xmlns:a16="http://schemas.microsoft.com/office/drawing/2014/main" id="{92B34E90-17D8-8833-4D2E-7D8CAD80D0F7}"/>
              </a:ext>
            </a:extLst>
          </p:cNvPr>
          <p:cNvSpPr/>
          <p:nvPr/>
        </p:nvSpPr>
        <p:spPr>
          <a:xfrm>
            <a:off x="6477000" y="2006600"/>
            <a:ext cx="5143500" cy="3722991"/>
          </a:xfrm>
          <a:prstGeom prst="roundRect">
            <a:avLst/>
          </a:prstGeom>
          <a:solidFill>
            <a:srgbClr val="E1F8F4"/>
          </a:solidFill>
          <a:ln w="15875">
            <a:solidFill>
              <a:srgbClr val="D6E8F6"/>
            </a:solidFill>
          </a:ln>
          <a:effectLst>
            <a:outerShdw blurRad="63500" dist="28398" dir="3806086" rotWithShape="0">
              <a:srgbClr val="B9CCE0">
                <a:alpha val="22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01600" tIns="76200" rIns="101600" bIns="76200" rtlCol="0" anchor="ctr"/>
          <a:lstStyle/>
          <a:p>
            <a:pPr algn="ctr"/>
            <a:endParaRPr lang="en-US" b="1" dirty="0">
              <a:solidFill>
                <a:srgbClr val="18304E"/>
              </a:solidFill>
              <a:latin typeface="Aptos" panose="020B0004020202020204" pitchFamily="34" charset="0"/>
            </a:endParaRPr>
          </a:p>
        </p:txBody>
      </p:sp>
      <p:sp>
        <p:nvSpPr>
          <p:cNvPr id="17" name="TextBox 16">
            <a:extLst>
              <a:ext uri="{FF2B5EF4-FFF2-40B4-BE49-F238E27FC236}">
                <a16:creationId xmlns:a16="http://schemas.microsoft.com/office/drawing/2014/main" id="{A3AA0220-AEC5-BCB8-D32D-A19C53750083}"/>
              </a:ext>
            </a:extLst>
          </p:cNvPr>
          <p:cNvSpPr txBox="1"/>
          <p:nvPr/>
        </p:nvSpPr>
        <p:spPr>
          <a:xfrm>
            <a:off x="6921500" y="2918706"/>
            <a:ext cx="4635500" cy="1661993"/>
          </a:xfrm>
          <a:prstGeom prst="rect">
            <a:avLst/>
          </a:prstGeom>
          <a:noFill/>
          <a:ln w="15875">
            <a:solidFill>
              <a:srgbClr val="D6E8F6"/>
            </a:solidFill>
          </a:ln>
          <a:effectLst>
            <a:outerShdw blurRad="63500" dist="28398" dir="3806086" rotWithShape="0">
              <a:srgbClr val="B9CCE0">
                <a:alpha val="22000"/>
              </a:srgbClr>
            </a:outerShdw>
          </a:effectLst>
        </p:spPr>
        <p:txBody>
          <a:bodyPr vert="horz" wrap="square" lIns="101600" tIns="63500" rIns="101600" bIns="63500" rtlCol="0">
            <a:normAutofit/>
          </a:bodyPr>
          <a:lstStyle/>
          <a:p>
            <a:r>
              <a:rPr lang="en-US" dirty="0">
                <a:solidFill>
                  <a:srgbClr val="566982"/>
                </a:solidFill>
                <a:latin typeface="Aptos" panose="020B0004020202020204" pitchFamily="34" charset="0"/>
              </a:rPr>
              <a:t>- RollingUpdate deployments with controlled availability</a:t>
            </a:r>
          </a:p>
          <a:p>
            <a:r>
              <a:rPr lang="en-US" dirty="0">
                <a:solidFill>
                  <a:srgbClr val="566982"/>
                </a:solidFill>
                <a:latin typeface="Aptos" panose="020B0004020202020204" pitchFamily="34" charset="0"/>
              </a:rPr>
              <a:t>- Persistent storage through gp3 </a:t>
            </a:r>
            <a:r>
              <a:rPr lang="en-US" dirty="0" err="1">
                <a:solidFill>
                  <a:srgbClr val="566982"/>
                </a:solidFill>
                <a:latin typeface="Aptos" panose="020B0004020202020204" pitchFamily="34" charset="0"/>
              </a:rPr>
              <a:t>StorageClass</a:t>
            </a:r>
            <a:endParaRPr lang="en-US" dirty="0">
              <a:solidFill>
                <a:srgbClr val="566982"/>
              </a:solidFill>
              <a:latin typeface="Aptos" panose="020B0004020202020204" pitchFamily="34" charset="0"/>
            </a:endParaRPr>
          </a:p>
          <a:p>
            <a:r>
              <a:rPr lang="en-US" dirty="0">
                <a:solidFill>
                  <a:srgbClr val="566982"/>
                </a:solidFill>
                <a:latin typeface="Aptos" panose="020B0004020202020204" pitchFamily="34" charset="0"/>
              </a:rPr>
              <a:t>- Auto-recovery when pods crash</a:t>
            </a:r>
          </a:p>
          <a:p>
            <a:r>
              <a:rPr lang="en-US" dirty="0">
                <a:solidFill>
                  <a:srgbClr val="566982"/>
                </a:solidFill>
                <a:latin typeface="Aptos" panose="020B0004020202020204" pitchFamily="34" charset="0"/>
              </a:rPr>
              <a:t>- Consumer scaling controlled through HPA and concurrency settings</a:t>
            </a:r>
          </a:p>
          <a:p>
            <a:r>
              <a:rPr lang="en-US" dirty="0">
                <a:solidFill>
                  <a:srgbClr val="566982"/>
                </a:solidFill>
                <a:latin typeface="Aptos" panose="020B0004020202020204" pitchFamily="34" charset="0"/>
              </a:rPr>
              <a:t>- GitHub Actions builds and deploys container images to EKS</a:t>
            </a:r>
          </a:p>
        </p:txBody>
      </p:sp>
      <p:sp>
        <p:nvSpPr>
          <p:cNvPr id="20" name="TextBox 19">
            <a:extLst>
              <a:ext uri="{FF2B5EF4-FFF2-40B4-BE49-F238E27FC236}">
                <a16:creationId xmlns:a16="http://schemas.microsoft.com/office/drawing/2014/main" id="{0338A976-1C1C-E342-2706-E4BFBDBA9535}"/>
              </a:ext>
            </a:extLst>
          </p:cNvPr>
          <p:cNvSpPr txBox="1"/>
          <p:nvPr/>
        </p:nvSpPr>
        <p:spPr>
          <a:xfrm>
            <a:off x="7483569" y="2181443"/>
            <a:ext cx="2528381" cy="374461"/>
          </a:xfrm>
          <a:prstGeom prst="rect">
            <a:avLst/>
          </a:prstGeom>
          <a:noFill/>
          <a:ln w="15875">
            <a:solidFill>
              <a:srgbClr val="D6E8F6"/>
            </a:solidFill>
          </a:ln>
          <a:effectLst>
            <a:outerShdw blurRad="63500" dist="28398" dir="3806086" rotWithShape="0">
              <a:srgbClr val="B9CCE0">
                <a:alpha val="22000"/>
              </a:srgbClr>
            </a:outerShdw>
          </a:effectLst>
        </p:spPr>
        <p:txBody>
          <a:bodyPr wrap="square" lIns="101600" tIns="63500" rIns="101600" bIns="63500" rtlCol="0">
            <a:normAutofit/>
          </a:bodyPr>
          <a:lstStyle/>
          <a:p>
            <a:pPr algn="ctr"/>
            <a:r>
              <a:rPr lang="en-US" sz="1600" b="1" dirty="0">
                <a:solidFill>
                  <a:srgbClr val="566982"/>
                </a:solidFill>
                <a:latin typeface="Aptos" panose="020B0004020202020204" pitchFamily="34" charset="0"/>
              </a:rPr>
              <a:t>Operational behavior</a:t>
            </a:r>
          </a:p>
        </p:txBody>
      </p:sp>
      <p:sp>
        <p:nvSpPr>
          <p:cNvPr id="21" name="TextBox 20">
            <a:extLst>
              <a:ext uri="{FF2B5EF4-FFF2-40B4-BE49-F238E27FC236}">
                <a16:creationId xmlns:a16="http://schemas.microsoft.com/office/drawing/2014/main" id="{917F64FA-FB3F-6B58-4959-F4D8E727B7EB}"/>
              </a:ext>
            </a:extLst>
          </p:cNvPr>
          <p:cNvSpPr txBox="1"/>
          <p:nvPr/>
        </p:nvSpPr>
        <p:spPr>
          <a:xfrm>
            <a:off x="1511067" y="2161516"/>
            <a:ext cx="2528381" cy="374461"/>
          </a:xfrm>
          <a:prstGeom prst="rect">
            <a:avLst/>
          </a:prstGeom>
          <a:noFill/>
          <a:ln w="15875">
            <a:solidFill>
              <a:srgbClr val="D6E8F6"/>
            </a:solidFill>
          </a:ln>
          <a:effectLst>
            <a:outerShdw blurRad="63500" dist="28398" dir="3806086" rotWithShape="0">
              <a:srgbClr val="B9CCE0">
                <a:alpha val="22000"/>
              </a:srgbClr>
            </a:outerShdw>
          </a:effectLst>
        </p:spPr>
        <p:txBody>
          <a:bodyPr wrap="square" lIns="101600" tIns="63500" rIns="101600" bIns="63500" rtlCol="0">
            <a:normAutofit/>
          </a:bodyPr>
          <a:lstStyle/>
          <a:p>
            <a:pPr algn="ctr"/>
            <a:r>
              <a:rPr lang="en-US" sz="1600" b="1" dirty="0">
                <a:solidFill>
                  <a:srgbClr val="566982"/>
                </a:solidFill>
                <a:latin typeface="Aptos" panose="020B0004020202020204" pitchFamily="34" charset="0"/>
              </a:rPr>
              <a:t>Raw manifests</a:t>
            </a:r>
          </a:p>
        </p:txBody>
      </p:sp>
      <p:sp>
        <p:nvSpPr>
          <p:cNvPr id="25" name="codex_template_top_accent">
            <a:extLst>
              <a:ext uri="{FF2B5EF4-FFF2-40B4-BE49-F238E27FC236}">
                <a16:creationId xmlns:a16="http://schemas.microsoft.com/office/drawing/2014/main" id="{B0E3968F-D7EC-7054-DBD6-61E4748849F6}"/>
              </a:ext>
            </a:extLst>
          </p:cNvPr>
          <p:cNvSpPr/>
          <p:nvPr/>
        </p:nvSpPr>
        <p:spPr>
          <a:xfrm>
            <a:off x="0" y="0"/>
            <a:ext cx="12192000" cy="88900"/>
          </a:xfrm>
          <a:prstGeom prst="rect">
            <a:avLst/>
          </a:prstGeom>
          <a:solidFill>
            <a:srgbClr val="00A9E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codex_template_footer">
            <a:extLst>
              <a:ext uri="{FF2B5EF4-FFF2-40B4-BE49-F238E27FC236}">
                <a16:creationId xmlns:a16="http://schemas.microsoft.com/office/drawing/2014/main" id="{8035B898-CE14-6E68-9326-B8EC47D9992E}"/>
              </a:ext>
            </a:extLst>
          </p:cNvPr>
          <p:cNvSpPr txBox="1"/>
          <p:nvPr/>
        </p:nvSpPr>
        <p:spPr>
          <a:xfrm>
            <a:off x="355600" y="6553200"/>
            <a:ext cx="10668000" cy="215444"/>
          </a:xfrm>
          <a:prstGeom prst="rect">
            <a:avLst/>
          </a:prstGeom>
          <a:noFill/>
        </p:spPr>
        <p:txBody>
          <a:bodyPr vert="horz" rtlCol="0">
            <a:spAutoFit/>
          </a:bodyPr>
          <a:lstStyle/>
          <a:p>
            <a:r>
              <a:rPr lang="en-US" sz="800">
                <a:solidFill>
                  <a:srgbClr val="566982"/>
                </a:solidFill>
                <a:latin typeface="Aptos" panose="020B0004020202020204" pitchFamily="34" charset="0"/>
              </a:rPr>
              <a:t>Enterprise Reconciliation Platform | Principal Engineer / Architect Assessment</a:t>
            </a:r>
          </a:p>
        </p:txBody>
      </p:sp>
      <p:sp>
        <p:nvSpPr>
          <p:cNvPr id="28" name="codex_template_slide_number">
            <a:extLst>
              <a:ext uri="{FF2B5EF4-FFF2-40B4-BE49-F238E27FC236}">
                <a16:creationId xmlns:a16="http://schemas.microsoft.com/office/drawing/2014/main" id="{97F2A349-012F-3F7C-45CA-CFE1448DC8D4}"/>
              </a:ext>
            </a:extLst>
          </p:cNvPr>
          <p:cNvSpPr txBox="1"/>
          <p:nvPr/>
        </p:nvSpPr>
        <p:spPr>
          <a:xfrm>
            <a:off x="11557000" y="6553200"/>
            <a:ext cx="355600" cy="215444"/>
          </a:xfrm>
          <a:prstGeom prst="rect">
            <a:avLst/>
          </a:prstGeom>
          <a:noFill/>
        </p:spPr>
        <p:txBody>
          <a:bodyPr vert="horz" rtlCol="0">
            <a:spAutoFit/>
          </a:bodyPr>
          <a:lstStyle/>
          <a:p>
            <a:r>
              <a:rPr lang="en-US" sz="800">
                <a:solidFill>
                  <a:srgbClr val="566982"/>
                </a:solidFill>
                <a:latin typeface="Aptos" panose="020B0004020202020204" pitchFamily="34" charset="0"/>
              </a:rPr>
              <a:t>11</a:t>
            </a:r>
          </a:p>
        </p:txBody>
      </p:sp>
      <p:cxnSp>
        <p:nvCxnSpPr>
          <p:cNvPr id="29" name="codex_template_title_rule">
            <a:extLst>
              <a:ext uri="{FF2B5EF4-FFF2-40B4-BE49-F238E27FC236}">
                <a16:creationId xmlns:a16="http://schemas.microsoft.com/office/drawing/2014/main" id="{2D591C69-491C-A297-090E-DDF2281D1E0A}"/>
              </a:ext>
            </a:extLst>
          </p:cNvPr>
          <p:cNvCxnSpPr/>
          <p:nvPr/>
        </p:nvCxnSpPr>
        <p:spPr>
          <a:xfrm>
            <a:off x="824357" y="1237304"/>
            <a:ext cx="4648200" cy="0"/>
          </a:xfrm>
          <a:prstGeom prst="line">
            <a:avLst/>
          </a:prstGeom>
          <a:ln w="27940">
            <a:solidFill>
              <a:srgbClr val="00A9E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20546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codex_template_right_wash">
            <a:extLst>
              <a:ext uri="{FF2B5EF4-FFF2-40B4-BE49-F238E27FC236}">
                <a16:creationId xmlns:a16="http://schemas.microsoft.com/office/drawing/2014/main" id="{4483516C-C4E4-F58A-BF09-89CC7CAF9E4A}"/>
              </a:ext>
            </a:extLst>
          </p:cNvPr>
          <p:cNvSpPr/>
          <p:nvPr/>
        </p:nvSpPr>
        <p:spPr>
          <a:xfrm>
            <a:off x="9509760" y="0"/>
            <a:ext cx="2682240" cy="6858000"/>
          </a:xfrm>
          <a:prstGeom prst="rect">
            <a:avLst/>
          </a:prstGeom>
          <a:solidFill>
            <a:srgbClr val="E7F6FF">
              <a:alpha val="92000"/>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codex_template_header_band">
            <a:extLst>
              <a:ext uri="{FF2B5EF4-FFF2-40B4-BE49-F238E27FC236}">
                <a16:creationId xmlns:a16="http://schemas.microsoft.com/office/drawing/2014/main" id="{FAFF33E1-45E0-3C32-7A4F-9AC24BF2504E}"/>
              </a:ext>
            </a:extLst>
          </p:cNvPr>
          <p:cNvSpPr/>
          <p:nvPr/>
        </p:nvSpPr>
        <p:spPr>
          <a:xfrm>
            <a:off x="0" y="0"/>
            <a:ext cx="12192000" cy="812800"/>
          </a:xfrm>
          <a:prstGeom prst="rect">
            <a:avLst/>
          </a:prstGeom>
          <a:solidFill>
            <a:srgbClr val="ECF7FF">
              <a:alpha val="95000"/>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codex_template_background">
            <a:extLst>
              <a:ext uri="{FF2B5EF4-FFF2-40B4-BE49-F238E27FC236}">
                <a16:creationId xmlns:a16="http://schemas.microsoft.com/office/drawing/2014/main" id="{DA9377EE-EE2C-52DC-39AC-2BBCCC33CE76}"/>
              </a:ext>
            </a:extLst>
          </p:cNvPr>
          <p:cNvSpPr/>
          <p:nvPr/>
        </p:nvSpPr>
        <p:spPr>
          <a:xfrm>
            <a:off x="0" y="0"/>
            <a:ext cx="12192000" cy="6858000"/>
          </a:xfrm>
          <a:prstGeom prst="rect">
            <a:avLst/>
          </a:prstGeom>
          <a:solidFill>
            <a:srgbClr val="F8FBF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FF295B1-4A2A-2D6D-6BB5-E04C3E98F500}"/>
              </a:ext>
            </a:extLst>
          </p:cNvPr>
          <p:cNvSpPr txBox="1"/>
          <p:nvPr/>
        </p:nvSpPr>
        <p:spPr>
          <a:xfrm>
            <a:off x="841983" y="584200"/>
            <a:ext cx="10414000" cy="533400"/>
          </a:xfrm>
          <a:prstGeom prst="rect">
            <a:avLst/>
          </a:prstGeom>
          <a:solidFill>
            <a:scrgbClr r="0" g="0" b="0">
              <a:alpha val="0"/>
            </a:scrgbClr>
          </a:solidFill>
          <a:ln w="15875">
            <a:noFill/>
          </a:ln>
          <a:effectLst/>
        </p:spPr>
        <p:txBody>
          <a:bodyPr vert="horz" wrap="square" lIns="0" tIns="0" rIns="0" bIns="0" rtlCol="0">
            <a:noAutofit/>
          </a:bodyPr>
          <a:lstStyle/>
          <a:p>
            <a:r>
              <a:rPr lang="en-US" sz="2800" b="1" dirty="0">
                <a:solidFill>
                  <a:srgbClr val="142D4E"/>
                </a:solidFill>
                <a:latin typeface="Aptos Display" panose="020B0004020202020204" pitchFamily="34" charset="0"/>
              </a:rPr>
              <a:t>CI/CD: GitHub to AWS</a:t>
            </a:r>
          </a:p>
        </p:txBody>
      </p:sp>
      <p:sp>
        <p:nvSpPr>
          <p:cNvPr id="14" name="Rectangle: Rounded Corners 13">
            <a:extLst>
              <a:ext uri="{FF2B5EF4-FFF2-40B4-BE49-F238E27FC236}">
                <a16:creationId xmlns:a16="http://schemas.microsoft.com/office/drawing/2014/main" id="{00564DA2-98FC-70B0-3E37-521BF162E2EC}"/>
              </a:ext>
            </a:extLst>
          </p:cNvPr>
          <p:cNvSpPr/>
          <p:nvPr/>
        </p:nvSpPr>
        <p:spPr>
          <a:xfrm>
            <a:off x="698500" y="2159000"/>
            <a:ext cx="2032000" cy="1143000"/>
          </a:xfrm>
          <a:prstGeom prst="roundRect">
            <a:avLst/>
          </a:prstGeom>
          <a:solidFill>
            <a:srgbClr val="F7FAFD"/>
          </a:solidFill>
          <a:ln w="20320" cap="flat" cmpd="sng" algn="ctr">
            <a:noFill/>
            <a:prstDash val="solid"/>
          </a:ln>
          <a:effectLst>
            <a:outerShdw blurRad="63500" dist="28398" dir="3806086" rotWithShape="0">
              <a:srgbClr val="B9CCE0">
                <a:alpha val="22000"/>
              </a:srgbClr>
            </a:outerShdw>
          </a:effectLst>
          <a:extLst>
            <a:ext uri="{91240B29-F687-4F45-9708-019B960494DF}">
              <a14:hiddenLine xmlns:a14="http://schemas.microsoft.com/office/drawing/2010/main" w="15875" cap="flat" cmpd="sng" algn="ctr">
                <a:solidFill>
                  <a:srgbClr val="5B6E86"/>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ctr">
            <a:normAutofit/>
          </a:bodyPr>
          <a:lstStyle/>
          <a:p>
            <a:pPr algn="ctr"/>
            <a:r>
              <a:rPr lang="en-US" sz="1400" b="1">
                <a:solidFill>
                  <a:srgbClr val="566982"/>
                </a:solidFill>
                <a:latin typeface="Aptos" panose="020B0004020202020204" pitchFamily="34" charset="0"/>
              </a:rPr>
              <a:t>Developer Push</a:t>
            </a:r>
          </a:p>
          <a:p>
            <a:pPr algn="ctr"/>
            <a:r>
              <a:rPr lang="en-US" sz="1400" b="1">
                <a:solidFill>
                  <a:srgbClr val="566982"/>
                </a:solidFill>
                <a:latin typeface="Aptos" panose="020B0004020202020204" pitchFamily="34" charset="0"/>
              </a:rPr>
              <a:t>main branch</a:t>
            </a:r>
          </a:p>
        </p:txBody>
      </p:sp>
      <p:sp>
        <p:nvSpPr>
          <p:cNvPr id="15" name="Rectangle: Rounded Corners 14">
            <a:extLst>
              <a:ext uri="{FF2B5EF4-FFF2-40B4-BE49-F238E27FC236}">
                <a16:creationId xmlns:a16="http://schemas.microsoft.com/office/drawing/2014/main" id="{E1DC1863-209E-C7E8-888E-0756E53DC43D}"/>
              </a:ext>
            </a:extLst>
          </p:cNvPr>
          <p:cNvSpPr/>
          <p:nvPr/>
        </p:nvSpPr>
        <p:spPr>
          <a:xfrm>
            <a:off x="3429000" y="2006600"/>
            <a:ext cx="2286000" cy="1524000"/>
          </a:xfrm>
          <a:prstGeom prst="roundRect">
            <a:avLst/>
          </a:prstGeom>
          <a:solidFill>
            <a:srgbClr val="E2F1FF"/>
          </a:solidFill>
          <a:ln w="20320" cap="flat" cmpd="sng" algn="ctr">
            <a:noFill/>
            <a:prstDash val="solid"/>
          </a:ln>
          <a:effectLst>
            <a:outerShdw blurRad="63500" dist="28398" dir="3806086" rotWithShape="0">
              <a:srgbClr val="B9CCE0">
                <a:alpha val="22000"/>
              </a:srgbClr>
            </a:outerShdw>
          </a:effectLst>
          <a:extLst>
            <a:ext uri="{91240B29-F687-4F45-9708-019B960494DF}">
              <a14:hiddenLine xmlns:a14="http://schemas.microsoft.com/office/drawing/2010/main" w="15875" cap="flat" cmpd="sng" algn="ctr">
                <a:solidFill>
                  <a:srgbClr val="0076D2"/>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ctr">
            <a:normAutofit/>
          </a:bodyPr>
          <a:lstStyle/>
          <a:p>
            <a:pPr algn="ctr"/>
            <a:r>
              <a:rPr lang="en-US" sz="1400" b="1">
                <a:solidFill>
                  <a:srgbClr val="566982"/>
                </a:solidFill>
                <a:latin typeface="Aptos" panose="020B0004020202020204" pitchFamily="34" charset="0"/>
              </a:rPr>
              <a:t>GitHub Actions</a:t>
            </a:r>
          </a:p>
          <a:p>
            <a:pPr algn="ctr"/>
            <a:r>
              <a:rPr lang="en-US" sz="1400" b="1">
                <a:solidFill>
                  <a:srgbClr val="566982"/>
                </a:solidFill>
                <a:latin typeface="Aptos" panose="020B0004020202020204" pitchFamily="34" charset="0"/>
              </a:rPr>
              <a:t>Build</a:t>
            </a:r>
          </a:p>
          <a:p>
            <a:pPr algn="ctr"/>
            <a:r>
              <a:rPr lang="en-US" sz="1400" b="1">
                <a:solidFill>
                  <a:srgbClr val="566982"/>
                </a:solidFill>
                <a:latin typeface="Aptos" panose="020B0004020202020204" pitchFamily="34" charset="0"/>
              </a:rPr>
              <a:t>Unit tests</a:t>
            </a:r>
          </a:p>
          <a:p>
            <a:pPr algn="ctr"/>
            <a:r>
              <a:rPr lang="en-US" sz="1400" b="1">
                <a:solidFill>
                  <a:srgbClr val="566982"/>
                </a:solidFill>
                <a:latin typeface="Aptos" panose="020B0004020202020204" pitchFamily="34" charset="0"/>
              </a:rPr>
              <a:t>Containerize</a:t>
            </a:r>
          </a:p>
        </p:txBody>
      </p:sp>
      <p:sp>
        <p:nvSpPr>
          <p:cNvPr id="16" name="Rectangle: Rounded Corners 15">
            <a:extLst>
              <a:ext uri="{FF2B5EF4-FFF2-40B4-BE49-F238E27FC236}">
                <a16:creationId xmlns:a16="http://schemas.microsoft.com/office/drawing/2014/main" id="{E4541A70-3F91-C57C-3CCB-0A3D39FE79CC}"/>
              </a:ext>
            </a:extLst>
          </p:cNvPr>
          <p:cNvSpPr/>
          <p:nvPr/>
        </p:nvSpPr>
        <p:spPr>
          <a:xfrm>
            <a:off x="6413500" y="2159000"/>
            <a:ext cx="2032000" cy="1143000"/>
          </a:xfrm>
          <a:prstGeom prst="roundRect">
            <a:avLst/>
          </a:prstGeom>
          <a:solidFill>
            <a:srgbClr val="FFF2DD"/>
          </a:solidFill>
          <a:ln w="20320" cap="flat" cmpd="sng" algn="ctr">
            <a:noFill/>
            <a:prstDash val="solid"/>
          </a:ln>
          <a:effectLst>
            <a:outerShdw blurRad="63500" dist="28398" dir="3806086" rotWithShape="0">
              <a:srgbClr val="B9CCE0">
                <a:alpha val="22000"/>
              </a:srgbClr>
            </a:outerShdw>
          </a:effectLst>
          <a:extLst>
            <a:ext uri="{91240B29-F687-4F45-9708-019B960494DF}">
              <a14:hiddenLine xmlns:a14="http://schemas.microsoft.com/office/drawing/2010/main" w="15875" cap="flat" cmpd="sng" algn="ctr">
                <a:solidFill>
                  <a:srgbClr val="EE9726"/>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ctr">
            <a:normAutofit/>
          </a:bodyPr>
          <a:lstStyle/>
          <a:p>
            <a:pPr algn="ctr"/>
            <a:r>
              <a:rPr lang="en-US" sz="1400" b="1">
                <a:solidFill>
                  <a:srgbClr val="566982"/>
                </a:solidFill>
                <a:latin typeface="Aptos" panose="020B0004020202020204" pitchFamily="34" charset="0"/>
              </a:rPr>
              <a:t>Amazon ECR</a:t>
            </a:r>
          </a:p>
          <a:p>
            <a:pPr algn="ctr"/>
            <a:r>
              <a:rPr lang="en-US" sz="1400" b="1">
                <a:solidFill>
                  <a:srgbClr val="566982"/>
                </a:solidFill>
                <a:latin typeface="Aptos" panose="020B0004020202020204" pitchFamily="34" charset="0"/>
              </a:rPr>
              <a:t>Versioned images</a:t>
            </a:r>
          </a:p>
        </p:txBody>
      </p:sp>
      <p:sp>
        <p:nvSpPr>
          <p:cNvPr id="17" name="Rectangle: Rounded Corners 16">
            <a:extLst>
              <a:ext uri="{FF2B5EF4-FFF2-40B4-BE49-F238E27FC236}">
                <a16:creationId xmlns:a16="http://schemas.microsoft.com/office/drawing/2014/main" id="{DE161DF0-799E-11AC-6674-AD960F057CB8}"/>
              </a:ext>
            </a:extLst>
          </p:cNvPr>
          <p:cNvSpPr/>
          <p:nvPr/>
        </p:nvSpPr>
        <p:spPr>
          <a:xfrm>
            <a:off x="9144000" y="2006600"/>
            <a:ext cx="2286000" cy="1524000"/>
          </a:xfrm>
          <a:prstGeom prst="roundRect">
            <a:avLst/>
          </a:prstGeom>
          <a:solidFill>
            <a:srgbClr val="E1F8F4"/>
          </a:solidFill>
          <a:ln w="20320" cap="flat" cmpd="sng" algn="ctr">
            <a:noFill/>
            <a:prstDash val="solid"/>
          </a:ln>
          <a:effectLst>
            <a:outerShdw blurRad="63500" dist="28398" dir="3806086" rotWithShape="0">
              <a:srgbClr val="B9CCE0">
                <a:alpha val="22000"/>
              </a:srgbClr>
            </a:outerShdw>
          </a:effectLst>
          <a:extLst>
            <a:ext uri="{91240B29-F687-4F45-9708-019B960494DF}">
              <a14:hiddenLine xmlns:a14="http://schemas.microsoft.com/office/drawing/2010/main" w="15875" cap="flat" cmpd="sng" algn="ctr">
                <a:solidFill>
                  <a:srgbClr val="00998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ctr">
            <a:normAutofit/>
          </a:bodyPr>
          <a:lstStyle/>
          <a:p>
            <a:pPr algn="ctr"/>
            <a:r>
              <a:rPr lang="en-US" sz="1400" b="1">
                <a:solidFill>
                  <a:srgbClr val="566982"/>
                </a:solidFill>
                <a:latin typeface="Aptos" panose="020B0004020202020204" pitchFamily="34" charset="0"/>
              </a:rPr>
              <a:t>Amazon EKS</a:t>
            </a:r>
          </a:p>
          <a:p>
            <a:pPr algn="ctr"/>
            <a:r>
              <a:rPr lang="en-US" sz="1400" b="1">
                <a:solidFill>
                  <a:srgbClr val="566982"/>
                </a:solidFill>
                <a:latin typeface="Aptos" panose="020B0004020202020204" pitchFamily="34" charset="0"/>
              </a:rPr>
              <a:t>kubectl apply</a:t>
            </a:r>
          </a:p>
          <a:p>
            <a:pPr algn="ctr"/>
            <a:r>
              <a:rPr lang="en-US" sz="1400" b="1">
                <a:solidFill>
                  <a:srgbClr val="566982"/>
                </a:solidFill>
                <a:latin typeface="Aptos" panose="020B0004020202020204" pitchFamily="34" charset="0"/>
              </a:rPr>
              <a:t>rollout status</a:t>
            </a:r>
          </a:p>
        </p:txBody>
      </p:sp>
      <p:cxnSp>
        <p:nvCxnSpPr>
          <p:cNvPr id="18" name="Straight Connector 17">
            <a:extLst>
              <a:ext uri="{FF2B5EF4-FFF2-40B4-BE49-F238E27FC236}">
                <a16:creationId xmlns:a16="http://schemas.microsoft.com/office/drawing/2014/main" id="{EA9B4A22-7892-214C-4CD4-162492EE1A1D}"/>
              </a:ext>
            </a:extLst>
          </p:cNvPr>
          <p:cNvCxnSpPr/>
          <p:nvPr/>
        </p:nvCxnSpPr>
        <p:spPr>
          <a:xfrm>
            <a:off x="2730500" y="2730500"/>
            <a:ext cx="698500" cy="0"/>
          </a:xfrm>
          <a:prstGeom prst="line">
            <a:avLst/>
          </a:prstGeom>
          <a:ln w="22860">
            <a:solidFill>
              <a:srgbClr val="5B6E86"/>
            </a:solidFill>
            <a:tailEnd type="arrow"/>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0F7E1EF6-5B15-8BAB-1A25-327914298483}"/>
              </a:ext>
            </a:extLst>
          </p:cNvPr>
          <p:cNvCxnSpPr/>
          <p:nvPr/>
        </p:nvCxnSpPr>
        <p:spPr>
          <a:xfrm>
            <a:off x="5715000" y="2730500"/>
            <a:ext cx="698500" cy="0"/>
          </a:xfrm>
          <a:prstGeom prst="line">
            <a:avLst/>
          </a:prstGeom>
          <a:ln w="22860">
            <a:solidFill>
              <a:srgbClr val="5B6E86"/>
            </a:solidFill>
            <a:tailEnd type="arrow"/>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65E92A72-75AB-3848-0326-C2E7E66055B1}"/>
              </a:ext>
            </a:extLst>
          </p:cNvPr>
          <p:cNvCxnSpPr/>
          <p:nvPr/>
        </p:nvCxnSpPr>
        <p:spPr>
          <a:xfrm>
            <a:off x="8445500" y="2730500"/>
            <a:ext cx="698500" cy="0"/>
          </a:xfrm>
          <a:prstGeom prst="line">
            <a:avLst/>
          </a:prstGeom>
          <a:ln w="22860">
            <a:solidFill>
              <a:srgbClr val="5B6E86"/>
            </a:solidFill>
            <a:tailEnd type="arrow"/>
          </a:ln>
        </p:spPr>
        <p:style>
          <a:lnRef idx="2">
            <a:schemeClr val="accent1"/>
          </a:lnRef>
          <a:fillRef idx="0">
            <a:schemeClr val="accent1"/>
          </a:fillRef>
          <a:effectRef idx="1">
            <a:schemeClr val="accent1"/>
          </a:effectRef>
          <a:fontRef idx="minor">
            <a:schemeClr val="tx1"/>
          </a:fontRef>
        </p:style>
      </p:cxnSp>
      <p:sp>
        <p:nvSpPr>
          <p:cNvPr id="21" name="Rectangle: Rounded Corners 20">
            <a:extLst>
              <a:ext uri="{FF2B5EF4-FFF2-40B4-BE49-F238E27FC236}">
                <a16:creationId xmlns:a16="http://schemas.microsoft.com/office/drawing/2014/main" id="{B164BC8C-B551-5133-AAB0-D6262D5B2084}"/>
              </a:ext>
            </a:extLst>
          </p:cNvPr>
          <p:cNvSpPr/>
          <p:nvPr/>
        </p:nvSpPr>
        <p:spPr>
          <a:xfrm>
            <a:off x="762000" y="5334000"/>
            <a:ext cx="11112500" cy="914400"/>
          </a:xfrm>
          <a:prstGeom prst="roundRect">
            <a:avLst/>
          </a:prstGeom>
          <a:solidFill>
            <a:srgbClr val="F7FAFD"/>
          </a:solidFill>
          <a:ln w="20320" cap="flat" cmpd="sng" algn="ctr">
            <a:noFill/>
            <a:prstDash val="solid"/>
          </a:ln>
          <a:effectLst>
            <a:outerShdw blurRad="63500" dist="28398" dir="3806096" rotWithShape="0">
              <a:srgbClr val="B9CCE0">
                <a:alpha val="22000"/>
              </a:srgbClr>
            </a:outerShdw>
          </a:effectLst>
          <a:extLst>
            <a:ext uri="{91240B29-F687-4F45-9708-019B960494DF}">
              <a14:hiddenLine xmlns:a14="http://schemas.microsoft.com/office/drawing/2010/main" w="15875" cap="flat" cmpd="sng" algn="ctr">
                <a:solidFill>
                  <a:srgbClr val="5B6E86"/>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ctr">
            <a:normAutofit/>
          </a:bodyPr>
          <a:lstStyle/>
          <a:p>
            <a:pPr algn="ctr"/>
            <a:r>
              <a:rPr lang="en-US">
                <a:solidFill>
                  <a:srgbClr val="566982"/>
                </a:solidFill>
                <a:latin typeface="Aptos" panose="020B0004020202020204" pitchFamily="34" charset="0"/>
              </a:rPr>
              <a:t>Deploy role pattern</a:t>
            </a:r>
          </a:p>
          <a:p>
            <a:pPr algn="ctr"/>
            <a:r>
              <a:rPr lang="en-US">
                <a:solidFill>
                  <a:srgbClr val="566982"/>
                </a:solidFill>
                <a:latin typeface="Aptos" panose="020B0004020202020204" pitchFamily="34" charset="0"/>
              </a:rPr>
              <a:t>GitHub assumes an AWS IAM role through OIDC. The workflow builds all three services, pushes images to ECR, applies raw Kubernetes manifests, and waits for rollout completion. Kubernetes access still depends on EKS access entry or aws-auth mapping.</a:t>
            </a:r>
          </a:p>
        </p:txBody>
      </p:sp>
      <p:sp>
        <p:nvSpPr>
          <p:cNvPr id="27" name="codex_template_top_accent">
            <a:extLst>
              <a:ext uri="{FF2B5EF4-FFF2-40B4-BE49-F238E27FC236}">
                <a16:creationId xmlns:a16="http://schemas.microsoft.com/office/drawing/2014/main" id="{4882BC59-2B6C-5209-9AD6-33AF69A08057}"/>
              </a:ext>
            </a:extLst>
          </p:cNvPr>
          <p:cNvSpPr/>
          <p:nvPr/>
        </p:nvSpPr>
        <p:spPr>
          <a:xfrm>
            <a:off x="0" y="0"/>
            <a:ext cx="12192000" cy="88900"/>
          </a:xfrm>
          <a:prstGeom prst="rect">
            <a:avLst/>
          </a:prstGeom>
          <a:solidFill>
            <a:srgbClr val="00A9E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codex_template_footer">
            <a:extLst>
              <a:ext uri="{FF2B5EF4-FFF2-40B4-BE49-F238E27FC236}">
                <a16:creationId xmlns:a16="http://schemas.microsoft.com/office/drawing/2014/main" id="{2BF687F0-A7CA-24FF-3117-D2D3DC21DE7D}"/>
              </a:ext>
            </a:extLst>
          </p:cNvPr>
          <p:cNvSpPr txBox="1"/>
          <p:nvPr/>
        </p:nvSpPr>
        <p:spPr>
          <a:xfrm>
            <a:off x="355600" y="6553200"/>
            <a:ext cx="10668000" cy="215444"/>
          </a:xfrm>
          <a:prstGeom prst="rect">
            <a:avLst/>
          </a:prstGeom>
          <a:noFill/>
        </p:spPr>
        <p:txBody>
          <a:bodyPr vert="horz" rtlCol="0">
            <a:spAutoFit/>
          </a:bodyPr>
          <a:lstStyle/>
          <a:p>
            <a:r>
              <a:rPr lang="en-US" sz="800">
                <a:solidFill>
                  <a:srgbClr val="566982"/>
                </a:solidFill>
                <a:latin typeface="Aptos" panose="020B0004020202020204" pitchFamily="34" charset="0"/>
              </a:rPr>
              <a:t>Enterprise Reconciliation Platform | Principal Engineer / Architect Assessment</a:t>
            </a:r>
          </a:p>
        </p:txBody>
      </p:sp>
      <p:sp>
        <p:nvSpPr>
          <p:cNvPr id="30" name="codex_template_slide_number">
            <a:extLst>
              <a:ext uri="{FF2B5EF4-FFF2-40B4-BE49-F238E27FC236}">
                <a16:creationId xmlns:a16="http://schemas.microsoft.com/office/drawing/2014/main" id="{B1E8B9DB-74AF-14E1-52F3-14819793560F}"/>
              </a:ext>
            </a:extLst>
          </p:cNvPr>
          <p:cNvSpPr txBox="1"/>
          <p:nvPr/>
        </p:nvSpPr>
        <p:spPr>
          <a:xfrm>
            <a:off x="11557000" y="6553200"/>
            <a:ext cx="355600" cy="215444"/>
          </a:xfrm>
          <a:prstGeom prst="rect">
            <a:avLst/>
          </a:prstGeom>
          <a:noFill/>
        </p:spPr>
        <p:txBody>
          <a:bodyPr vert="horz" rtlCol="0">
            <a:spAutoFit/>
          </a:bodyPr>
          <a:lstStyle/>
          <a:p>
            <a:r>
              <a:rPr lang="en-US" sz="800">
                <a:solidFill>
                  <a:srgbClr val="566982"/>
                </a:solidFill>
                <a:latin typeface="Aptos" panose="020B0004020202020204" pitchFamily="34" charset="0"/>
              </a:rPr>
              <a:t>12</a:t>
            </a:r>
          </a:p>
        </p:txBody>
      </p:sp>
      <p:cxnSp>
        <p:nvCxnSpPr>
          <p:cNvPr id="31" name="codex_template_title_rule">
            <a:extLst>
              <a:ext uri="{FF2B5EF4-FFF2-40B4-BE49-F238E27FC236}">
                <a16:creationId xmlns:a16="http://schemas.microsoft.com/office/drawing/2014/main" id="{0F74863B-AAD3-8932-EEA7-73356A175A77}"/>
              </a:ext>
            </a:extLst>
          </p:cNvPr>
          <p:cNvCxnSpPr/>
          <p:nvPr/>
        </p:nvCxnSpPr>
        <p:spPr>
          <a:xfrm>
            <a:off x="841983" y="1244600"/>
            <a:ext cx="4648200" cy="0"/>
          </a:xfrm>
          <a:prstGeom prst="line">
            <a:avLst/>
          </a:prstGeom>
          <a:ln w="27940">
            <a:solidFill>
              <a:srgbClr val="00A9E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32685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codex_template_right_wash">
            <a:extLst>
              <a:ext uri="{FF2B5EF4-FFF2-40B4-BE49-F238E27FC236}">
                <a16:creationId xmlns:a16="http://schemas.microsoft.com/office/drawing/2014/main" id="{573447FD-7199-A92B-E4BB-14787466016A}"/>
              </a:ext>
            </a:extLst>
          </p:cNvPr>
          <p:cNvSpPr/>
          <p:nvPr/>
        </p:nvSpPr>
        <p:spPr>
          <a:xfrm>
            <a:off x="9509760" y="0"/>
            <a:ext cx="2682240" cy="6858000"/>
          </a:xfrm>
          <a:prstGeom prst="rect">
            <a:avLst/>
          </a:prstGeom>
          <a:solidFill>
            <a:srgbClr val="E7F6FF">
              <a:alpha val="92000"/>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codex_template_header_band">
            <a:extLst>
              <a:ext uri="{FF2B5EF4-FFF2-40B4-BE49-F238E27FC236}">
                <a16:creationId xmlns:a16="http://schemas.microsoft.com/office/drawing/2014/main" id="{576C7410-1F21-F050-DE3C-D0B3F70C305B}"/>
              </a:ext>
            </a:extLst>
          </p:cNvPr>
          <p:cNvSpPr/>
          <p:nvPr/>
        </p:nvSpPr>
        <p:spPr>
          <a:xfrm>
            <a:off x="0" y="0"/>
            <a:ext cx="12192000" cy="812800"/>
          </a:xfrm>
          <a:prstGeom prst="rect">
            <a:avLst/>
          </a:prstGeom>
          <a:solidFill>
            <a:srgbClr val="ECF7FF">
              <a:alpha val="95000"/>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codex_template_background">
            <a:extLst>
              <a:ext uri="{FF2B5EF4-FFF2-40B4-BE49-F238E27FC236}">
                <a16:creationId xmlns:a16="http://schemas.microsoft.com/office/drawing/2014/main" id="{A870B28D-4071-F402-56F1-B4FF36C2F5B3}"/>
              </a:ext>
            </a:extLst>
          </p:cNvPr>
          <p:cNvSpPr/>
          <p:nvPr/>
        </p:nvSpPr>
        <p:spPr>
          <a:xfrm>
            <a:off x="0" y="0"/>
            <a:ext cx="12192000" cy="6858000"/>
          </a:xfrm>
          <a:prstGeom prst="rect">
            <a:avLst/>
          </a:prstGeom>
          <a:solidFill>
            <a:srgbClr val="F8FBF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0E481B2F-E4B9-6F96-7EA7-CA5304E96E1C}"/>
              </a:ext>
            </a:extLst>
          </p:cNvPr>
          <p:cNvSpPr txBox="1"/>
          <p:nvPr/>
        </p:nvSpPr>
        <p:spPr>
          <a:xfrm>
            <a:off x="812800" y="557154"/>
            <a:ext cx="10414000" cy="533400"/>
          </a:xfrm>
          <a:prstGeom prst="rect">
            <a:avLst/>
          </a:prstGeom>
          <a:solidFill>
            <a:scrgbClr r="0" g="0" b="0">
              <a:alpha val="0"/>
            </a:scrgbClr>
          </a:solidFill>
          <a:ln w="15875">
            <a:noFill/>
          </a:ln>
          <a:effectLst/>
        </p:spPr>
        <p:txBody>
          <a:bodyPr vert="horz" wrap="square" lIns="0" tIns="0" rIns="0" bIns="0" rtlCol="0">
            <a:noAutofit/>
          </a:bodyPr>
          <a:lstStyle/>
          <a:p>
            <a:r>
              <a:rPr lang="en-US" sz="2800" b="1" dirty="0">
                <a:solidFill>
                  <a:srgbClr val="142D4E"/>
                </a:solidFill>
                <a:latin typeface="Aptos Display" panose="020B0004020202020204" pitchFamily="34" charset="0"/>
              </a:rPr>
              <a:t>Testing and Code Quality</a:t>
            </a:r>
          </a:p>
        </p:txBody>
      </p:sp>
      <p:sp>
        <p:nvSpPr>
          <p:cNvPr id="14" name="Rectangle: Rounded Corners 13">
            <a:extLst>
              <a:ext uri="{FF2B5EF4-FFF2-40B4-BE49-F238E27FC236}">
                <a16:creationId xmlns:a16="http://schemas.microsoft.com/office/drawing/2014/main" id="{BF930E04-9F68-BE0D-449C-5761D59F7CD8}"/>
              </a:ext>
            </a:extLst>
          </p:cNvPr>
          <p:cNvSpPr/>
          <p:nvPr/>
        </p:nvSpPr>
        <p:spPr>
          <a:xfrm>
            <a:off x="571500" y="2006600"/>
            <a:ext cx="5143500" cy="4572000"/>
          </a:xfrm>
          <a:prstGeom prst="roundRect">
            <a:avLst/>
          </a:prstGeom>
          <a:solidFill>
            <a:srgbClr val="E2F1FF"/>
          </a:solidFill>
          <a:ln w="15875">
            <a:solidFill>
              <a:srgbClr val="D6E8F6"/>
            </a:solidFill>
          </a:ln>
          <a:effectLst>
            <a:outerShdw blurRad="63500" dist="28398" dir="3806086" rotWithShape="0">
              <a:srgbClr val="B9CCE0">
                <a:alpha val="22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01600" tIns="76200" rIns="101600" bIns="76200" rtlCol="0" anchor="ctr"/>
          <a:lstStyle/>
          <a:p>
            <a:pPr algn="ctr"/>
            <a:endParaRPr lang="en-US" b="1" dirty="0">
              <a:solidFill>
                <a:srgbClr val="18304E"/>
              </a:solidFill>
              <a:latin typeface="Aptos" panose="020B0004020202020204" pitchFamily="34" charset="0"/>
            </a:endParaRPr>
          </a:p>
        </p:txBody>
      </p:sp>
      <p:sp>
        <p:nvSpPr>
          <p:cNvPr id="15" name="TextBox 14">
            <a:extLst>
              <a:ext uri="{FF2B5EF4-FFF2-40B4-BE49-F238E27FC236}">
                <a16:creationId xmlns:a16="http://schemas.microsoft.com/office/drawing/2014/main" id="{1074BA61-2B16-5D1D-D32F-7C56BD8232E2}"/>
              </a:ext>
            </a:extLst>
          </p:cNvPr>
          <p:cNvSpPr txBox="1"/>
          <p:nvPr/>
        </p:nvSpPr>
        <p:spPr>
          <a:xfrm>
            <a:off x="895018" y="3021494"/>
            <a:ext cx="4635500" cy="1877437"/>
          </a:xfrm>
          <a:prstGeom prst="rect">
            <a:avLst/>
          </a:prstGeom>
          <a:noFill/>
          <a:ln w="15875">
            <a:solidFill>
              <a:srgbClr val="D6E8F6"/>
            </a:solidFill>
          </a:ln>
          <a:effectLst>
            <a:outerShdw blurRad="63500" dist="28398" dir="3806086" rotWithShape="0">
              <a:srgbClr val="B9CCE0">
                <a:alpha val="22000"/>
              </a:srgbClr>
            </a:outerShdw>
          </a:effectLst>
        </p:spPr>
        <p:txBody>
          <a:bodyPr vert="horz" wrap="square" lIns="101600" tIns="63500" rIns="101600" bIns="63500" rtlCol="0">
            <a:normAutofit/>
          </a:bodyPr>
          <a:lstStyle/>
          <a:p>
            <a:r>
              <a:rPr lang="en-US" dirty="0">
                <a:solidFill>
                  <a:srgbClr val="566982"/>
                </a:solidFill>
                <a:latin typeface="Aptos" panose="020B0004020202020204" pitchFamily="34" charset="0"/>
              </a:rPr>
              <a:t>- Producer tests validate generation, scheduling and publish behavior</a:t>
            </a:r>
          </a:p>
          <a:p>
            <a:r>
              <a:rPr lang="en-US" dirty="0">
                <a:solidFill>
                  <a:srgbClr val="566982"/>
                </a:solidFill>
                <a:latin typeface="Aptos" panose="020B0004020202020204" pitchFamily="34" charset="0"/>
              </a:rPr>
              <a:t>- Consumer tests validate reconciliation, retry, idempotency and failure paths</a:t>
            </a:r>
          </a:p>
          <a:p>
            <a:r>
              <a:rPr lang="en-US" dirty="0">
                <a:solidFill>
                  <a:srgbClr val="566982"/>
                </a:solidFill>
                <a:latin typeface="Aptos" panose="020B0004020202020204" pitchFamily="34" charset="0"/>
              </a:rPr>
              <a:t>- Dashboard tests validate API status, failed view, replay and queue visibility</a:t>
            </a:r>
          </a:p>
          <a:p>
            <a:r>
              <a:rPr lang="en-US" dirty="0">
                <a:solidFill>
                  <a:srgbClr val="566982"/>
                </a:solidFill>
                <a:latin typeface="Aptos" panose="020B0004020202020204" pitchFamily="34" charset="0"/>
              </a:rPr>
              <a:t>- Exception handling paths are covered explicitly</a:t>
            </a:r>
          </a:p>
          <a:p>
            <a:r>
              <a:rPr lang="en-US" dirty="0">
                <a:solidFill>
                  <a:srgbClr val="566982"/>
                </a:solidFill>
                <a:latin typeface="Aptos" panose="020B0004020202020204" pitchFamily="34" charset="0"/>
              </a:rPr>
              <a:t>- Target coverage: 80 percent or higher</a:t>
            </a:r>
          </a:p>
        </p:txBody>
      </p:sp>
      <p:sp>
        <p:nvSpPr>
          <p:cNvPr id="16" name="Rectangle: Rounded Corners 15">
            <a:extLst>
              <a:ext uri="{FF2B5EF4-FFF2-40B4-BE49-F238E27FC236}">
                <a16:creationId xmlns:a16="http://schemas.microsoft.com/office/drawing/2014/main" id="{DA7871A2-E7FA-5613-F2BF-9B4ABF07050D}"/>
              </a:ext>
            </a:extLst>
          </p:cNvPr>
          <p:cNvSpPr/>
          <p:nvPr/>
        </p:nvSpPr>
        <p:spPr>
          <a:xfrm>
            <a:off x="6477000" y="2006600"/>
            <a:ext cx="5143500" cy="4572000"/>
          </a:xfrm>
          <a:prstGeom prst="roundRect">
            <a:avLst/>
          </a:prstGeom>
          <a:solidFill>
            <a:srgbClr val="E1F8F4"/>
          </a:solidFill>
          <a:ln w="15875">
            <a:solidFill>
              <a:srgbClr val="D6E8F6"/>
            </a:solidFill>
          </a:ln>
          <a:effectLst>
            <a:outerShdw blurRad="63500" dist="28398" dir="3806086" rotWithShape="0">
              <a:srgbClr val="B9CCE0">
                <a:alpha val="22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01600" tIns="76200" rIns="101600" bIns="76200" rtlCol="0" anchor="ctr"/>
          <a:lstStyle/>
          <a:p>
            <a:pPr algn="ctr"/>
            <a:endParaRPr lang="en-US" b="1" dirty="0">
              <a:solidFill>
                <a:srgbClr val="18304E"/>
              </a:solidFill>
              <a:latin typeface="Aptos" panose="020B0004020202020204" pitchFamily="34" charset="0"/>
            </a:endParaRPr>
          </a:p>
        </p:txBody>
      </p:sp>
      <p:sp>
        <p:nvSpPr>
          <p:cNvPr id="17" name="TextBox 16">
            <a:extLst>
              <a:ext uri="{FF2B5EF4-FFF2-40B4-BE49-F238E27FC236}">
                <a16:creationId xmlns:a16="http://schemas.microsoft.com/office/drawing/2014/main" id="{7082B791-C83E-63DF-A173-E70D3716DB68}"/>
              </a:ext>
            </a:extLst>
          </p:cNvPr>
          <p:cNvSpPr txBox="1"/>
          <p:nvPr/>
        </p:nvSpPr>
        <p:spPr>
          <a:xfrm>
            <a:off x="6921500" y="3021494"/>
            <a:ext cx="4635500" cy="1231106"/>
          </a:xfrm>
          <a:prstGeom prst="rect">
            <a:avLst/>
          </a:prstGeom>
          <a:noFill/>
          <a:ln w="15875">
            <a:solidFill>
              <a:srgbClr val="D6E8F6"/>
            </a:solidFill>
          </a:ln>
          <a:effectLst>
            <a:outerShdw blurRad="63500" dist="28398" dir="3806086" rotWithShape="0">
              <a:srgbClr val="B9CCE0">
                <a:alpha val="22000"/>
              </a:srgbClr>
            </a:outerShdw>
          </a:effectLst>
        </p:spPr>
        <p:txBody>
          <a:bodyPr vert="horz" wrap="square" lIns="101600" tIns="63500" rIns="101600" bIns="63500" rtlCol="0">
            <a:normAutofit/>
          </a:bodyPr>
          <a:lstStyle/>
          <a:p>
            <a:r>
              <a:rPr lang="en-US" dirty="0">
                <a:solidFill>
                  <a:srgbClr val="566982"/>
                </a:solidFill>
                <a:latin typeface="Aptos" panose="020B0004020202020204" pitchFamily="34" charset="0"/>
              </a:rPr>
              <a:t>- Java 17 and Spring Boot conventions</a:t>
            </a:r>
          </a:p>
          <a:p>
            <a:r>
              <a:rPr lang="en-US" dirty="0">
                <a:solidFill>
                  <a:srgbClr val="566982"/>
                </a:solidFill>
                <a:latin typeface="Aptos" panose="020B0004020202020204" pitchFamily="34" charset="0"/>
              </a:rPr>
              <a:t>- No credential hardcoding</a:t>
            </a:r>
          </a:p>
          <a:p>
            <a:r>
              <a:rPr lang="en-US" dirty="0">
                <a:solidFill>
                  <a:srgbClr val="566982"/>
                </a:solidFill>
                <a:latin typeface="Aptos" panose="020B0004020202020204" pitchFamily="34" charset="0"/>
              </a:rPr>
              <a:t>- Structured exceptions and domain-specific failure types</a:t>
            </a:r>
          </a:p>
          <a:p>
            <a:r>
              <a:rPr lang="en-US" dirty="0">
                <a:solidFill>
                  <a:srgbClr val="566982"/>
                </a:solidFill>
                <a:latin typeface="Aptos" panose="020B0004020202020204" pitchFamily="34" charset="0"/>
              </a:rPr>
              <a:t>- </a:t>
            </a:r>
            <a:r>
              <a:rPr lang="en-US" dirty="0" err="1">
                <a:solidFill>
                  <a:srgbClr val="566982"/>
                </a:solidFill>
                <a:latin typeface="Aptos" panose="020B0004020202020204" pitchFamily="34" charset="0"/>
              </a:rPr>
              <a:t>ObjectMapper</a:t>
            </a:r>
            <a:r>
              <a:rPr lang="en-US" dirty="0">
                <a:solidFill>
                  <a:srgbClr val="566982"/>
                </a:solidFill>
                <a:latin typeface="Aptos" panose="020B0004020202020204" pitchFamily="34" charset="0"/>
              </a:rPr>
              <a:t> configured for Java time serialization</a:t>
            </a:r>
          </a:p>
          <a:p>
            <a:r>
              <a:rPr lang="en-US" dirty="0">
                <a:solidFill>
                  <a:srgbClr val="566982"/>
                </a:solidFill>
                <a:latin typeface="Aptos" panose="020B0004020202020204" pitchFamily="34" charset="0"/>
              </a:rPr>
              <a:t>- Clean separation of app responsibilities</a:t>
            </a:r>
          </a:p>
        </p:txBody>
      </p:sp>
      <p:sp>
        <p:nvSpPr>
          <p:cNvPr id="20" name="TextBox 19">
            <a:extLst>
              <a:ext uri="{FF2B5EF4-FFF2-40B4-BE49-F238E27FC236}">
                <a16:creationId xmlns:a16="http://schemas.microsoft.com/office/drawing/2014/main" id="{9EE46275-CD0D-5BB9-D4A8-5E8620999378}"/>
              </a:ext>
            </a:extLst>
          </p:cNvPr>
          <p:cNvSpPr txBox="1"/>
          <p:nvPr/>
        </p:nvSpPr>
        <p:spPr>
          <a:xfrm>
            <a:off x="1569433" y="2092608"/>
            <a:ext cx="2720465" cy="374461"/>
          </a:xfrm>
          <a:prstGeom prst="rect">
            <a:avLst/>
          </a:prstGeom>
          <a:noFill/>
          <a:ln w="15875">
            <a:solidFill>
              <a:srgbClr val="D6E8F6"/>
            </a:solidFill>
          </a:ln>
          <a:effectLst>
            <a:outerShdw blurRad="63500" dist="28398" dir="3806086" rotWithShape="0">
              <a:srgbClr val="B9CCE0">
                <a:alpha val="22000"/>
              </a:srgbClr>
            </a:outerShdw>
          </a:effectLst>
        </p:spPr>
        <p:txBody>
          <a:bodyPr wrap="square" lIns="101600" tIns="63500" rIns="101600" bIns="63500" rtlCol="0">
            <a:normAutofit/>
          </a:bodyPr>
          <a:lstStyle/>
          <a:p>
            <a:pPr algn="ctr"/>
            <a:r>
              <a:rPr lang="en-US" sz="1600" b="1" dirty="0">
                <a:solidFill>
                  <a:srgbClr val="566982"/>
                </a:solidFill>
                <a:latin typeface="Aptos" panose="020B0004020202020204" pitchFamily="34" charset="0"/>
              </a:rPr>
              <a:t>Unit and integration focus</a:t>
            </a:r>
          </a:p>
        </p:txBody>
      </p:sp>
      <p:sp>
        <p:nvSpPr>
          <p:cNvPr id="21" name="TextBox 20">
            <a:extLst>
              <a:ext uri="{FF2B5EF4-FFF2-40B4-BE49-F238E27FC236}">
                <a16:creationId xmlns:a16="http://schemas.microsoft.com/office/drawing/2014/main" id="{DB8C970A-AE54-E80E-6E6B-AA5283657F07}"/>
              </a:ext>
            </a:extLst>
          </p:cNvPr>
          <p:cNvSpPr txBox="1"/>
          <p:nvPr/>
        </p:nvSpPr>
        <p:spPr>
          <a:xfrm>
            <a:off x="7322658" y="2139586"/>
            <a:ext cx="2720465" cy="374461"/>
          </a:xfrm>
          <a:prstGeom prst="rect">
            <a:avLst/>
          </a:prstGeom>
          <a:noFill/>
          <a:ln w="15875">
            <a:solidFill>
              <a:srgbClr val="D6E8F6"/>
            </a:solidFill>
          </a:ln>
          <a:effectLst>
            <a:outerShdw blurRad="63500" dist="28398" dir="3806086" rotWithShape="0">
              <a:srgbClr val="B9CCE0">
                <a:alpha val="22000"/>
              </a:srgbClr>
            </a:outerShdw>
          </a:effectLst>
        </p:spPr>
        <p:txBody>
          <a:bodyPr wrap="square" lIns="101600" tIns="63500" rIns="101600" bIns="63500" rtlCol="0">
            <a:normAutofit/>
          </a:bodyPr>
          <a:lstStyle/>
          <a:p>
            <a:pPr algn="ctr"/>
            <a:r>
              <a:rPr lang="en-US" sz="1600" b="1" dirty="0">
                <a:solidFill>
                  <a:srgbClr val="566982"/>
                </a:solidFill>
                <a:latin typeface="Aptos" panose="020B0004020202020204" pitchFamily="34" charset="0"/>
              </a:rPr>
              <a:t>Production code practices</a:t>
            </a:r>
          </a:p>
        </p:txBody>
      </p:sp>
      <p:sp>
        <p:nvSpPr>
          <p:cNvPr id="25" name="codex_template_top_accent">
            <a:extLst>
              <a:ext uri="{FF2B5EF4-FFF2-40B4-BE49-F238E27FC236}">
                <a16:creationId xmlns:a16="http://schemas.microsoft.com/office/drawing/2014/main" id="{42AC5E9E-7DCF-57D9-E66D-5E24B7C272B7}"/>
              </a:ext>
            </a:extLst>
          </p:cNvPr>
          <p:cNvSpPr/>
          <p:nvPr/>
        </p:nvSpPr>
        <p:spPr>
          <a:xfrm>
            <a:off x="0" y="0"/>
            <a:ext cx="12192000" cy="88900"/>
          </a:xfrm>
          <a:prstGeom prst="rect">
            <a:avLst/>
          </a:prstGeom>
          <a:solidFill>
            <a:srgbClr val="00A9E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codex_template_footer">
            <a:extLst>
              <a:ext uri="{FF2B5EF4-FFF2-40B4-BE49-F238E27FC236}">
                <a16:creationId xmlns:a16="http://schemas.microsoft.com/office/drawing/2014/main" id="{CAC890FB-E6F3-1A0A-05B0-1D38D56DB36F}"/>
              </a:ext>
            </a:extLst>
          </p:cNvPr>
          <p:cNvSpPr txBox="1"/>
          <p:nvPr/>
        </p:nvSpPr>
        <p:spPr>
          <a:xfrm>
            <a:off x="355600" y="6553200"/>
            <a:ext cx="10668000" cy="215444"/>
          </a:xfrm>
          <a:prstGeom prst="rect">
            <a:avLst/>
          </a:prstGeom>
          <a:noFill/>
        </p:spPr>
        <p:txBody>
          <a:bodyPr vert="horz" rtlCol="0">
            <a:spAutoFit/>
          </a:bodyPr>
          <a:lstStyle/>
          <a:p>
            <a:r>
              <a:rPr lang="en-US" sz="800">
                <a:solidFill>
                  <a:srgbClr val="566982"/>
                </a:solidFill>
                <a:latin typeface="Aptos" panose="020B0004020202020204" pitchFamily="34" charset="0"/>
              </a:rPr>
              <a:t>Enterprise Reconciliation Platform | Principal Engineer / Architect Assessment</a:t>
            </a:r>
          </a:p>
        </p:txBody>
      </p:sp>
      <p:sp>
        <p:nvSpPr>
          <p:cNvPr id="28" name="codex_template_slide_number">
            <a:extLst>
              <a:ext uri="{FF2B5EF4-FFF2-40B4-BE49-F238E27FC236}">
                <a16:creationId xmlns:a16="http://schemas.microsoft.com/office/drawing/2014/main" id="{75B295F7-F3BA-DBD2-C2EF-A6BF2BC2649D}"/>
              </a:ext>
            </a:extLst>
          </p:cNvPr>
          <p:cNvSpPr txBox="1"/>
          <p:nvPr/>
        </p:nvSpPr>
        <p:spPr>
          <a:xfrm>
            <a:off x="11557000" y="6553200"/>
            <a:ext cx="355600" cy="215444"/>
          </a:xfrm>
          <a:prstGeom prst="rect">
            <a:avLst/>
          </a:prstGeom>
          <a:noFill/>
        </p:spPr>
        <p:txBody>
          <a:bodyPr vert="horz" rtlCol="0">
            <a:spAutoFit/>
          </a:bodyPr>
          <a:lstStyle/>
          <a:p>
            <a:r>
              <a:rPr lang="en-US" sz="800">
                <a:solidFill>
                  <a:srgbClr val="566982"/>
                </a:solidFill>
                <a:latin typeface="Aptos" panose="020B0004020202020204" pitchFamily="34" charset="0"/>
              </a:rPr>
              <a:t>13</a:t>
            </a:r>
          </a:p>
        </p:txBody>
      </p:sp>
      <p:cxnSp>
        <p:nvCxnSpPr>
          <p:cNvPr id="29" name="codex_template_title_rule">
            <a:extLst>
              <a:ext uri="{FF2B5EF4-FFF2-40B4-BE49-F238E27FC236}">
                <a16:creationId xmlns:a16="http://schemas.microsoft.com/office/drawing/2014/main" id="{1F39C0E4-A617-07F1-EF35-8F4B2D73240A}"/>
              </a:ext>
            </a:extLst>
          </p:cNvPr>
          <p:cNvCxnSpPr/>
          <p:nvPr/>
        </p:nvCxnSpPr>
        <p:spPr>
          <a:xfrm>
            <a:off x="812800" y="1217554"/>
            <a:ext cx="4648200" cy="0"/>
          </a:xfrm>
          <a:prstGeom prst="line">
            <a:avLst/>
          </a:prstGeom>
          <a:ln w="27940">
            <a:solidFill>
              <a:srgbClr val="00A9E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74608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codex_template_right_wash">
            <a:extLst>
              <a:ext uri="{FF2B5EF4-FFF2-40B4-BE49-F238E27FC236}">
                <a16:creationId xmlns:a16="http://schemas.microsoft.com/office/drawing/2014/main" id="{506838ED-5E43-4903-B4A6-E1CB72132994}"/>
              </a:ext>
            </a:extLst>
          </p:cNvPr>
          <p:cNvSpPr/>
          <p:nvPr/>
        </p:nvSpPr>
        <p:spPr>
          <a:xfrm>
            <a:off x="9509760" y="0"/>
            <a:ext cx="2682240" cy="6858000"/>
          </a:xfrm>
          <a:prstGeom prst="rect">
            <a:avLst/>
          </a:prstGeom>
          <a:solidFill>
            <a:srgbClr val="E7F6FF">
              <a:alpha val="92000"/>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codex_template_header_band">
            <a:extLst>
              <a:ext uri="{FF2B5EF4-FFF2-40B4-BE49-F238E27FC236}">
                <a16:creationId xmlns:a16="http://schemas.microsoft.com/office/drawing/2014/main" id="{85BA80A4-6150-EE46-8C8D-7F181D0C423D}"/>
              </a:ext>
            </a:extLst>
          </p:cNvPr>
          <p:cNvSpPr/>
          <p:nvPr/>
        </p:nvSpPr>
        <p:spPr>
          <a:xfrm>
            <a:off x="0" y="0"/>
            <a:ext cx="12192000" cy="812800"/>
          </a:xfrm>
          <a:prstGeom prst="rect">
            <a:avLst/>
          </a:prstGeom>
          <a:solidFill>
            <a:srgbClr val="ECF7FF">
              <a:alpha val="95000"/>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codex_template_background">
            <a:extLst>
              <a:ext uri="{FF2B5EF4-FFF2-40B4-BE49-F238E27FC236}">
                <a16:creationId xmlns:a16="http://schemas.microsoft.com/office/drawing/2014/main" id="{82E33662-FD20-3A8C-05E7-78C3550FF59E}"/>
              </a:ext>
            </a:extLst>
          </p:cNvPr>
          <p:cNvSpPr/>
          <p:nvPr/>
        </p:nvSpPr>
        <p:spPr>
          <a:xfrm>
            <a:off x="0" y="0"/>
            <a:ext cx="12192000" cy="6858000"/>
          </a:xfrm>
          <a:prstGeom prst="rect">
            <a:avLst/>
          </a:prstGeom>
          <a:solidFill>
            <a:srgbClr val="F8FBF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4FE7EFAB-D33D-34AE-03D3-FE5ACAFB1F9E}"/>
              </a:ext>
            </a:extLst>
          </p:cNvPr>
          <p:cNvSpPr txBox="1"/>
          <p:nvPr/>
        </p:nvSpPr>
        <p:spPr>
          <a:xfrm>
            <a:off x="803073" y="546101"/>
            <a:ext cx="10414000" cy="533400"/>
          </a:xfrm>
          <a:prstGeom prst="rect">
            <a:avLst/>
          </a:prstGeom>
          <a:solidFill>
            <a:scrgbClr r="0" g="0" b="0">
              <a:alpha val="0"/>
            </a:scrgbClr>
          </a:solidFill>
          <a:ln w="15875">
            <a:noFill/>
          </a:ln>
          <a:effectLst/>
        </p:spPr>
        <p:txBody>
          <a:bodyPr vert="horz" wrap="square" lIns="0" tIns="0" rIns="0" bIns="0" rtlCol="0">
            <a:noAutofit/>
          </a:bodyPr>
          <a:lstStyle/>
          <a:p>
            <a:r>
              <a:rPr lang="en-US" sz="2800" b="1" dirty="0">
                <a:solidFill>
                  <a:srgbClr val="142D4E"/>
                </a:solidFill>
                <a:latin typeface="Aptos Display" panose="020B0004020202020204" pitchFamily="34" charset="0"/>
              </a:rPr>
              <a:t>Troubleshooting Case Study: MQRC 2035</a:t>
            </a:r>
          </a:p>
        </p:txBody>
      </p:sp>
      <p:sp>
        <p:nvSpPr>
          <p:cNvPr id="14" name="Rectangle: Rounded Corners 13">
            <a:extLst>
              <a:ext uri="{FF2B5EF4-FFF2-40B4-BE49-F238E27FC236}">
                <a16:creationId xmlns:a16="http://schemas.microsoft.com/office/drawing/2014/main" id="{00346461-C52B-05CE-1EE8-A89235EB3E4D}"/>
              </a:ext>
            </a:extLst>
          </p:cNvPr>
          <p:cNvSpPr/>
          <p:nvPr/>
        </p:nvSpPr>
        <p:spPr>
          <a:xfrm>
            <a:off x="698500" y="2006600"/>
            <a:ext cx="3175000" cy="1524000"/>
          </a:xfrm>
          <a:prstGeom prst="roundRect">
            <a:avLst/>
          </a:prstGeom>
          <a:solidFill>
            <a:srgbClr val="FFE8E8"/>
          </a:solidFill>
          <a:ln w="20320" cap="flat" cmpd="sng" algn="ctr">
            <a:noFill/>
            <a:prstDash val="solid"/>
          </a:ln>
          <a:effectLst>
            <a:outerShdw blurRad="63500" dist="28398" dir="3806096" rotWithShape="0">
              <a:srgbClr val="B9CCE0">
                <a:alpha val="22000"/>
              </a:srgbClr>
            </a:outerShdw>
          </a:effectLst>
          <a:extLst>
            <a:ext uri="{91240B29-F687-4F45-9708-019B960494DF}">
              <a14:hiddenLine xmlns:a14="http://schemas.microsoft.com/office/drawing/2010/main" w="15875" cap="flat" cmpd="sng" algn="ctr">
                <a:solidFill>
                  <a:srgbClr val="D54F4F"/>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ctr">
            <a:normAutofit/>
          </a:bodyPr>
          <a:lstStyle/>
          <a:p>
            <a:pPr algn="ctr"/>
            <a:r>
              <a:rPr lang="en-US" sz="1300" b="1">
                <a:solidFill>
                  <a:srgbClr val="566982"/>
                </a:solidFill>
                <a:latin typeface="Aptos" panose="020B0004020202020204" pitchFamily="34" charset="0"/>
              </a:rPr>
              <a:t>Symptom</a:t>
            </a:r>
          </a:p>
          <a:p>
            <a:pPr algn="ctr"/>
            <a:r>
              <a:rPr lang="en-US" sz="1300" b="1">
                <a:solidFill>
                  <a:srgbClr val="566982"/>
                </a:solidFill>
                <a:latin typeface="Aptos" panose="020B0004020202020204" pitchFamily="34" charset="0"/>
              </a:rPr>
              <a:t>Producer and consumer started but failed to open MQ queues.</a:t>
            </a:r>
          </a:p>
          <a:p>
            <a:pPr algn="ctr"/>
            <a:r>
              <a:rPr lang="en-US" sz="1300" b="1">
                <a:solidFill>
                  <a:srgbClr val="566982"/>
                </a:solidFill>
                <a:latin typeface="Aptos" panose="020B0004020202020204" pitchFamily="34" charset="0"/>
              </a:rPr>
              <a:t>IBM MQ returned MQRC 2035 authorization failure.</a:t>
            </a:r>
          </a:p>
        </p:txBody>
      </p:sp>
      <p:sp>
        <p:nvSpPr>
          <p:cNvPr id="15" name="Rectangle: Rounded Corners 14">
            <a:extLst>
              <a:ext uri="{FF2B5EF4-FFF2-40B4-BE49-F238E27FC236}">
                <a16:creationId xmlns:a16="http://schemas.microsoft.com/office/drawing/2014/main" id="{9F71792E-12D2-08B7-BD6F-07D54A11C820}"/>
              </a:ext>
            </a:extLst>
          </p:cNvPr>
          <p:cNvSpPr/>
          <p:nvPr/>
        </p:nvSpPr>
        <p:spPr>
          <a:xfrm>
            <a:off x="4508500" y="2006600"/>
            <a:ext cx="3175000" cy="1524000"/>
          </a:xfrm>
          <a:prstGeom prst="roundRect">
            <a:avLst/>
          </a:prstGeom>
          <a:solidFill>
            <a:srgbClr val="FFF2DD"/>
          </a:solidFill>
          <a:ln w="20320" cap="flat" cmpd="sng" algn="ctr">
            <a:noFill/>
            <a:prstDash val="solid"/>
          </a:ln>
          <a:effectLst>
            <a:outerShdw blurRad="63500" dist="28398" dir="3806096" rotWithShape="0">
              <a:srgbClr val="B9CCE0">
                <a:alpha val="22000"/>
              </a:srgbClr>
            </a:outerShdw>
          </a:effectLst>
          <a:extLst>
            <a:ext uri="{91240B29-F687-4F45-9708-019B960494DF}">
              <a14:hiddenLine xmlns:a14="http://schemas.microsoft.com/office/drawing/2010/main" w="15875" cap="flat" cmpd="sng" algn="ctr">
                <a:solidFill>
                  <a:srgbClr val="EE9726"/>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ctr">
            <a:normAutofit/>
          </a:bodyPr>
          <a:lstStyle/>
          <a:p>
            <a:pPr algn="ctr"/>
            <a:r>
              <a:rPr lang="en-US" sz="1300" b="1">
                <a:solidFill>
                  <a:srgbClr val="566982"/>
                </a:solidFill>
                <a:latin typeface="Aptos" panose="020B0004020202020204" pitchFamily="34" charset="0"/>
              </a:rPr>
              <a:t>Diagnosis</a:t>
            </a:r>
          </a:p>
          <a:p>
            <a:pPr algn="ctr"/>
            <a:r>
              <a:rPr lang="en-US" sz="1300" b="1">
                <a:solidFill>
                  <a:srgbClr val="566982"/>
                </a:solidFill>
                <a:latin typeface="Aptos" panose="020B0004020202020204" pitchFamily="34" charset="0"/>
              </a:rPr>
              <a:t>Logs showed authorization failure, not network or credential parsing issue.</a:t>
            </a:r>
          </a:p>
          <a:p>
            <a:pPr algn="ctr"/>
            <a:r>
              <a:rPr lang="en-US" sz="1300" b="1">
                <a:solidFill>
                  <a:srgbClr val="566982"/>
                </a:solidFill>
                <a:latin typeface="Aptos" panose="020B0004020202020204" pitchFamily="34" charset="0"/>
              </a:rPr>
              <a:t>Queue manager and queue OAM were inspected.</a:t>
            </a:r>
          </a:p>
        </p:txBody>
      </p:sp>
      <p:sp>
        <p:nvSpPr>
          <p:cNvPr id="16" name="Rectangle: Rounded Corners 15">
            <a:extLst>
              <a:ext uri="{FF2B5EF4-FFF2-40B4-BE49-F238E27FC236}">
                <a16:creationId xmlns:a16="http://schemas.microsoft.com/office/drawing/2014/main" id="{73DF315F-1EFB-DE1B-E7E6-17AD97981E11}"/>
              </a:ext>
            </a:extLst>
          </p:cNvPr>
          <p:cNvSpPr/>
          <p:nvPr/>
        </p:nvSpPr>
        <p:spPr>
          <a:xfrm>
            <a:off x="8172585" y="2006600"/>
            <a:ext cx="3175000" cy="1524000"/>
          </a:xfrm>
          <a:prstGeom prst="roundRect">
            <a:avLst/>
          </a:prstGeom>
          <a:solidFill>
            <a:srgbClr val="E1F8F4"/>
          </a:solidFill>
          <a:ln w="20320" cap="flat" cmpd="sng" algn="ctr">
            <a:noFill/>
            <a:prstDash val="solid"/>
          </a:ln>
          <a:effectLst>
            <a:outerShdw blurRad="63500" dist="28398" dir="3806096" rotWithShape="0">
              <a:srgbClr val="B9CCE0">
                <a:alpha val="22000"/>
              </a:srgbClr>
            </a:outerShdw>
          </a:effectLst>
          <a:extLst>
            <a:ext uri="{91240B29-F687-4F45-9708-019B960494DF}">
              <a14:hiddenLine xmlns:a14="http://schemas.microsoft.com/office/drawing/2010/main" w="15875" cap="flat" cmpd="sng" algn="ctr">
                <a:solidFill>
                  <a:srgbClr val="00998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ctr">
            <a:normAutofit/>
          </a:bodyPr>
          <a:lstStyle/>
          <a:p>
            <a:pPr algn="ctr"/>
            <a:r>
              <a:rPr lang="en-US" sz="1300" b="1" dirty="0">
                <a:solidFill>
                  <a:srgbClr val="566982"/>
                </a:solidFill>
                <a:latin typeface="Aptos" panose="020B0004020202020204" pitchFamily="34" charset="0"/>
              </a:rPr>
              <a:t>Correction</a:t>
            </a:r>
          </a:p>
          <a:p>
            <a:pPr algn="ctr"/>
            <a:r>
              <a:rPr lang="en-US" sz="1300" b="1" dirty="0">
                <a:solidFill>
                  <a:srgbClr val="566982"/>
                </a:solidFill>
                <a:latin typeface="Aptos" panose="020B0004020202020204" pitchFamily="34" charset="0"/>
              </a:rPr>
              <a:t>Applied OAM authorities for app principal on QM1 and queues using documented script.</a:t>
            </a:r>
          </a:p>
        </p:txBody>
      </p:sp>
      <p:sp>
        <p:nvSpPr>
          <p:cNvPr id="17" name="Rectangle: Rounded Corners 16">
            <a:extLst>
              <a:ext uri="{FF2B5EF4-FFF2-40B4-BE49-F238E27FC236}">
                <a16:creationId xmlns:a16="http://schemas.microsoft.com/office/drawing/2014/main" id="{A4BE277E-7773-4BA8-BA60-EA4D9161B820}"/>
              </a:ext>
            </a:extLst>
          </p:cNvPr>
          <p:cNvSpPr/>
          <p:nvPr/>
        </p:nvSpPr>
        <p:spPr>
          <a:xfrm>
            <a:off x="1460500" y="3937000"/>
            <a:ext cx="9271000" cy="1270000"/>
          </a:xfrm>
          <a:prstGeom prst="roundRect">
            <a:avLst/>
          </a:prstGeom>
          <a:solidFill>
            <a:srgbClr val="F7FAFD"/>
          </a:solidFill>
          <a:ln w="20320" cap="flat" cmpd="sng" algn="ctr">
            <a:noFill/>
            <a:prstDash val="solid"/>
          </a:ln>
          <a:effectLst>
            <a:outerShdw blurRad="63500" dist="28398" dir="3806096" rotWithShape="0">
              <a:srgbClr val="B9CCE0">
                <a:alpha val="22000"/>
              </a:srgbClr>
            </a:outerShdw>
          </a:effectLst>
          <a:extLst>
            <a:ext uri="{91240B29-F687-4F45-9708-019B960494DF}">
              <a14:hiddenLine xmlns:a14="http://schemas.microsoft.com/office/drawing/2010/main" w="15875" cap="flat" cmpd="sng" algn="ctr">
                <a:solidFill>
                  <a:srgbClr val="5B6E86"/>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ctr">
            <a:normAutofit/>
          </a:bodyPr>
          <a:lstStyle/>
          <a:p>
            <a:pPr algn="ctr"/>
            <a:r>
              <a:rPr lang="en-US">
                <a:solidFill>
                  <a:srgbClr val="566982"/>
                </a:solidFill>
                <a:latin typeface="Aptos" panose="020B0004020202020204" pitchFamily="34" charset="0"/>
              </a:rPr>
              <a:t>Why this matters</a:t>
            </a:r>
          </a:p>
          <a:p>
            <a:pPr algn="ctr"/>
            <a:r>
              <a:rPr lang="en-US">
                <a:solidFill>
                  <a:srgbClr val="566982"/>
                </a:solidFill>
                <a:latin typeface="Aptos" panose="020B0004020202020204" pitchFamily="34" charset="0"/>
              </a:rPr>
              <a:t>This is the kind of real production issue the assessment is asking for: a cloud deployment worked at the platform layer, but MQ object authorization blocked message flow. The recovery was diagnosed, fixed through MQ authority commands, documented, and validated by end-to-end transaction processing.</a:t>
            </a:r>
          </a:p>
        </p:txBody>
      </p:sp>
      <p:sp>
        <p:nvSpPr>
          <p:cNvPr id="23" name="codex_template_top_accent">
            <a:extLst>
              <a:ext uri="{FF2B5EF4-FFF2-40B4-BE49-F238E27FC236}">
                <a16:creationId xmlns:a16="http://schemas.microsoft.com/office/drawing/2014/main" id="{908977A8-AB1C-A760-D70F-DFBC787ED0AC}"/>
              </a:ext>
            </a:extLst>
          </p:cNvPr>
          <p:cNvSpPr/>
          <p:nvPr/>
        </p:nvSpPr>
        <p:spPr>
          <a:xfrm>
            <a:off x="0" y="0"/>
            <a:ext cx="12192000" cy="88900"/>
          </a:xfrm>
          <a:prstGeom prst="rect">
            <a:avLst/>
          </a:prstGeom>
          <a:solidFill>
            <a:srgbClr val="00A9E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codex_template_footer">
            <a:extLst>
              <a:ext uri="{FF2B5EF4-FFF2-40B4-BE49-F238E27FC236}">
                <a16:creationId xmlns:a16="http://schemas.microsoft.com/office/drawing/2014/main" id="{235AC189-D35E-8CDB-CD63-000F556B4FBC}"/>
              </a:ext>
            </a:extLst>
          </p:cNvPr>
          <p:cNvSpPr txBox="1"/>
          <p:nvPr/>
        </p:nvSpPr>
        <p:spPr>
          <a:xfrm>
            <a:off x="355600" y="6553200"/>
            <a:ext cx="10668000" cy="215444"/>
          </a:xfrm>
          <a:prstGeom prst="rect">
            <a:avLst/>
          </a:prstGeom>
          <a:noFill/>
        </p:spPr>
        <p:txBody>
          <a:bodyPr vert="horz" rtlCol="0">
            <a:spAutoFit/>
          </a:bodyPr>
          <a:lstStyle/>
          <a:p>
            <a:r>
              <a:rPr lang="en-US" sz="800">
                <a:solidFill>
                  <a:srgbClr val="566982"/>
                </a:solidFill>
                <a:latin typeface="Aptos" panose="020B0004020202020204" pitchFamily="34" charset="0"/>
              </a:rPr>
              <a:t>Enterprise Reconciliation Platform | Principal Engineer / Architect Assessment</a:t>
            </a:r>
          </a:p>
        </p:txBody>
      </p:sp>
      <p:sp>
        <p:nvSpPr>
          <p:cNvPr id="26" name="codex_template_slide_number">
            <a:extLst>
              <a:ext uri="{FF2B5EF4-FFF2-40B4-BE49-F238E27FC236}">
                <a16:creationId xmlns:a16="http://schemas.microsoft.com/office/drawing/2014/main" id="{2EDB0D60-2B54-FE3E-7C03-CBE1D8F31F1A}"/>
              </a:ext>
            </a:extLst>
          </p:cNvPr>
          <p:cNvSpPr txBox="1"/>
          <p:nvPr/>
        </p:nvSpPr>
        <p:spPr>
          <a:xfrm>
            <a:off x="11557000" y="6553200"/>
            <a:ext cx="355600" cy="215444"/>
          </a:xfrm>
          <a:prstGeom prst="rect">
            <a:avLst/>
          </a:prstGeom>
          <a:noFill/>
        </p:spPr>
        <p:txBody>
          <a:bodyPr vert="horz" rtlCol="0">
            <a:spAutoFit/>
          </a:bodyPr>
          <a:lstStyle/>
          <a:p>
            <a:r>
              <a:rPr lang="en-US" sz="800">
                <a:solidFill>
                  <a:srgbClr val="566982"/>
                </a:solidFill>
                <a:latin typeface="Aptos" panose="020B0004020202020204" pitchFamily="34" charset="0"/>
              </a:rPr>
              <a:t>14</a:t>
            </a:r>
          </a:p>
        </p:txBody>
      </p:sp>
      <p:cxnSp>
        <p:nvCxnSpPr>
          <p:cNvPr id="27" name="codex_template_title_rule">
            <a:extLst>
              <a:ext uri="{FF2B5EF4-FFF2-40B4-BE49-F238E27FC236}">
                <a16:creationId xmlns:a16="http://schemas.microsoft.com/office/drawing/2014/main" id="{6D4BD1B4-C072-A70C-7E9A-78BFB467193E}"/>
              </a:ext>
            </a:extLst>
          </p:cNvPr>
          <p:cNvCxnSpPr/>
          <p:nvPr/>
        </p:nvCxnSpPr>
        <p:spPr>
          <a:xfrm>
            <a:off x="803073" y="1206501"/>
            <a:ext cx="4648200" cy="0"/>
          </a:xfrm>
          <a:prstGeom prst="line">
            <a:avLst/>
          </a:prstGeom>
          <a:ln w="27940">
            <a:solidFill>
              <a:srgbClr val="00A9E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156982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codex_template_right_wash">
            <a:extLst>
              <a:ext uri="{FF2B5EF4-FFF2-40B4-BE49-F238E27FC236}">
                <a16:creationId xmlns:a16="http://schemas.microsoft.com/office/drawing/2014/main" id="{78BA1766-5F4A-C2A0-196A-3531129DFB02}"/>
              </a:ext>
            </a:extLst>
          </p:cNvPr>
          <p:cNvSpPr/>
          <p:nvPr/>
        </p:nvSpPr>
        <p:spPr>
          <a:xfrm>
            <a:off x="9509760" y="0"/>
            <a:ext cx="2682240" cy="6858000"/>
          </a:xfrm>
          <a:prstGeom prst="rect">
            <a:avLst/>
          </a:prstGeom>
          <a:solidFill>
            <a:srgbClr val="E7F6FF">
              <a:alpha val="92000"/>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codex_template_header_band">
            <a:extLst>
              <a:ext uri="{FF2B5EF4-FFF2-40B4-BE49-F238E27FC236}">
                <a16:creationId xmlns:a16="http://schemas.microsoft.com/office/drawing/2014/main" id="{D37BBB3E-3A6A-0358-9CFD-BD1FCAF4DDB4}"/>
              </a:ext>
            </a:extLst>
          </p:cNvPr>
          <p:cNvSpPr/>
          <p:nvPr/>
        </p:nvSpPr>
        <p:spPr>
          <a:xfrm>
            <a:off x="0" y="0"/>
            <a:ext cx="12192000" cy="812800"/>
          </a:xfrm>
          <a:prstGeom prst="rect">
            <a:avLst/>
          </a:prstGeom>
          <a:solidFill>
            <a:srgbClr val="ECF7FF">
              <a:alpha val="95000"/>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codex_template_background">
            <a:extLst>
              <a:ext uri="{FF2B5EF4-FFF2-40B4-BE49-F238E27FC236}">
                <a16:creationId xmlns:a16="http://schemas.microsoft.com/office/drawing/2014/main" id="{90B36275-C119-399A-1172-D7B7DD3F6BFE}"/>
              </a:ext>
            </a:extLst>
          </p:cNvPr>
          <p:cNvSpPr/>
          <p:nvPr/>
        </p:nvSpPr>
        <p:spPr>
          <a:xfrm>
            <a:off x="0" y="0"/>
            <a:ext cx="12192000" cy="6858000"/>
          </a:xfrm>
          <a:prstGeom prst="rect">
            <a:avLst/>
          </a:prstGeom>
          <a:solidFill>
            <a:srgbClr val="F8FBF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E06C03D2-ED21-EE3A-1005-8F099706F753}"/>
              </a:ext>
            </a:extLst>
          </p:cNvPr>
          <p:cNvSpPr txBox="1"/>
          <p:nvPr/>
        </p:nvSpPr>
        <p:spPr>
          <a:xfrm>
            <a:off x="803072" y="571441"/>
            <a:ext cx="10414000" cy="533400"/>
          </a:xfrm>
          <a:prstGeom prst="rect">
            <a:avLst/>
          </a:prstGeom>
          <a:solidFill>
            <a:scrgbClr r="0" g="0" b="0">
              <a:alpha val="0"/>
            </a:scrgbClr>
          </a:solidFill>
          <a:ln w="15875">
            <a:noFill/>
          </a:ln>
          <a:effectLst/>
        </p:spPr>
        <p:txBody>
          <a:bodyPr vert="horz" wrap="square" lIns="0" tIns="0" rIns="0" bIns="0" rtlCol="0">
            <a:noAutofit/>
          </a:bodyPr>
          <a:lstStyle/>
          <a:p>
            <a:r>
              <a:rPr lang="en-US" sz="2800" b="1" dirty="0">
                <a:solidFill>
                  <a:srgbClr val="142D4E"/>
                </a:solidFill>
                <a:latin typeface="Aptos Display" panose="020B0004020202020204" pitchFamily="34" charset="0"/>
              </a:rPr>
              <a:t>AI-Assisted Engineering Workflow</a:t>
            </a:r>
          </a:p>
        </p:txBody>
      </p:sp>
      <p:sp>
        <p:nvSpPr>
          <p:cNvPr id="14" name="Rectangle: Rounded Corners 13">
            <a:extLst>
              <a:ext uri="{FF2B5EF4-FFF2-40B4-BE49-F238E27FC236}">
                <a16:creationId xmlns:a16="http://schemas.microsoft.com/office/drawing/2014/main" id="{BDD189D0-C9CC-9BCF-6737-67B2EAD7250B}"/>
              </a:ext>
            </a:extLst>
          </p:cNvPr>
          <p:cNvSpPr/>
          <p:nvPr/>
        </p:nvSpPr>
        <p:spPr>
          <a:xfrm>
            <a:off x="571500" y="2006600"/>
            <a:ext cx="5143500" cy="4572000"/>
          </a:xfrm>
          <a:prstGeom prst="roundRect">
            <a:avLst/>
          </a:prstGeom>
          <a:solidFill>
            <a:srgbClr val="E2F1FF"/>
          </a:solidFill>
          <a:ln w="15875">
            <a:solidFill>
              <a:srgbClr val="D6E8F6"/>
            </a:solidFill>
          </a:ln>
          <a:effectLst>
            <a:outerShdw blurRad="63500" dist="28398" dir="3806086" rotWithShape="0">
              <a:srgbClr val="B9CCE0">
                <a:alpha val="22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01600" tIns="76200" rIns="101600" bIns="76200" rtlCol="0" anchor="ctr"/>
          <a:lstStyle/>
          <a:p>
            <a:pPr algn="ctr"/>
            <a:endParaRPr lang="en-US" b="1" dirty="0">
              <a:solidFill>
                <a:srgbClr val="18304E"/>
              </a:solidFill>
              <a:latin typeface="Aptos" panose="020B0004020202020204" pitchFamily="34" charset="0"/>
            </a:endParaRPr>
          </a:p>
        </p:txBody>
      </p:sp>
      <p:sp>
        <p:nvSpPr>
          <p:cNvPr id="15" name="TextBox 14">
            <a:extLst>
              <a:ext uri="{FF2B5EF4-FFF2-40B4-BE49-F238E27FC236}">
                <a16:creationId xmlns:a16="http://schemas.microsoft.com/office/drawing/2014/main" id="{847D629A-24FF-E5C0-F470-0A7F765EEC9C}"/>
              </a:ext>
            </a:extLst>
          </p:cNvPr>
          <p:cNvSpPr txBox="1"/>
          <p:nvPr/>
        </p:nvSpPr>
        <p:spPr>
          <a:xfrm>
            <a:off x="1002859" y="2903140"/>
            <a:ext cx="4635500" cy="2092881"/>
          </a:xfrm>
          <a:prstGeom prst="rect">
            <a:avLst/>
          </a:prstGeom>
          <a:noFill/>
          <a:ln w="15875">
            <a:solidFill>
              <a:srgbClr val="D6E8F6"/>
            </a:solidFill>
          </a:ln>
          <a:effectLst>
            <a:outerShdw blurRad="63500" dist="28398" dir="3806086" rotWithShape="0">
              <a:srgbClr val="B9CCE0">
                <a:alpha val="22000"/>
              </a:srgbClr>
            </a:outerShdw>
          </a:effectLst>
        </p:spPr>
        <p:txBody>
          <a:bodyPr vert="horz" wrap="square" lIns="101600" tIns="63500" rIns="101600" bIns="63500" rtlCol="0">
            <a:normAutofit/>
          </a:bodyPr>
          <a:lstStyle/>
          <a:p>
            <a:r>
              <a:rPr lang="en-US" dirty="0">
                <a:solidFill>
                  <a:srgbClr val="566982"/>
                </a:solidFill>
                <a:latin typeface="Aptos" panose="020B0004020202020204" pitchFamily="34" charset="0"/>
              </a:rPr>
              <a:t>- Clarified the assessment into phased engineering deliverables</a:t>
            </a:r>
          </a:p>
          <a:p>
            <a:r>
              <a:rPr lang="en-US" dirty="0">
                <a:solidFill>
                  <a:srgbClr val="566982"/>
                </a:solidFill>
                <a:latin typeface="Aptos" panose="020B0004020202020204" pitchFamily="34" charset="0"/>
              </a:rPr>
              <a:t>- Generated initial scaffolding for Java services and Kubernetes manifests</a:t>
            </a:r>
          </a:p>
          <a:p>
            <a:r>
              <a:rPr lang="en-US" dirty="0">
                <a:solidFill>
                  <a:srgbClr val="566982"/>
                </a:solidFill>
                <a:latin typeface="Aptos" panose="020B0004020202020204" pitchFamily="34" charset="0"/>
              </a:rPr>
              <a:t>- Produced architecture documentation, Draw.io structure and prompt packs</a:t>
            </a:r>
          </a:p>
          <a:p>
            <a:r>
              <a:rPr lang="en-US" dirty="0">
                <a:solidFill>
                  <a:srgbClr val="566982"/>
                </a:solidFill>
                <a:latin typeface="Aptos" panose="020B0004020202020204" pitchFamily="34" charset="0"/>
              </a:rPr>
              <a:t>- Assisted troubleshooting of AWS, EKS, MQ, Grafana and serialization issues</a:t>
            </a:r>
          </a:p>
          <a:p>
            <a:r>
              <a:rPr lang="en-US" dirty="0">
                <a:solidFill>
                  <a:srgbClr val="566982"/>
                </a:solidFill>
                <a:latin typeface="Aptos" panose="020B0004020202020204" pitchFamily="34" charset="0"/>
              </a:rPr>
              <a:t>- Prepared demo scripts and validation commands</a:t>
            </a:r>
          </a:p>
        </p:txBody>
      </p:sp>
      <p:sp>
        <p:nvSpPr>
          <p:cNvPr id="16" name="Rectangle: Rounded Corners 15">
            <a:extLst>
              <a:ext uri="{FF2B5EF4-FFF2-40B4-BE49-F238E27FC236}">
                <a16:creationId xmlns:a16="http://schemas.microsoft.com/office/drawing/2014/main" id="{762D366E-D527-8315-F3F6-DC4CA9336D92}"/>
              </a:ext>
            </a:extLst>
          </p:cNvPr>
          <p:cNvSpPr/>
          <p:nvPr/>
        </p:nvSpPr>
        <p:spPr>
          <a:xfrm>
            <a:off x="6477000" y="2006600"/>
            <a:ext cx="5143500" cy="4572000"/>
          </a:xfrm>
          <a:prstGeom prst="roundRect">
            <a:avLst/>
          </a:prstGeom>
          <a:solidFill>
            <a:srgbClr val="E1F8F4"/>
          </a:solidFill>
          <a:ln w="15875">
            <a:solidFill>
              <a:srgbClr val="D6E8F6"/>
            </a:solidFill>
          </a:ln>
          <a:effectLst>
            <a:outerShdw blurRad="63500" dist="28398" dir="3806086" rotWithShape="0">
              <a:srgbClr val="B9CCE0">
                <a:alpha val="22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01600" tIns="76200" rIns="101600" bIns="76200" rtlCol="0" anchor="ctr"/>
          <a:lstStyle/>
          <a:p>
            <a:pPr algn="ctr"/>
            <a:endParaRPr lang="en-US" b="1" dirty="0">
              <a:solidFill>
                <a:srgbClr val="18304E"/>
              </a:solidFill>
              <a:latin typeface="Aptos" panose="020B0004020202020204" pitchFamily="34" charset="0"/>
            </a:endParaRPr>
          </a:p>
        </p:txBody>
      </p:sp>
      <p:sp>
        <p:nvSpPr>
          <p:cNvPr id="17" name="TextBox 16">
            <a:extLst>
              <a:ext uri="{FF2B5EF4-FFF2-40B4-BE49-F238E27FC236}">
                <a16:creationId xmlns:a16="http://schemas.microsoft.com/office/drawing/2014/main" id="{94F84B98-2E74-ECFB-52AD-3DEF92D6F597}"/>
              </a:ext>
            </a:extLst>
          </p:cNvPr>
          <p:cNvSpPr txBox="1"/>
          <p:nvPr/>
        </p:nvSpPr>
        <p:spPr>
          <a:xfrm>
            <a:off x="6921500" y="2903140"/>
            <a:ext cx="4635500" cy="2308324"/>
          </a:xfrm>
          <a:prstGeom prst="rect">
            <a:avLst/>
          </a:prstGeom>
          <a:noFill/>
          <a:ln w="15875">
            <a:solidFill>
              <a:srgbClr val="D6E8F6"/>
            </a:solidFill>
          </a:ln>
          <a:effectLst>
            <a:outerShdw blurRad="63500" dist="28398" dir="3806086" rotWithShape="0">
              <a:srgbClr val="B9CCE0">
                <a:alpha val="22000"/>
              </a:srgbClr>
            </a:outerShdw>
          </a:effectLst>
        </p:spPr>
        <p:txBody>
          <a:bodyPr vert="horz" wrap="square" lIns="101600" tIns="63500" rIns="101600" bIns="63500" rtlCol="0">
            <a:normAutofit/>
          </a:bodyPr>
          <a:lstStyle/>
          <a:p>
            <a:r>
              <a:rPr lang="en-US" dirty="0">
                <a:solidFill>
                  <a:srgbClr val="566982"/>
                </a:solidFill>
                <a:latin typeface="Aptos" panose="020B0004020202020204" pitchFamily="34" charset="0"/>
              </a:rPr>
              <a:t>- Validated generated code with unit tests and live deployments</a:t>
            </a:r>
          </a:p>
          <a:p>
            <a:r>
              <a:rPr lang="en-US" dirty="0">
                <a:solidFill>
                  <a:srgbClr val="566982"/>
                </a:solidFill>
                <a:latin typeface="Aptos" panose="020B0004020202020204" pitchFamily="34" charset="0"/>
              </a:rPr>
              <a:t>- Corrected secret handling to use AWS Secrets Manager instead of properties</a:t>
            </a:r>
          </a:p>
          <a:p>
            <a:r>
              <a:rPr lang="en-US" dirty="0">
                <a:solidFill>
                  <a:srgbClr val="566982"/>
                </a:solidFill>
                <a:latin typeface="Aptos" panose="020B0004020202020204" pitchFamily="34" charset="0"/>
              </a:rPr>
              <a:t>- Fixed </a:t>
            </a:r>
            <a:r>
              <a:rPr lang="en-US" dirty="0" err="1">
                <a:solidFill>
                  <a:srgbClr val="566982"/>
                </a:solidFill>
                <a:latin typeface="Aptos" panose="020B0004020202020204" pitchFamily="34" charset="0"/>
              </a:rPr>
              <a:t>ObjectMapper</a:t>
            </a:r>
            <a:r>
              <a:rPr lang="en-US" dirty="0">
                <a:solidFill>
                  <a:srgbClr val="566982"/>
                </a:solidFill>
                <a:latin typeface="Aptos" panose="020B0004020202020204" pitchFamily="34" charset="0"/>
              </a:rPr>
              <a:t> Java time serialization in JMS converter</a:t>
            </a:r>
          </a:p>
          <a:p>
            <a:r>
              <a:rPr lang="en-US" dirty="0">
                <a:solidFill>
                  <a:srgbClr val="566982"/>
                </a:solidFill>
                <a:latin typeface="Aptos" panose="020B0004020202020204" pitchFamily="34" charset="0"/>
              </a:rPr>
              <a:t>- Added queue backpressure to avoid unbounded MQ growth</a:t>
            </a:r>
          </a:p>
          <a:p>
            <a:r>
              <a:rPr lang="en-US" dirty="0">
                <a:solidFill>
                  <a:srgbClr val="566982"/>
                </a:solidFill>
                <a:latin typeface="Aptos" panose="020B0004020202020204" pitchFamily="34" charset="0"/>
              </a:rPr>
              <a:t>- Separated TPS panels from cumulative total panels in Grafana</a:t>
            </a:r>
          </a:p>
        </p:txBody>
      </p:sp>
      <p:sp>
        <p:nvSpPr>
          <p:cNvPr id="20" name="TextBox 19">
            <a:extLst>
              <a:ext uri="{FF2B5EF4-FFF2-40B4-BE49-F238E27FC236}">
                <a16:creationId xmlns:a16="http://schemas.microsoft.com/office/drawing/2014/main" id="{14EB0442-0A82-1B63-E59E-4E47ED759036}"/>
              </a:ext>
            </a:extLst>
          </p:cNvPr>
          <p:cNvSpPr txBox="1"/>
          <p:nvPr/>
        </p:nvSpPr>
        <p:spPr>
          <a:xfrm>
            <a:off x="1511067" y="2150130"/>
            <a:ext cx="2720465" cy="374461"/>
          </a:xfrm>
          <a:prstGeom prst="rect">
            <a:avLst/>
          </a:prstGeom>
          <a:noFill/>
          <a:ln w="15875">
            <a:solidFill>
              <a:srgbClr val="D6E8F6"/>
            </a:solidFill>
          </a:ln>
          <a:effectLst>
            <a:outerShdw blurRad="63500" dist="28398" dir="3806086" rotWithShape="0">
              <a:srgbClr val="B9CCE0">
                <a:alpha val="22000"/>
              </a:srgbClr>
            </a:outerShdw>
          </a:effectLst>
        </p:spPr>
        <p:txBody>
          <a:bodyPr wrap="square" lIns="101600" tIns="63500" rIns="101600" bIns="63500" rtlCol="0">
            <a:normAutofit/>
          </a:bodyPr>
          <a:lstStyle/>
          <a:p>
            <a:pPr algn="ctr"/>
            <a:r>
              <a:rPr lang="en-US" sz="1600" b="1" dirty="0">
                <a:solidFill>
                  <a:srgbClr val="566982"/>
                </a:solidFill>
                <a:latin typeface="Aptos" panose="020B0004020202020204" pitchFamily="34" charset="0"/>
              </a:rPr>
              <a:t>How AI was used</a:t>
            </a:r>
          </a:p>
        </p:txBody>
      </p:sp>
      <p:sp>
        <p:nvSpPr>
          <p:cNvPr id="21" name="TextBox 20">
            <a:extLst>
              <a:ext uri="{FF2B5EF4-FFF2-40B4-BE49-F238E27FC236}">
                <a16:creationId xmlns:a16="http://schemas.microsoft.com/office/drawing/2014/main" id="{5D7EDA3D-B741-933C-AD61-1239CAE56AA3}"/>
              </a:ext>
            </a:extLst>
          </p:cNvPr>
          <p:cNvSpPr txBox="1"/>
          <p:nvPr/>
        </p:nvSpPr>
        <p:spPr>
          <a:xfrm>
            <a:off x="7318579" y="2150130"/>
            <a:ext cx="3346314" cy="374461"/>
          </a:xfrm>
          <a:prstGeom prst="rect">
            <a:avLst/>
          </a:prstGeom>
          <a:noFill/>
          <a:ln w="15875">
            <a:solidFill>
              <a:srgbClr val="D6E8F6"/>
            </a:solidFill>
          </a:ln>
          <a:effectLst>
            <a:outerShdw blurRad="63500" dist="28398" dir="3806086" rotWithShape="0">
              <a:srgbClr val="B9CCE0">
                <a:alpha val="22000"/>
              </a:srgbClr>
            </a:outerShdw>
          </a:effectLst>
        </p:spPr>
        <p:txBody>
          <a:bodyPr wrap="square" lIns="101600" tIns="63500" rIns="101600" bIns="63500" rtlCol="0">
            <a:normAutofit/>
          </a:bodyPr>
          <a:lstStyle/>
          <a:p>
            <a:pPr algn="ctr"/>
            <a:r>
              <a:rPr lang="en-US" sz="1600" b="1" dirty="0">
                <a:solidFill>
                  <a:srgbClr val="566982"/>
                </a:solidFill>
                <a:latin typeface="Aptos" panose="020B0004020202020204" pitchFamily="34" charset="0"/>
              </a:rPr>
              <a:t>Engineering judgement applied</a:t>
            </a:r>
          </a:p>
        </p:txBody>
      </p:sp>
      <p:sp>
        <p:nvSpPr>
          <p:cNvPr id="25" name="codex_template_top_accent">
            <a:extLst>
              <a:ext uri="{FF2B5EF4-FFF2-40B4-BE49-F238E27FC236}">
                <a16:creationId xmlns:a16="http://schemas.microsoft.com/office/drawing/2014/main" id="{6EB5E8CC-1916-D825-B102-530B212FED2B}"/>
              </a:ext>
            </a:extLst>
          </p:cNvPr>
          <p:cNvSpPr/>
          <p:nvPr/>
        </p:nvSpPr>
        <p:spPr>
          <a:xfrm>
            <a:off x="0" y="0"/>
            <a:ext cx="12192000" cy="88900"/>
          </a:xfrm>
          <a:prstGeom prst="rect">
            <a:avLst/>
          </a:prstGeom>
          <a:solidFill>
            <a:srgbClr val="00A9E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codex_template_footer">
            <a:extLst>
              <a:ext uri="{FF2B5EF4-FFF2-40B4-BE49-F238E27FC236}">
                <a16:creationId xmlns:a16="http://schemas.microsoft.com/office/drawing/2014/main" id="{FCF4D95A-AF72-9450-2FFE-1C3C3E84ADA7}"/>
              </a:ext>
            </a:extLst>
          </p:cNvPr>
          <p:cNvSpPr txBox="1"/>
          <p:nvPr/>
        </p:nvSpPr>
        <p:spPr>
          <a:xfrm>
            <a:off x="355600" y="6553200"/>
            <a:ext cx="10668000" cy="215444"/>
          </a:xfrm>
          <a:prstGeom prst="rect">
            <a:avLst/>
          </a:prstGeom>
          <a:noFill/>
        </p:spPr>
        <p:txBody>
          <a:bodyPr vert="horz" rtlCol="0">
            <a:spAutoFit/>
          </a:bodyPr>
          <a:lstStyle/>
          <a:p>
            <a:r>
              <a:rPr lang="en-US" sz="800">
                <a:solidFill>
                  <a:srgbClr val="566982"/>
                </a:solidFill>
                <a:latin typeface="Aptos" panose="020B0004020202020204" pitchFamily="34" charset="0"/>
              </a:rPr>
              <a:t>Enterprise Reconciliation Platform | Principal Engineer / Architect Assessment</a:t>
            </a:r>
          </a:p>
        </p:txBody>
      </p:sp>
      <p:sp>
        <p:nvSpPr>
          <p:cNvPr id="28" name="codex_template_slide_number">
            <a:extLst>
              <a:ext uri="{FF2B5EF4-FFF2-40B4-BE49-F238E27FC236}">
                <a16:creationId xmlns:a16="http://schemas.microsoft.com/office/drawing/2014/main" id="{655EB147-B824-E862-0970-DFF0493AB9DD}"/>
              </a:ext>
            </a:extLst>
          </p:cNvPr>
          <p:cNvSpPr txBox="1"/>
          <p:nvPr/>
        </p:nvSpPr>
        <p:spPr>
          <a:xfrm>
            <a:off x="11557000" y="6553200"/>
            <a:ext cx="355600" cy="215444"/>
          </a:xfrm>
          <a:prstGeom prst="rect">
            <a:avLst/>
          </a:prstGeom>
          <a:noFill/>
        </p:spPr>
        <p:txBody>
          <a:bodyPr vert="horz" rtlCol="0">
            <a:spAutoFit/>
          </a:bodyPr>
          <a:lstStyle/>
          <a:p>
            <a:r>
              <a:rPr lang="en-US" sz="800">
                <a:solidFill>
                  <a:srgbClr val="566982"/>
                </a:solidFill>
                <a:latin typeface="Aptos" panose="020B0004020202020204" pitchFamily="34" charset="0"/>
              </a:rPr>
              <a:t>16</a:t>
            </a:r>
          </a:p>
        </p:txBody>
      </p:sp>
      <p:cxnSp>
        <p:nvCxnSpPr>
          <p:cNvPr id="29" name="codex_template_title_rule">
            <a:extLst>
              <a:ext uri="{FF2B5EF4-FFF2-40B4-BE49-F238E27FC236}">
                <a16:creationId xmlns:a16="http://schemas.microsoft.com/office/drawing/2014/main" id="{45E2CBE6-2FCB-3BC1-79DC-B6EE628A8837}"/>
              </a:ext>
            </a:extLst>
          </p:cNvPr>
          <p:cNvCxnSpPr/>
          <p:nvPr/>
        </p:nvCxnSpPr>
        <p:spPr>
          <a:xfrm>
            <a:off x="803072" y="1231841"/>
            <a:ext cx="4648200" cy="0"/>
          </a:xfrm>
          <a:prstGeom prst="line">
            <a:avLst/>
          </a:prstGeom>
          <a:ln w="27940">
            <a:solidFill>
              <a:srgbClr val="00A9E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58330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codex_template_right_wash">
            <a:extLst>
              <a:ext uri="{FF2B5EF4-FFF2-40B4-BE49-F238E27FC236}">
                <a16:creationId xmlns:a16="http://schemas.microsoft.com/office/drawing/2014/main" id="{E063E9E0-C0CD-D162-B6ED-635C48CFE531}"/>
              </a:ext>
            </a:extLst>
          </p:cNvPr>
          <p:cNvSpPr/>
          <p:nvPr/>
        </p:nvSpPr>
        <p:spPr>
          <a:xfrm>
            <a:off x="9509760" y="0"/>
            <a:ext cx="2682240" cy="6858000"/>
          </a:xfrm>
          <a:prstGeom prst="rect">
            <a:avLst/>
          </a:prstGeom>
          <a:solidFill>
            <a:srgbClr val="E7F6FF">
              <a:alpha val="92000"/>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codex_template_header_band">
            <a:extLst>
              <a:ext uri="{FF2B5EF4-FFF2-40B4-BE49-F238E27FC236}">
                <a16:creationId xmlns:a16="http://schemas.microsoft.com/office/drawing/2014/main" id="{08CECE3C-4601-5678-C1C2-47699C3F8E99}"/>
              </a:ext>
            </a:extLst>
          </p:cNvPr>
          <p:cNvSpPr/>
          <p:nvPr/>
        </p:nvSpPr>
        <p:spPr>
          <a:xfrm>
            <a:off x="0" y="0"/>
            <a:ext cx="12192000" cy="812800"/>
          </a:xfrm>
          <a:prstGeom prst="rect">
            <a:avLst/>
          </a:prstGeom>
          <a:solidFill>
            <a:srgbClr val="ECF7FF">
              <a:alpha val="95000"/>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codex_template_background">
            <a:extLst>
              <a:ext uri="{FF2B5EF4-FFF2-40B4-BE49-F238E27FC236}">
                <a16:creationId xmlns:a16="http://schemas.microsoft.com/office/drawing/2014/main" id="{3E3E1843-10DD-BC43-FA7E-399D2046D99F}"/>
              </a:ext>
            </a:extLst>
          </p:cNvPr>
          <p:cNvSpPr/>
          <p:nvPr/>
        </p:nvSpPr>
        <p:spPr>
          <a:xfrm>
            <a:off x="0" y="0"/>
            <a:ext cx="12192000" cy="6858000"/>
          </a:xfrm>
          <a:prstGeom prst="rect">
            <a:avLst/>
          </a:prstGeom>
          <a:solidFill>
            <a:srgbClr val="F8FBF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EB66A26-5C4F-F6E9-4C60-ACC703B5C79D}"/>
              </a:ext>
            </a:extLst>
          </p:cNvPr>
          <p:cNvSpPr txBox="1"/>
          <p:nvPr/>
        </p:nvSpPr>
        <p:spPr>
          <a:xfrm>
            <a:off x="812800" y="590778"/>
            <a:ext cx="10414000" cy="533400"/>
          </a:xfrm>
          <a:prstGeom prst="rect">
            <a:avLst/>
          </a:prstGeom>
          <a:solidFill>
            <a:scrgbClr r="0" g="0" b="0">
              <a:alpha val="0"/>
            </a:scrgbClr>
          </a:solidFill>
          <a:ln w="15875">
            <a:noFill/>
          </a:ln>
          <a:effectLst/>
        </p:spPr>
        <p:txBody>
          <a:bodyPr vert="horz" wrap="square" lIns="0" tIns="0" rIns="0" bIns="0" rtlCol="0">
            <a:noAutofit/>
          </a:bodyPr>
          <a:lstStyle/>
          <a:p>
            <a:r>
              <a:rPr lang="en-US" sz="2800" b="1" dirty="0">
                <a:solidFill>
                  <a:srgbClr val="142D4E"/>
                </a:solidFill>
                <a:latin typeface="Aptos Display" panose="020B0004020202020204" pitchFamily="34" charset="0"/>
              </a:rPr>
              <a:t>Prompt Engineering Examples and Corrections</a:t>
            </a:r>
          </a:p>
        </p:txBody>
      </p:sp>
      <p:sp>
        <p:nvSpPr>
          <p:cNvPr id="14" name="Rectangle: Rounded Corners 13">
            <a:extLst>
              <a:ext uri="{FF2B5EF4-FFF2-40B4-BE49-F238E27FC236}">
                <a16:creationId xmlns:a16="http://schemas.microsoft.com/office/drawing/2014/main" id="{0776D6A1-944F-0C94-8082-45CB8A4DA0E7}"/>
              </a:ext>
            </a:extLst>
          </p:cNvPr>
          <p:cNvSpPr/>
          <p:nvPr/>
        </p:nvSpPr>
        <p:spPr>
          <a:xfrm>
            <a:off x="571500" y="2006600"/>
            <a:ext cx="3492500" cy="3810000"/>
          </a:xfrm>
          <a:prstGeom prst="roundRect">
            <a:avLst/>
          </a:prstGeom>
          <a:solidFill>
            <a:srgbClr val="E2F1FF"/>
          </a:solidFill>
          <a:ln w="20320" cap="flat" cmpd="sng" algn="ctr">
            <a:noFill/>
            <a:prstDash val="solid"/>
          </a:ln>
          <a:effectLst>
            <a:outerShdw blurRad="63500" dist="28398" dir="3806096" rotWithShape="0">
              <a:srgbClr val="B9CCE0">
                <a:alpha val="22000"/>
              </a:srgbClr>
            </a:outerShdw>
          </a:effectLst>
          <a:extLst>
            <a:ext uri="{91240B29-F687-4F45-9708-019B960494DF}">
              <a14:hiddenLine xmlns:a14="http://schemas.microsoft.com/office/drawing/2010/main" w="15875" cap="flat" cmpd="sng" algn="ctr">
                <a:solidFill>
                  <a:srgbClr val="0076D2"/>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ctr">
            <a:normAutofit/>
          </a:bodyPr>
          <a:lstStyle/>
          <a:p>
            <a:r>
              <a:rPr lang="en-US" sz="1200" b="1" dirty="0">
                <a:solidFill>
                  <a:srgbClr val="566982"/>
                </a:solidFill>
                <a:latin typeface="Aptos" panose="020B0004020202020204" pitchFamily="34" charset="0"/>
              </a:rPr>
              <a:t>Example prompts used</a:t>
            </a:r>
          </a:p>
          <a:p>
            <a:r>
              <a:rPr lang="en-US" sz="1200" b="1" dirty="0">
                <a:solidFill>
                  <a:srgbClr val="566982"/>
                </a:solidFill>
                <a:latin typeface="Aptos" panose="020B0004020202020204" pitchFamily="34" charset="0"/>
              </a:rPr>
              <a:t>- Build three independent Java 17 services for producer, consumer and dashboard.</a:t>
            </a:r>
          </a:p>
          <a:p>
            <a:r>
              <a:rPr lang="en-US" sz="1200" b="1" dirty="0">
                <a:solidFill>
                  <a:srgbClr val="566982"/>
                </a:solidFill>
                <a:latin typeface="Aptos" panose="020B0004020202020204" pitchFamily="34" charset="0"/>
              </a:rPr>
              <a:t>- Add IBM MQ retry, backout, DLQ and replay patterns.</a:t>
            </a:r>
          </a:p>
          <a:p>
            <a:r>
              <a:rPr lang="en-US" sz="1200" b="1" dirty="0">
                <a:solidFill>
                  <a:srgbClr val="566982"/>
                </a:solidFill>
                <a:latin typeface="Aptos" panose="020B0004020202020204" pitchFamily="34" charset="0"/>
              </a:rPr>
              <a:t>- Move confidential runtime config to AWS Secrets Manager.</a:t>
            </a:r>
          </a:p>
          <a:p>
            <a:r>
              <a:rPr lang="en-US" sz="1200" b="1" dirty="0">
                <a:solidFill>
                  <a:srgbClr val="566982"/>
                </a:solidFill>
                <a:latin typeface="Aptos" panose="020B0004020202020204" pitchFamily="34" charset="0"/>
              </a:rPr>
              <a:t>- Create Kubernetes manifests for EKS with HPA, probes and persistent MQ storage.</a:t>
            </a:r>
          </a:p>
          <a:p>
            <a:r>
              <a:rPr lang="en-US" sz="1200" b="1" dirty="0">
                <a:solidFill>
                  <a:srgbClr val="566982"/>
                </a:solidFill>
                <a:latin typeface="Aptos" panose="020B0004020202020204" pitchFamily="34" charset="0"/>
              </a:rPr>
              <a:t>- Generate architecture diagrams and SRE walkthrough.</a:t>
            </a:r>
          </a:p>
        </p:txBody>
      </p:sp>
      <p:sp>
        <p:nvSpPr>
          <p:cNvPr id="15" name="Rectangle: Rounded Corners 14">
            <a:extLst>
              <a:ext uri="{FF2B5EF4-FFF2-40B4-BE49-F238E27FC236}">
                <a16:creationId xmlns:a16="http://schemas.microsoft.com/office/drawing/2014/main" id="{A3D9304B-B57B-92F7-439F-D0E7571FB7B0}"/>
              </a:ext>
            </a:extLst>
          </p:cNvPr>
          <p:cNvSpPr/>
          <p:nvPr/>
        </p:nvSpPr>
        <p:spPr>
          <a:xfrm>
            <a:off x="4445000" y="2006600"/>
            <a:ext cx="3492500" cy="3810000"/>
          </a:xfrm>
          <a:prstGeom prst="roundRect">
            <a:avLst/>
          </a:prstGeom>
          <a:solidFill>
            <a:srgbClr val="E1F8F4"/>
          </a:solidFill>
          <a:ln w="20320" cap="flat" cmpd="sng" algn="ctr">
            <a:noFill/>
            <a:prstDash val="solid"/>
          </a:ln>
          <a:effectLst>
            <a:outerShdw blurRad="63500" dist="28398" dir="3806096" rotWithShape="0">
              <a:srgbClr val="B9CCE0">
                <a:alpha val="22000"/>
              </a:srgbClr>
            </a:outerShdw>
          </a:effectLst>
          <a:extLst>
            <a:ext uri="{91240B29-F687-4F45-9708-019B960494DF}">
              <a14:hiddenLine xmlns:a14="http://schemas.microsoft.com/office/drawing/2010/main" w="15875" cap="flat" cmpd="sng" algn="ctr">
                <a:solidFill>
                  <a:srgbClr val="009988"/>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ctr">
            <a:normAutofit/>
          </a:bodyPr>
          <a:lstStyle/>
          <a:p>
            <a:r>
              <a:rPr lang="en-US" sz="1200" b="1" dirty="0">
                <a:solidFill>
                  <a:srgbClr val="566982"/>
                </a:solidFill>
                <a:latin typeface="Aptos" panose="020B0004020202020204" pitchFamily="34" charset="0"/>
              </a:rPr>
              <a:t>AI-generated sections</a:t>
            </a:r>
          </a:p>
          <a:p>
            <a:r>
              <a:rPr lang="en-US" sz="1200" b="1" dirty="0">
                <a:solidFill>
                  <a:srgbClr val="566982"/>
                </a:solidFill>
                <a:latin typeface="Aptos" panose="020B0004020202020204" pitchFamily="34" charset="0"/>
              </a:rPr>
              <a:t>- Spring Boot project structure</a:t>
            </a:r>
          </a:p>
          <a:p>
            <a:r>
              <a:rPr lang="en-US" sz="1200" b="1" dirty="0">
                <a:solidFill>
                  <a:srgbClr val="566982"/>
                </a:solidFill>
                <a:latin typeface="Aptos" panose="020B0004020202020204" pitchFamily="34" charset="0"/>
              </a:rPr>
              <a:t>- JMS configuration</a:t>
            </a:r>
          </a:p>
          <a:p>
            <a:r>
              <a:rPr lang="en-US" sz="1200" b="1" dirty="0">
                <a:solidFill>
                  <a:srgbClr val="566982"/>
                </a:solidFill>
                <a:latin typeface="Aptos" panose="020B0004020202020204" pitchFamily="34" charset="0"/>
              </a:rPr>
              <a:t>- Reconciliation service skeleton</a:t>
            </a:r>
          </a:p>
          <a:p>
            <a:r>
              <a:rPr lang="en-US" sz="1200" b="1" dirty="0">
                <a:solidFill>
                  <a:srgbClr val="566982"/>
                </a:solidFill>
                <a:latin typeface="Aptos" panose="020B0004020202020204" pitchFamily="34" charset="0"/>
              </a:rPr>
              <a:t>- Kubernetes Deployment/</a:t>
            </a:r>
            <a:r>
              <a:rPr lang="en-US" sz="1200" b="1" dirty="0" err="1">
                <a:solidFill>
                  <a:srgbClr val="566982"/>
                </a:solidFill>
                <a:latin typeface="Aptos" panose="020B0004020202020204" pitchFamily="34" charset="0"/>
              </a:rPr>
              <a:t>StatefulSet</a:t>
            </a:r>
            <a:r>
              <a:rPr lang="en-US" sz="1200" b="1" dirty="0">
                <a:solidFill>
                  <a:srgbClr val="566982"/>
                </a:solidFill>
                <a:latin typeface="Aptos" panose="020B0004020202020204" pitchFamily="34" charset="0"/>
              </a:rPr>
              <a:t> YAML</a:t>
            </a:r>
          </a:p>
          <a:p>
            <a:r>
              <a:rPr lang="en-US" sz="1200" b="1" dirty="0">
                <a:solidFill>
                  <a:srgbClr val="566982"/>
                </a:solidFill>
                <a:latin typeface="Aptos" panose="020B0004020202020204" pitchFamily="34" charset="0"/>
              </a:rPr>
              <a:t>- Prometheus/Grafana manifests</a:t>
            </a:r>
          </a:p>
          <a:p>
            <a:r>
              <a:rPr lang="en-US" sz="1200" b="1" dirty="0">
                <a:solidFill>
                  <a:srgbClr val="566982"/>
                </a:solidFill>
                <a:latin typeface="Aptos" panose="020B0004020202020204" pitchFamily="34" charset="0"/>
              </a:rPr>
              <a:t>- Runbook and architecture documentation</a:t>
            </a:r>
          </a:p>
        </p:txBody>
      </p:sp>
      <p:sp>
        <p:nvSpPr>
          <p:cNvPr id="16" name="Rectangle: Rounded Corners 15">
            <a:extLst>
              <a:ext uri="{FF2B5EF4-FFF2-40B4-BE49-F238E27FC236}">
                <a16:creationId xmlns:a16="http://schemas.microsoft.com/office/drawing/2014/main" id="{07BA3A3C-CBD1-7DBE-A551-49078B5C6B18}"/>
              </a:ext>
            </a:extLst>
          </p:cNvPr>
          <p:cNvSpPr/>
          <p:nvPr/>
        </p:nvSpPr>
        <p:spPr>
          <a:xfrm>
            <a:off x="8318500" y="2006600"/>
            <a:ext cx="3492500" cy="3810000"/>
          </a:xfrm>
          <a:prstGeom prst="roundRect">
            <a:avLst/>
          </a:prstGeom>
          <a:solidFill>
            <a:srgbClr val="FFF2DD"/>
          </a:solidFill>
          <a:ln w="20320" cap="flat" cmpd="sng" algn="ctr">
            <a:noFill/>
            <a:prstDash val="solid"/>
          </a:ln>
          <a:effectLst>
            <a:outerShdw blurRad="63500" dist="28398" dir="3806096" rotWithShape="0">
              <a:srgbClr val="B9CCE0">
                <a:alpha val="22000"/>
              </a:srgbClr>
            </a:outerShdw>
          </a:effectLst>
          <a:extLst>
            <a:ext uri="{91240B29-F687-4F45-9708-019B960494DF}">
              <a14:hiddenLine xmlns:a14="http://schemas.microsoft.com/office/drawing/2010/main" w="15875" cap="flat" cmpd="sng" algn="ctr">
                <a:solidFill>
                  <a:srgbClr val="EE9726"/>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wrap="square" lIns="101600" tIns="63500" rIns="101600" bIns="63500" rtlCol="0" anchor="ctr">
            <a:normAutofit/>
          </a:bodyPr>
          <a:lstStyle/>
          <a:p>
            <a:r>
              <a:rPr lang="en-US" sz="1200" b="1" dirty="0">
                <a:solidFill>
                  <a:srgbClr val="566982"/>
                </a:solidFill>
                <a:latin typeface="Aptos" panose="020B0004020202020204" pitchFamily="34" charset="0"/>
              </a:rPr>
              <a:t>Manual corrections</a:t>
            </a:r>
          </a:p>
          <a:p>
            <a:r>
              <a:rPr lang="en-US" sz="1200" b="1" dirty="0">
                <a:solidFill>
                  <a:srgbClr val="566982"/>
                </a:solidFill>
                <a:latin typeface="Aptos" panose="020B0004020202020204" pitchFamily="34" charset="0"/>
              </a:rPr>
              <a:t>- Removed property-file secrets and used Secrets Manager</a:t>
            </a:r>
          </a:p>
          <a:p>
            <a:r>
              <a:rPr lang="en-US" sz="1200" b="1" dirty="0">
                <a:solidFill>
                  <a:srgbClr val="566982"/>
                </a:solidFill>
                <a:latin typeface="Aptos" panose="020B0004020202020204" pitchFamily="34" charset="0"/>
              </a:rPr>
              <a:t>- Added exception handling and production logging</a:t>
            </a:r>
          </a:p>
          <a:p>
            <a:r>
              <a:rPr lang="en-US" sz="1200" b="1" dirty="0">
                <a:solidFill>
                  <a:srgbClr val="566982"/>
                </a:solidFill>
                <a:latin typeface="Aptos" panose="020B0004020202020204" pitchFamily="34" charset="0"/>
              </a:rPr>
              <a:t>- Fixed MQ OAM authorization and documented MQRC 2035</a:t>
            </a:r>
          </a:p>
          <a:p>
            <a:r>
              <a:rPr lang="en-US" sz="1200" b="1" dirty="0">
                <a:solidFill>
                  <a:srgbClr val="566982"/>
                </a:solidFill>
                <a:latin typeface="Aptos" panose="020B0004020202020204" pitchFamily="34" charset="0"/>
              </a:rPr>
              <a:t>- Added </a:t>
            </a:r>
            <a:r>
              <a:rPr lang="en-US" sz="1200" b="1" dirty="0" err="1">
                <a:solidFill>
                  <a:srgbClr val="566982"/>
                </a:solidFill>
                <a:latin typeface="Aptos" panose="020B0004020202020204" pitchFamily="34" charset="0"/>
              </a:rPr>
              <a:t>JavaTime</a:t>
            </a:r>
            <a:r>
              <a:rPr lang="en-US" sz="1200" b="1" dirty="0">
                <a:solidFill>
                  <a:srgbClr val="566982"/>
                </a:solidFill>
                <a:latin typeface="Aptos" panose="020B0004020202020204" pitchFamily="34" charset="0"/>
              </a:rPr>
              <a:t> </a:t>
            </a:r>
            <a:r>
              <a:rPr lang="en-US" sz="1200" b="1" dirty="0" err="1">
                <a:solidFill>
                  <a:srgbClr val="566982"/>
                </a:solidFill>
                <a:latin typeface="Aptos" panose="020B0004020202020204" pitchFamily="34" charset="0"/>
              </a:rPr>
              <a:t>ObjectMapper</a:t>
            </a:r>
            <a:r>
              <a:rPr lang="en-US" sz="1200" b="1" dirty="0">
                <a:solidFill>
                  <a:srgbClr val="566982"/>
                </a:solidFill>
                <a:latin typeface="Aptos" panose="020B0004020202020204" pitchFamily="34" charset="0"/>
              </a:rPr>
              <a:t> support</a:t>
            </a:r>
          </a:p>
          <a:p>
            <a:r>
              <a:rPr lang="en-US" sz="1200" b="1" dirty="0">
                <a:solidFill>
                  <a:srgbClr val="566982"/>
                </a:solidFill>
                <a:latin typeface="Aptos" panose="020B0004020202020204" pitchFamily="34" charset="0"/>
              </a:rPr>
              <a:t>- Added total processed Grafana panels</a:t>
            </a:r>
          </a:p>
          <a:p>
            <a:r>
              <a:rPr lang="en-US" sz="1200" b="1" dirty="0">
                <a:solidFill>
                  <a:srgbClr val="566982"/>
                </a:solidFill>
                <a:latin typeface="Aptos" panose="020B0004020202020204" pitchFamily="34" charset="0"/>
              </a:rPr>
              <a:t>- Tuned TPS/backpressure for cloud cost and stability</a:t>
            </a:r>
          </a:p>
        </p:txBody>
      </p:sp>
      <p:sp>
        <p:nvSpPr>
          <p:cNvPr id="22" name="codex_template_top_accent">
            <a:extLst>
              <a:ext uri="{FF2B5EF4-FFF2-40B4-BE49-F238E27FC236}">
                <a16:creationId xmlns:a16="http://schemas.microsoft.com/office/drawing/2014/main" id="{28AFCEC1-1A93-9C97-4ECE-6950F7F46E70}"/>
              </a:ext>
            </a:extLst>
          </p:cNvPr>
          <p:cNvSpPr/>
          <p:nvPr/>
        </p:nvSpPr>
        <p:spPr>
          <a:xfrm>
            <a:off x="0" y="0"/>
            <a:ext cx="12192000" cy="88900"/>
          </a:xfrm>
          <a:prstGeom prst="rect">
            <a:avLst/>
          </a:prstGeom>
          <a:solidFill>
            <a:srgbClr val="00A9E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codex_template_footer">
            <a:extLst>
              <a:ext uri="{FF2B5EF4-FFF2-40B4-BE49-F238E27FC236}">
                <a16:creationId xmlns:a16="http://schemas.microsoft.com/office/drawing/2014/main" id="{FE5F0C5A-9D56-BEEE-CFFD-43759FD40CFE}"/>
              </a:ext>
            </a:extLst>
          </p:cNvPr>
          <p:cNvSpPr txBox="1"/>
          <p:nvPr/>
        </p:nvSpPr>
        <p:spPr>
          <a:xfrm>
            <a:off x="355600" y="6553200"/>
            <a:ext cx="10668000" cy="215444"/>
          </a:xfrm>
          <a:prstGeom prst="rect">
            <a:avLst/>
          </a:prstGeom>
          <a:noFill/>
        </p:spPr>
        <p:txBody>
          <a:bodyPr vert="horz" rtlCol="0">
            <a:spAutoFit/>
          </a:bodyPr>
          <a:lstStyle/>
          <a:p>
            <a:r>
              <a:rPr lang="en-US" sz="800">
                <a:solidFill>
                  <a:srgbClr val="566982"/>
                </a:solidFill>
                <a:latin typeface="Aptos" panose="020B0004020202020204" pitchFamily="34" charset="0"/>
              </a:rPr>
              <a:t>Enterprise Reconciliation Platform | Principal Engineer / Architect Assessment</a:t>
            </a:r>
          </a:p>
        </p:txBody>
      </p:sp>
      <p:sp>
        <p:nvSpPr>
          <p:cNvPr id="25" name="codex_template_slide_number">
            <a:extLst>
              <a:ext uri="{FF2B5EF4-FFF2-40B4-BE49-F238E27FC236}">
                <a16:creationId xmlns:a16="http://schemas.microsoft.com/office/drawing/2014/main" id="{0D7691DE-8EAE-EE8D-08AA-69A3CF4FBF00}"/>
              </a:ext>
            </a:extLst>
          </p:cNvPr>
          <p:cNvSpPr txBox="1"/>
          <p:nvPr/>
        </p:nvSpPr>
        <p:spPr>
          <a:xfrm>
            <a:off x="11557000" y="6553200"/>
            <a:ext cx="355600" cy="215444"/>
          </a:xfrm>
          <a:prstGeom prst="rect">
            <a:avLst/>
          </a:prstGeom>
          <a:noFill/>
        </p:spPr>
        <p:txBody>
          <a:bodyPr vert="horz" rtlCol="0">
            <a:spAutoFit/>
          </a:bodyPr>
          <a:lstStyle/>
          <a:p>
            <a:r>
              <a:rPr lang="en-US" sz="800">
                <a:solidFill>
                  <a:srgbClr val="566982"/>
                </a:solidFill>
                <a:latin typeface="Aptos" panose="020B0004020202020204" pitchFamily="34" charset="0"/>
              </a:rPr>
              <a:t>17</a:t>
            </a:r>
          </a:p>
        </p:txBody>
      </p:sp>
      <p:cxnSp>
        <p:nvCxnSpPr>
          <p:cNvPr id="26" name="codex_template_title_rule">
            <a:extLst>
              <a:ext uri="{FF2B5EF4-FFF2-40B4-BE49-F238E27FC236}">
                <a16:creationId xmlns:a16="http://schemas.microsoft.com/office/drawing/2014/main" id="{60D1501B-FE3C-B578-6186-CCB26BDEB352}"/>
              </a:ext>
            </a:extLst>
          </p:cNvPr>
          <p:cNvCxnSpPr/>
          <p:nvPr/>
        </p:nvCxnSpPr>
        <p:spPr>
          <a:xfrm>
            <a:off x="812800" y="1251178"/>
            <a:ext cx="4648200" cy="0"/>
          </a:xfrm>
          <a:prstGeom prst="line">
            <a:avLst/>
          </a:prstGeom>
          <a:ln w="27940">
            <a:solidFill>
              <a:srgbClr val="00A9E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73274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codex_template_right_wash">
            <a:extLst>
              <a:ext uri="{FF2B5EF4-FFF2-40B4-BE49-F238E27FC236}">
                <a16:creationId xmlns:a16="http://schemas.microsoft.com/office/drawing/2014/main" id="{E693B45D-C67D-ACEC-F4C9-28937BBD0EF5}"/>
              </a:ext>
            </a:extLst>
          </p:cNvPr>
          <p:cNvSpPr/>
          <p:nvPr/>
        </p:nvSpPr>
        <p:spPr>
          <a:xfrm>
            <a:off x="9509760" y="0"/>
            <a:ext cx="2682240" cy="6858000"/>
          </a:xfrm>
          <a:prstGeom prst="rect">
            <a:avLst/>
          </a:prstGeom>
          <a:solidFill>
            <a:srgbClr val="E7F6FF">
              <a:alpha val="92000"/>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codex_template_header_band">
            <a:extLst>
              <a:ext uri="{FF2B5EF4-FFF2-40B4-BE49-F238E27FC236}">
                <a16:creationId xmlns:a16="http://schemas.microsoft.com/office/drawing/2014/main" id="{76CA19AD-0E99-9024-68E8-33284BB77E5C}"/>
              </a:ext>
            </a:extLst>
          </p:cNvPr>
          <p:cNvSpPr/>
          <p:nvPr/>
        </p:nvSpPr>
        <p:spPr>
          <a:xfrm>
            <a:off x="0" y="0"/>
            <a:ext cx="12192000" cy="812800"/>
          </a:xfrm>
          <a:prstGeom prst="rect">
            <a:avLst/>
          </a:prstGeom>
          <a:solidFill>
            <a:srgbClr val="ECF7FF">
              <a:alpha val="95000"/>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codex_template_background">
            <a:extLst>
              <a:ext uri="{FF2B5EF4-FFF2-40B4-BE49-F238E27FC236}">
                <a16:creationId xmlns:a16="http://schemas.microsoft.com/office/drawing/2014/main" id="{B3605A7A-6514-3D1E-7D66-8BC7F994F0B8}"/>
              </a:ext>
            </a:extLst>
          </p:cNvPr>
          <p:cNvSpPr/>
          <p:nvPr/>
        </p:nvSpPr>
        <p:spPr>
          <a:xfrm>
            <a:off x="0" y="0"/>
            <a:ext cx="12192000" cy="6858000"/>
          </a:xfrm>
          <a:prstGeom prst="rect">
            <a:avLst/>
          </a:prstGeom>
          <a:solidFill>
            <a:srgbClr val="F8FBF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1625833A-4871-EADE-2C13-E92E4E58AF52}"/>
              </a:ext>
            </a:extLst>
          </p:cNvPr>
          <p:cNvSpPr txBox="1"/>
          <p:nvPr/>
        </p:nvSpPr>
        <p:spPr>
          <a:xfrm>
            <a:off x="847121" y="569962"/>
            <a:ext cx="10414000" cy="533400"/>
          </a:xfrm>
          <a:prstGeom prst="rect">
            <a:avLst/>
          </a:prstGeom>
          <a:solidFill>
            <a:scrgbClr r="0" g="0" b="0">
              <a:alpha val="0"/>
            </a:scrgbClr>
          </a:solidFill>
          <a:ln w="15875">
            <a:noFill/>
          </a:ln>
          <a:effectLst/>
        </p:spPr>
        <p:txBody>
          <a:bodyPr vert="horz" wrap="square" lIns="0" tIns="0" rIns="0" bIns="0" rtlCol="0">
            <a:noAutofit/>
          </a:bodyPr>
          <a:lstStyle/>
          <a:p>
            <a:r>
              <a:rPr lang="en-US" sz="2800" b="1" dirty="0">
                <a:solidFill>
                  <a:srgbClr val="142D4E"/>
                </a:solidFill>
                <a:latin typeface="Aptos Display" panose="020B0004020202020204" pitchFamily="34" charset="0"/>
              </a:rPr>
              <a:t>Architecture Decisions and Trade-Offs</a:t>
            </a:r>
          </a:p>
        </p:txBody>
      </p:sp>
      <p:sp>
        <p:nvSpPr>
          <p:cNvPr id="14" name="Rectangle: Rounded Corners 13">
            <a:extLst>
              <a:ext uri="{FF2B5EF4-FFF2-40B4-BE49-F238E27FC236}">
                <a16:creationId xmlns:a16="http://schemas.microsoft.com/office/drawing/2014/main" id="{2293AF61-09C1-17A2-DA78-DAA0DBABE7A0}"/>
              </a:ext>
            </a:extLst>
          </p:cNvPr>
          <p:cNvSpPr/>
          <p:nvPr/>
        </p:nvSpPr>
        <p:spPr>
          <a:xfrm>
            <a:off x="571500" y="2006600"/>
            <a:ext cx="5143500" cy="4572000"/>
          </a:xfrm>
          <a:prstGeom prst="roundRect">
            <a:avLst/>
          </a:prstGeom>
          <a:solidFill>
            <a:srgbClr val="E2F1FF"/>
          </a:solidFill>
          <a:ln w="15875">
            <a:solidFill>
              <a:srgbClr val="D6E8F6"/>
            </a:solidFill>
          </a:ln>
          <a:effectLst>
            <a:outerShdw blurRad="63500" dist="28398" dir="3806086" rotWithShape="0">
              <a:srgbClr val="B9CCE0">
                <a:alpha val="22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01600" tIns="76200" rIns="101600" bIns="76200" rtlCol="0" anchor="ctr"/>
          <a:lstStyle/>
          <a:p>
            <a:pPr algn="ctr"/>
            <a:endParaRPr lang="en-US" b="1" dirty="0">
              <a:solidFill>
                <a:srgbClr val="18304E"/>
              </a:solidFill>
              <a:latin typeface="Aptos" panose="020B0004020202020204" pitchFamily="34" charset="0"/>
            </a:endParaRPr>
          </a:p>
        </p:txBody>
      </p:sp>
      <p:sp>
        <p:nvSpPr>
          <p:cNvPr id="15" name="TextBox 14">
            <a:extLst>
              <a:ext uri="{FF2B5EF4-FFF2-40B4-BE49-F238E27FC236}">
                <a16:creationId xmlns:a16="http://schemas.microsoft.com/office/drawing/2014/main" id="{2082CFC5-CA1E-C849-9A56-B075FCB830EE}"/>
              </a:ext>
            </a:extLst>
          </p:cNvPr>
          <p:cNvSpPr txBox="1"/>
          <p:nvPr/>
        </p:nvSpPr>
        <p:spPr>
          <a:xfrm>
            <a:off x="930879" y="2833638"/>
            <a:ext cx="4635500" cy="2308324"/>
          </a:xfrm>
          <a:prstGeom prst="rect">
            <a:avLst/>
          </a:prstGeom>
          <a:noFill/>
          <a:ln w="15875">
            <a:solidFill>
              <a:srgbClr val="D6E8F6"/>
            </a:solidFill>
          </a:ln>
          <a:effectLst>
            <a:outerShdw blurRad="63500" dist="28398" dir="3806086" rotWithShape="0">
              <a:srgbClr val="B9CCE0">
                <a:alpha val="22000"/>
              </a:srgbClr>
            </a:outerShdw>
          </a:effectLst>
        </p:spPr>
        <p:txBody>
          <a:bodyPr vert="horz" wrap="square" lIns="101600" tIns="63500" rIns="101600" bIns="63500" rtlCol="0">
            <a:normAutofit/>
          </a:bodyPr>
          <a:lstStyle/>
          <a:p>
            <a:r>
              <a:rPr lang="en-US" dirty="0">
                <a:solidFill>
                  <a:srgbClr val="566982"/>
                </a:solidFill>
                <a:latin typeface="Aptos" panose="020B0004020202020204" pitchFamily="34" charset="0"/>
              </a:rPr>
              <a:t>- IBM MQ selected for durable enterprise messaging and MQ-specific assessment coverage</a:t>
            </a:r>
          </a:p>
          <a:p>
            <a:r>
              <a:rPr lang="en-US" dirty="0">
                <a:solidFill>
                  <a:srgbClr val="566982"/>
                </a:solidFill>
                <a:latin typeface="Aptos" panose="020B0004020202020204" pitchFamily="34" charset="0"/>
              </a:rPr>
              <a:t>- PostgreSQL selected for transactional reconciliation state</a:t>
            </a:r>
          </a:p>
          <a:p>
            <a:r>
              <a:rPr lang="en-US" dirty="0">
                <a:solidFill>
                  <a:srgbClr val="566982"/>
                </a:solidFill>
                <a:latin typeface="Aptos" panose="020B0004020202020204" pitchFamily="34" charset="0"/>
              </a:rPr>
              <a:t>- Three services selected for independent scaling and failure isolation</a:t>
            </a:r>
          </a:p>
          <a:p>
            <a:r>
              <a:rPr lang="en-US" dirty="0">
                <a:solidFill>
                  <a:srgbClr val="566982"/>
                </a:solidFill>
                <a:latin typeface="Aptos" panose="020B0004020202020204" pitchFamily="34" charset="0"/>
              </a:rPr>
              <a:t>- Raw Kubernetes manifests selected for transparent operational assessment</a:t>
            </a:r>
          </a:p>
          <a:p>
            <a:r>
              <a:rPr lang="en-US" dirty="0">
                <a:solidFill>
                  <a:srgbClr val="566982"/>
                </a:solidFill>
                <a:latin typeface="Aptos" panose="020B0004020202020204" pitchFamily="34" charset="0"/>
              </a:rPr>
              <a:t>- In-cluster Prometheus/Grafana selected for portable demo evidence</a:t>
            </a:r>
          </a:p>
        </p:txBody>
      </p:sp>
      <p:sp>
        <p:nvSpPr>
          <p:cNvPr id="16" name="Rectangle: Rounded Corners 15">
            <a:extLst>
              <a:ext uri="{FF2B5EF4-FFF2-40B4-BE49-F238E27FC236}">
                <a16:creationId xmlns:a16="http://schemas.microsoft.com/office/drawing/2014/main" id="{B3667D7C-99A0-F1A1-96B4-B4DC9A5A4DDE}"/>
              </a:ext>
            </a:extLst>
          </p:cNvPr>
          <p:cNvSpPr/>
          <p:nvPr/>
        </p:nvSpPr>
        <p:spPr>
          <a:xfrm>
            <a:off x="6477000" y="2006600"/>
            <a:ext cx="5143500" cy="4572000"/>
          </a:xfrm>
          <a:prstGeom prst="roundRect">
            <a:avLst/>
          </a:prstGeom>
          <a:solidFill>
            <a:srgbClr val="E1F8F4"/>
          </a:solidFill>
          <a:ln w="15875">
            <a:solidFill>
              <a:srgbClr val="D6E8F6"/>
            </a:solidFill>
          </a:ln>
          <a:effectLst>
            <a:outerShdw blurRad="63500" dist="28398" dir="3806086" rotWithShape="0">
              <a:srgbClr val="B9CCE0">
                <a:alpha val="22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01600" tIns="76200" rIns="101600" bIns="76200" rtlCol="0" anchor="ctr"/>
          <a:lstStyle/>
          <a:p>
            <a:pPr algn="ctr"/>
            <a:endParaRPr lang="en-US" b="1" dirty="0">
              <a:solidFill>
                <a:srgbClr val="18304E"/>
              </a:solidFill>
              <a:latin typeface="Aptos" panose="020B0004020202020204" pitchFamily="34" charset="0"/>
            </a:endParaRPr>
          </a:p>
        </p:txBody>
      </p:sp>
      <p:sp>
        <p:nvSpPr>
          <p:cNvPr id="17" name="TextBox 16">
            <a:extLst>
              <a:ext uri="{FF2B5EF4-FFF2-40B4-BE49-F238E27FC236}">
                <a16:creationId xmlns:a16="http://schemas.microsoft.com/office/drawing/2014/main" id="{686A3505-882B-A443-B216-97F5E9870B78}"/>
              </a:ext>
            </a:extLst>
          </p:cNvPr>
          <p:cNvSpPr txBox="1"/>
          <p:nvPr/>
        </p:nvSpPr>
        <p:spPr>
          <a:xfrm>
            <a:off x="6625621" y="2833638"/>
            <a:ext cx="4635500" cy="2308324"/>
          </a:xfrm>
          <a:prstGeom prst="rect">
            <a:avLst/>
          </a:prstGeom>
          <a:noFill/>
          <a:ln w="15875">
            <a:solidFill>
              <a:srgbClr val="D6E8F6"/>
            </a:solidFill>
          </a:ln>
          <a:effectLst>
            <a:outerShdw blurRad="63500" dist="28398" dir="3806086" rotWithShape="0">
              <a:srgbClr val="B9CCE0">
                <a:alpha val="22000"/>
              </a:srgbClr>
            </a:outerShdw>
          </a:effectLst>
        </p:spPr>
        <p:txBody>
          <a:bodyPr vert="horz" wrap="square" lIns="101600" tIns="63500" rIns="101600" bIns="63500" rtlCol="0">
            <a:normAutofit/>
          </a:bodyPr>
          <a:lstStyle/>
          <a:p>
            <a:r>
              <a:rPr lang="en-US" dirty="0">
                <a:solidFill>
                  <a:srgbClr val="566982"/>
                </a:solidFill>
                <a:latin typeface="Aptos" panose="020B0004020202020204" pitchFamily="34" charset="0"/>
              </a:rPr>
              <a:t>- Single MQ </a:t>
            </a:r>
            <a:r>
              <a:rPr lang="en-US" dirty="0" err="1">
                <a:solidFill>
                  <a:srgbClr val="566982"/>
                </a:solidFill>
                <a:latin typeface="Aptos" panose="020B0004020202020204" pitchFamily="34" charset="0"/>
              </a:rPr>
              <a:t>StatefulSet</a:t>
            </a:r>
            <a:r>
              <a:rPr lang="en-US" dirty="0">
                <a:solidFill>
                  <a:srgbClr val="566982"/>
                </a:solidFill>
                <a:latin typeface="Aptos" panose="020B0004020202020204" pitchFamily="34" charset="0"/>
              </a:rPr>
              <a:t> is cost-effective for assessment, but production HA should use replicated MQ pattern</a:t>
            </a:r>
          </a:p>
          <a:p>
            <a:r>
              <a:rPr lang="en-US" dirty="0">
                <a:solidFill>
                  <a:srgbClr val="566982"/>
                </a:solidFill>
                <a:latin typeface="Aptos" panose="020B0004020202020204" pitchFamily="34" charset="0"/>
              </a:rPr>
              <a:t>- Dashboard </a:t>
            </a:r>
            <a:r>
              <a:rPr lang="en-US" dirty="0" err="1">
                <a:solidFill>
                  <a:srgbClr val="566982"/>
                </a:solidFill>
                <a:latin typeface="Aptos" panose="020B0004020202020204" pitchFamily="34" charset="0"/>
              </a:rPr>
              <a:t>LoadBalancer</a:t>
            </a:r>
            <a:r>
              <a:rPr lang="en-US" dirty="0">
                <a:solidFill>
                  <a:srgbClr val="566982"/>
                </a:solidFill>
                <a:latin typeface="Aptos" panose="020B0004020202020204" pitchFamily="34" charset="0"/>
              </a:rPr>
              <a:t> is simple for demo, but production should use TLS, SSO and WAF</a:t>
            </a:r>
          </a:p>
          <a:p>
            <a:r>
              <a:rPr lang="en-US" dirty="0">
                <a:solidFill>
                  <a:srgbClr val="566982"/>
                </a:solidFill>
                <a:latin typeface="Aptos" panose="020B0004020202020204" pitchFamily="34" charset="0"/>
              </a:rPr>
              <a:t>- HPA on CPU is simple, but queue-depth based scaling would be stronger for production</a:t>
            </a:r>
          </a:p>
          <a:p>
            <a:r>
              <a:rPr lang="en-US" dirty="0">
                <a:solidFill>
                  <a:srgbClr val="566982"/>
                </a:solidFill>
                <a:latin typeface="Aptos" panose="020B0004020202020204" pitchFamily="34" charset="0"/>
              </a:rPr>
              <a:t>- RDS single instance is cost-conscious; production should use Multi-AZ</a:t>
            </a:r>
          </a:p>
          <a:p>
            <a:r>
              <a:rPr lang="en-US" dirty="0">
                <a:solidFill>
                  <a:srgbClr val="566982"/>
                </a:solidFill>
                <a:latin typeface="Aptos" panose="020B0004020202020204" pitchFamily="34" charset="0"/>
              </a:rPr>
              <a:t>- Raw YAML is explicit; Helm/Terraform improves repeatability at scale</a:t>
            </a:r>
          </a:p>
        </p:txBody>
      </p:sp>
      <p:sp>
        <p:nvSpPr>
          <p:cNvPr id="20" name="TextBox 19">
            <a:extLst>
              <a:ext uri="{FF2B5EF4-FFF2-40B4-BE49-F238E27FC236}">
                <a16:creationId xmlns:a16="http://schemas.microsoft.com/office/drawing/2014/main" id="{517606BD-F839-1D36-F29D-7E65661B0A2E}"/>
              </a:ext>
            </a:extLst>
          </p:cNvPr>
          <p:cNvSpPr txBox="1"/>
          <p:nvPr/>
        </p:nvSpPr>
        <p:spPr>
          <a:xfrm>
            <a:off x="1570973" y="2167076"/>
            <a:ext cx="2720465" cy="374461"/>
          </a:xfrm>
          <a:prstGeom prst="rect">
            <a:avLst/>
          </a:prstGeom>
          <a:noFill/>
          <a:ln w="15875">
            <a:solidFill>
              <a:srgbClr val="D6E8F6"/>
            </a:solidFill>
          </a:ln>
          <a:effectLst>
            <a:outerShdw blurRad="63500" dist="28398" dir="3806086" rotWithShape="0">
              <a:srgbClr val="B9CCE0">
                <a:alpha val="22000"/>
              </a:srgbClr>
            </a:outerShdw>
          </a:effectLst>
        </p:spPr>
        <p:txBody>
          <a:bodyPr wrap="square" lIns="101600" tIns="63500" rIns="101600" bIns="63500" rtlCol="0">
            <a:normAutofit/>
          </a:bodyPr>
          <a:lstStyle/>
          <a:p>
            <a:pPr algn="ctr"/>
            <a:r>
              <a:rPr lang="en-US" sz="1600" b="1" dirty="0">
                <a:solidFill>
                  <a:srgbClr val="566982"/>
                </a:solidFill>
                <a:latin typeface="Aptos" panose="020B0004020202020204" pitchFamily="34" charset="0"/>
              </a:rPr>
              <a:t>Decisions</a:t>
            </a:r>
          </a:p>
        </p:txBody>
      </p:sp>
      <p:sp>
        <p:nvSpPr>
          <p:cNvPr id="21" name="TextBox 20">
            <a:extLst>
              <a:ext uri="{FF2B5EF4-FFF2-40B4-BE49-F238E27FC236}">
                <a16:creationId xmlns:a16="http://schemas.microsoft.com/office/drawing/2014/main" id="{03129F70-D744-C249-E4EA-F3654AA30BC6}"/>
              </a:ext>
            </a:extLst>
          </p:cNvPr>
          <p:cNvSpPr txBox="1"/>
          <p:nvPr/>
        </p:nvSpPr>
        <p:spPr>
          <a:xfrm>
            <a:off x="7493964" y="2167077"/>
            <a:ext cx="2720465" cy="374461"/>
          </a:xfrm>
          <a:prstGeom prst="rect">
            <a:avLst/>
          </a:prstGeom>
          <a:noFill/>
          <a:ln w="15875">
            <a:solidFill>
              <a:srgbClr val="D6E8F6"/>
            </a:solidFill>
          </a:ln>
          <a:effectLst>
            <a:outerShdw blurRad="63500" dist="28398" dir="3806086" rotWithShape="0">
              <a:srgbClr val="B9CCE0">
                <a:alpha val="22000"/>
              </a:srgbClr>
            </a:outerShdw>
          </a:effectLst>
        </p:spPr>
        <p:txBody>
          <a:bodyPr wrap="square" lIns="101600" tIns="63500" rIns="101600" bIns="63500" rtlCol="0">
            <a:normAutofit/>
          </a:bodyPr>
          <a:lstStyle/>
          <a:p>
            <a:pPr algn="ctr"/>
            <a:r>
              <a:rPr lang="en-US" sz="1600" b="1" dirty="0">
                <a:solidFill>
                  <a:srgbClr val="566982"/>
                </a:solidFill>
                <a:latin typeface="Aptos" panose="020B0004020202020204" pitchFamily="34" charset="0"/>
              </a:rPr>
              <a:t>Trade-offs</a:t>
            </a:r>
          </a:p>
        </p:txBody>
      </p:sp>
      <p:sp>
        <p:nvSpPr>
          <p:cNvPr id="25" name="codex_template_top_accent">
            <a:extLst>
              <a:ext uri="{FF2B5EF4-FFF2-40B4-BE49-F238E27FC236}">
                <a16:creationId xmlns:a16="http://schemas.microsoft.com/office/drawing/2014/main" id="{FAFFFB45-8BBB-0CFD-2B4A-2675F6F848CB}"/>
              </a:ext>
            </a:extLst>
          </p:cNvPr>
          <p:cNvSpPr/>
          <p:nvPr/>
        </p:nvSpPr>
        <p:spPr>
          <a:xfrm>
            <a:off x="0" y="0"/>
            <a:ext cx="12192000" cy="88900"/>
          </a:xfrm>
          <a:prstGeom prst="rect">
            <a:avLst/>
          </a:prstGeom>
          <a:solidFill>
            <a:srgbClr val="00A9E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codex_template_footer">
            <a:extLst>
              <a:ext uri="{FF2B5EF4-FFF2-40B4-BE49-F238E27FC236}">
                <a16:creationId xmlns:a16="http://schemas.microsoft.com/office/drawing/2014/main" id="{CF0CE4CB-7A31-6C50-4E4D-8FFB625F56A6}"/>
              </a:ext>
            </a:extLst>
          </p:cNvPr>
          <p:cNvSpPr txBox="1"/>
          <p:nvPr/>
        </p:nvSpPr>
        <p:spPr>
          <a:xfrm>
            <a:off x="355600" y="6553200"/>
            <a:ext cx="10668000" cy="215444"/>
          </a:xfrm>
          <a:prstGeom prst="rect">
            <a:avLst/>
          </a:prstGeom>
          <a:noFill/>
        </p:spPr>
        <p:txBody>
          <a:bodyPr vert="horz" rtlCol="0">
            <a:spAutoFit/>
          </a:bodyPr>
          <a:lstStyle/>
          <a:p>
            <a:r>
              <a:rPr lang="en-US" sz="800">
                <a:solidFill>
                  <a:srgbClr val="566982"/>
                </a:solidFill>
                <a:latin typeface="Aptos" panose="020B0004020202020204" pitchFamily="34" charset="0"/>
              </a:rPr>
              <a:t>Enterprise Reconciliation Platform | Principal Engineer / Architect Assessment</a:t>
            </a:r>
          </a:p>
        </p:txBody>
      </p:sp>
      <p:sp>
        <p:nvSpPr>
          <p:cNvPr id="28" name="codex_template_slide_number">
            <a:extLst>
              <a:ext uri="{FF2B5EF4-FFF2-40B4-BE49-F238E27FC236}">
                <a16:creationId xmlns:a16="http://schemas.microsoft.com/office/drawing/2014/main" id="{597E4F34-C3C0-78D1-B679-FCDFA9CBF298}"/>
              </a:ext>
            </a:extLst>
          </p:cNvPr>
          <p:cNvSpPr txBox="1"/>
          <p:nvPr/>
        </p:nvSpPr>
        <p:spPr>
          <a:xfrm>
            <a:off x="11557000" y="6553200"/>
            <a:ext cx="355600" cy="215444"/>
          </a:xfrm>
          <a:prstGeom prst="rect">
            <a:avLst/>
          </a:prstGeom>
          <a:noFill/>
        </p:spPr>
        <p:txBody>
          <a:bodyPr vert="horz" rtlCol="0">
            <a:spAutoFit/>
          </a:bodyPr>
          <a:lstStyle/>
          <a:p>
            <a:r>
              <a:rPr lang="en-US" sz="800">
                <a:solidFill>
                  <a:srgbClr val="566982"/>
                </a:solidFill>
                <a:latin typeface="Aptos" panose="020B0004020202020204" pitchFamily="34" charset="0"/>
              </a:rPr>
              <a:t>18</a:t>
            </a:r>
          </a:p>
        </p:txBody>
      </p:sp>
      <p:cxnSp>
        <p:nvCxnSpPr>
          <p:cNvPr id="29" name="codex_template_title_rule">
            <a:extLst>
              <a:ext uri="{FF2B5EF4-FFF2-40B4-BE49-F238E27FC236}">
                <a16:creationId xmlns:a16="http://schemas.microsoft.com/office/drawing/2014/main" id="{A332A264-2547-7026-ABCF-C09F202A50E7}"/>
              </a:ext>
            </a:extLst>
          </p:cNvPr>
          <p:cNvCxnSpPr/>
          <p:nvPr/>
        </p:nvCxnSpPr>
        <p:spPr>
          <a:xfrm>
            <a:off x="847121" y="1230362"/>
            <a:ext cx="4648200" cy="0"/>
          </a:xfrm>
          <a:prstGeom prst="line">
            <a:avLst/>
          </a:prstGeom>
          <a:ln w="27940">
            <a:solidFill>
              <a:srgbClr val="00A9E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93478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codex_template_right_wash">
            <a:extLst>
              <a:ext uri="{FF2B5EF4-FFF2-40B4-BE49-F238E27FC236}">
                <a16:creationId xmlns:a16="http://schemas.microsoft.com/office/drawing/2014/main" id="{7422CBA9-EAF4-F755-01DF-11A2FF068E4F}"/>
              </a:ext>
            </a:extLst>
          </p:cNvPr>
          <p:cNvSpPr/>
          <p:nvPr/>
        </p:nvSpPr>
        <p:spPr>
          <a:xfrm>
            <a:off x="9509760" y="0"/>
            <a:ext cx="2682240" cy="6858000"/>
          </a:xfrm>
          <a:prstGeom prst="rect">
            <a:avLst/>
          </a:prstGeom>
          <a:solidFill>
            <a:srgbClr val="E7F6FF">
              <a:alpha val="92000"/>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codex_template_header_band">
            <a:extLst>
              <a:ext uri="{FF2B5EF4-FFF2-40B4-BE49-F238E27FC236}">
                <a16:creationId xmlns:a16="http://schemas.microsoft.com/office/drawing/2014/main" id="{D03D8773-5768-C852-9AE6-B85530DE80E0}"/>
              </a:ext>
            </a:extLst>
          </p:cNvPr>
          <p:cNvSpPr/>
          <p:nvPr/>
        </p:nvSpPr>
        <p:spPr>
          <a:xfrm>
            <a:off x="0" y="0"/>
            <a:ext cx="12192000" cy="812800"/>
          </a:xfrm>
          <a:prstGeom prst="rect">
            <a:avLst/>
          </a:prstGeom>
          <a:solidFill>
            <a:srgbClr val="ECF7FF">
              <a:alpha val="95000"/>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codex_template_background">
            <a:extLst>
              <a:ext uri="{FF2B5EF4-FFF2-40B4-BE49-F238E27FC236}">
                <a16:creationId xmlns:a16="http://schemas.microsoft.com/office/drawing/2014/main" id="{F3FB62CE-0EE1-47CB-54FC-42997F20B053}"/>
              </a:ext>
            </a:extLst>
          </p:cNvPr>
          <p:cNvSpPr/>
          <p:nvPr/>
        </p:nvSpPr>
        <p:spPr>
          <a:xfrm>
            <a:off x="0" y="0"/>
            <a:ext cx="12192000" cy="6858000"/>
          </a:xfrm>
          <a:prstGeom prst="rect">
            <a:avLst/>
          </a:prstGeom>
          <a:solidFill>
            <a:srgbClr val="F8FBF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B834A22-70E0-66E0-2048-AF6A29F2FA35}"/>
              </a:ext>
            </a:extLst>
          </p:cNvPr>
          <p:cNvSpPr txBox="1"/>
          <p:nvPr/>
        </p:nvSpPr>
        <p:spPr>
          <a:xfrm>
            <a:off x="812800" y="572339"/>
            <a:ext cx="10414000" cy="533400"/>
          </a:xfrm>
          <a:prstGeom prst="rect">
            <a:avLst/>
          </a:prstGeom>
          <a:solidFill>
            <a:scrgbClr r="0" g="0" b="0">
              <a:alpha val="0"/>
            </a:scrgbClr>
          </a:solidFill>
          <a:ln w="15875">
            <a:noFill/>
          </a:ln>
          <a:effectLst/>
        </p:spPr>
        <p:txBody>
          <a:bodyPr vert="horz" wrap="square" lIns="0" tIns="0" rIns="0" bIns="0" rtlCol="0">
            <a:noAutofit/>
          </a:bodyPr>
          <a:lstStyle/>
          <a:p>
            <a:r>
              <a:rPr lang="en-US" sz="2800" b="1" dirty="0">
                <a:solidFill>
                  <a:srgbClr val="142D4E"/>
                </a:solidFill>
                <a:latin typeface="Aptos Display" panose="020B0004020202020204" pitchFamily="34" charset="0"/>
              </a:rPr>
              <a:t>HA/DR, Capacity and Cost Strategy</a:t>
            </a:r>
          </a:p>
        </p:txBody>
      </p:sp>
      <p:sp>
        <p:nvSpPr>
          <p:cNvPr id="14" name="Rectangle: Rounded Corners 13">
            <a:extLst>
              <a:ext uri="{FF2B5EF4-FFF2-40B4-BE49-F238E27FC236}">
                <a16:creationId xmlns:a16="http://schemas.microsoft.com/office/drawing/2014/main" id="{D01DFEC5-4B39-0A6B-8F86-4646F811649A}"/>
              </a:ext>
            </a:extLst>
          </p:cNvPr>
          <p:cNvSpPr/>
          <p:nvPr/>
        </p:nvSpPr>
        <p:spPr>
          <a:xfrm>
            <a:off x="571500" y="2006600"/>
            <a:ext cx="5143500" cy="4572000"/>
          </a:xfrm>
          <a:prstGeom prst="roundRect">
            <a:avLst/>
          </a:prstGeom>
          <a:solidFill>
            <a:srgbClr val="E2F1FF"/>
          </a:solidFill>
          <a:ln w="15875">
            <a:solidFill>
              <a:srgbClr val="D6E8F6"/>
            </a:solidFill>
          </a:ln>
          <a:effectLst>
            <a:outerShdw blurRad="63500" dist="28398" dir="3806086" rotWithShape="0">
              <a:srgbClr val="B9CCE0">
                <a:alpha val="22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01600" tIns="76200" rIns="101600" bIns="76200" rtlCol="0" anchor="ctr"/>
          <a:lstStyle/>
          <a:p>
            <a:pPr algn="ctr"/>
            <a:endParaRPr lang="en-US" b="1" dirty="0">
              <a:solidFill>
                <a:srgbClr val="18304E"/>
              </a:solidFill>
              <a:latin typeface="Aptos" panose="020B0004020202020204" pitchFamily="34" charset="0"/>
            </a:endParaRPr>
          </a:p>
        </p:txBody>
      </p:sp>
      <p:sp>
        <p:nvSpPr>
          <p:cNvPr id="15" name="TextBox 14">
            <a:extLst>
              <a:ext uri="{FF2B5EF4-FFF2-40B4-BE49-F238E27FC236}">
                <a16:creationId xmlns:a16="http://schemas.microsoft.com/office/drawing/2014/main" id="{E84E54EF-3D77-C90B-B485-29F75110C0E6}"/>
              </a:ext>
            </a:extLst>
          </p:cNvPr>
          <p:cNvSpPr txBox="1"/>
          <p:nvPr/>
        </p:nvSpPr>
        <p:spPr>
          <a:xfrm>
            <a:off x="825500" y="2683157"/>
            <a:ext cx="4635500" cy="1661993"/>
          </a:xfrm>
          <a:prstGeom prst="rect">
            <a:avLst/>
          </a:prstGeom>
          <a:noFill/>
          <a:ln w="15875">
            <a:solidFill>
              <a:srgbClr val="D6E8F6"/>
            </a:solidFill>
          </a:ln>
          <a:effectLst>
            <a:outerShdw blurRad="63500" dist="28398" dir="3806086" rotWithShape="0">
              <a:srgbClr val="B9CCE0">
                <a:alpha val="22000"/>
              </a:srgbClr>
            </a:outerShdw>
          </a:effectLst>
        </p:spPr>
        <p:txBody>
          <a:bodyPr vert="horz" wrap="square" lIns="101600" tIns="63500" rIns="101600" bIns="63500" rtlCol="0">
            <a:normAutofit/>
          </a:bodyPr>
          <a:lstStyle/>
          <a:p>
            <a:r>
              <a:rPr lang="en-US" dirty="0">
                <a:solidFill>
                  <a:srgbClr val="566982"/>
                </a:solidFill>
                <a:latin typeface="Aptos" panose="020B0004020202020204" pitchFamily="34" charset="0"/>
              </a:rPr>
              <a:t>- Run EKS worker nodes across multiple availability zones</a:t>
            </a:r>
          </a:p>
          <a:p>
            <a:r>
              <a:rPr lang="en-US" dirty="0">
                <a:solidFill>
                  <a:srgbClr val="566982"/>
                </a:solidFill>
                <a:latin typeface="Aptos" panose="020B0004020202020204" pitchFamily="34" charset="0"/>
              </a:rPr>
              <a:t>- Use RDS Multi-AZ and automated backups/PITR</a:t>
            </a:r>
          </a:p>
          <a:p>
            <a:r>
              <a:rPr lang="en-US" dirty="0">
                <a:solidFill>
                  <a:srgbClr val="566982"/>
                </a:solidFill>
                <a:latin typeface="Aptos" panose="020B0004020202020204" pitchFamily="34" charset="0"/>
              </a:rPr>
              <a:t>- Adopt replicated IBM MQ / native HA queue manager pattern</a:t>
            </a:r>
          </a:p>
          <a:p>
            <a:r>
              <a:rPr lang="en-US" dirty="0">
                <a:solidFill>
                  <a:srgbClr val="566982"/>
                </a:solidFill>
                <a:latin typeface="Aptos" panose="020B0004020202020204" pitchFamily="34" charset="0"/>
              </a:rPr>
              <a:t>- Version all container images in ECR</a:t>
            </a:r>
          </a:p>
          <a:p>
            <a:r>
              <a:rPr lang="en-US" dirty="0">
                <a:solidFill>
                  <a:srgbClr val="566982"/>
                </a:solidFill>
                <a:latin typeface="Aptos" panose="020B0004020202020204" pitchFamily="34" charset="0"/>
              </a:rPr>
              <a:t>- Recreate infrastructure from manifests and future Terraform</a:t>
            </a:r>
          </a:p>
        </p:txBody>
      </p:sp>
      <p:sp>
        <p:nvSpPr>
          <p:cNvPr id="16" name="Rectangle: Rounded Corners 15">
            <a:extLst>
              <a:ext uri="{FF2B5EF4-FFF2-40B4-BE49-F238E27FC236}">
                <a16:creationId xmlns:a16="http://schemas.microsoft.com/office/drawing/2014/main" id="{C1A2D38B-118D-2CBF-4AE5-9E159ADE4896}"/>
              </a:ext>
            </a:extLst>
          </p:cNvPr>
          <p:cNvSpPr/>
          <p:nvPr/>
        </p:nvSpPr>
        <p:spPr>
          <a:xfrm>
            <a:off x="6477000" y="2006600"/>
            <a:ext cx="5143500" cy="4572000"/>
          </a:xfrm>
          <a:prstGeom prst="roundRect">
            <a:avLst/>
          </a:prstGeom>
          <a:solidFill>
            <a:srgbClr val="E1F8F4"/>
          </a:solidFill>
          <a:ln w="15875">
            <a:solidFill>
              <a:srgbClr val="D6E8F6"/>
            </a:solidFill>
          </a:ln>
          <a:effectLst>
            <a:outerShdw blurRad="63500" dist="28398" dir="3806086" rotWithShape="0">
              <a:srgbClr val="B9CCE0">
                <a:alpha val="22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lIns="101600" tIns="76200" rIns="101600" bIns="76200" rtlCol="0" anchor="ctr"/>
          <a:lstStyle/>
          <a:p>
            <a:pPr algn="ctr"/>
            <a:endParaRPr lang="en-US" b="1" dirty="0">
              <a:solidFill>
                <a:srgbClr val="18304E"/>
              </a:solidFill>
              <a:latin typeface="Aptos" panose="020B0004020202020204" pitchFamily="34" charset="0"/>
            </a:endParaRPr>
          </a:p>
        </p:txBody>
      </p:sp>
      <p:sp>
        <p:nvSpPr>
          <p:cNvPr id="17" name="TextBox 16">
            <a:extLst>
              <a:ext uri="{FF2B5EF4-FFF2-40B4-BE49-F238E27FC236}">
                <a16:creationId xmlns:a16="http://schemas.microsoft.com/office/drawing/2014/main" id="{00EFF7B3-226E-FFEC-CC23-FD8B353EABB7}"/>
              </a:ext>
            </a:extLst>
          </p:cNvPr>
          <p:cNvSpPr txBox="1"/>
          <p:nvPr/>
        </p:nvSpPr>
        <p:spPr>
          <a:xfrm>
            <a:off x="7016750" y="2556085"/>
            <a:ext cx="4635500" cy="1661993"/>
          </a:xfrm>
          <a:prstGeom prst="rect">
            <a:avLst/>
          </a:prstGeom>
          <a:noFill/>
          <a:ln w="15875">
            <a:solidFill>
              <a:srgbClr val="D6E8F6"/>
            </a:solidFill>
          </a:ln>
          <a:effectLst>
            <a:outerShdw blurRad="63500" dist="28398" dir="3806086" rotWithShape="0">
              <a:srgbClr val="B9CCE0">
                <a:alpha val="22000"/>
              </a:srgbClr>
            </a:outerShdw>
          </a:effectLst>
        </p:spPr>
        <p:txBody>
          <a:bodyPr vert="horz" wrap="square" lIns="101600" tIns="63500" rIns="101600" bIns="63500" rtlCol="0">
            <a:normAutofit/>
          </a:bodyPr>
          <a:lstStyle/>
          <a:p>
            <a:r>
              <a:rPr lang="en-US" dirty="0">
                <a:solidFill>
                  <a:srgbClr val="566982"/>
                </a:solidFill>
                <a:latin typeface="Aptos" panose="020B0004020202020204" pitchFamily="34" charset="0"/>
              </a:rPr>
              <a:t>- Keep consumer capacity greater than producer TPS</a:t>
            </a:r>
          </a:p>
          <a:p>
            <a:r>
              <a:rPr lang="en-US" dirty="0">
                <a:solidFill>
                  <a:srgbClr val="566982"/>
                </a:solidFill>
                <a:latin typeface="Aptos" panose="020B0004020202020204" pitchFamily="34" charset="0"/>
              </a:rPr>
              <a:t>- Monitor RECON.IN queue depth slope and p95 DB latency</a:t>
            </a:r>
          </a:p>
          <a:p>
            <a:r>
              <a:rPr lang="en-US" dirty="0">
                <a:solidFill>
                  <a:srgbClr val="566982"/>
                </a:solidFill>
                <a:latin typeface="Aptos" panose="020B0004020202020204" pitchFamily="34" charset="0"/>
              </a:rPr>
              <a:t>- Tune JMS concurrency, DB pool and RDS instance class</a:t>
            </a:r>
          </a:p>
          <a:p>
            <a:r>
              <a:rPr lang="en-US" dirty="0">
                <a:solidFill>
                  <a:srgbClr val="566982"/>
                </a:solidFill>
                <a:latin typeface="Aptos" panose="020B0004020202020204" pitchFamily="34" charset="0"/>
              </a:rPr>
              <a:t>- Scale workloads to zero when idle for assessment cost control</a:t>
            </a:r>
          </a:p>
          <a:p>
            <a:r>
              <a:rPr lang="en-US" dirty="0">
                <a:solidFill>
                  <a:srgbClr val="566982"/>
                </a:solidFill>
                <a:latin typeface="Aptos" panose="020B0004020202020204" pitchFamily="34" charset="0"/>
              </a:rPr>
              <a:t>- Right-size EKS node groups after observing real metrics</a:t>
            </a:r>
          </a:p>
        </p:txBody>
      </p:sp>
      <p:sp>
        <p:nvSpPr>
          <p:cNvPr id="20" name="TextBox 19">
            <a:extLst>
              <a:ext uri="{FF2B5EF4-FFF2-40B4-BE49-F238E27FC236}">
                <a16:creationId xmlns:a16="http://schemas.microsoft.com/office/drawing/2014/main" id="{003BA310-97DA-C709-0545-1D690229925D}"/>
              </a:ext>
            </a:extLst>
          </p:cNvPr>
          <p:cNvSpPr txBox="1"/>
          <p:nvPr/>
        </p:nvSpPr>
        <p:spPr>
          <a:xfrm>
            <a:off x="7688517" y="2006600"/>
            <a:ext cx="3196734" cy="620683"/>
          </a:xfrm>
          <a:prstGeom prst="rect">
            <a:avLst/>
          </a:prstGeom>
          <a:noFill/>
          <a:ln w="15875">
            <a:solidFill>
              <a:srgbClr val="D6E8F6"/>
            </a:solidFill>
          </a:ln>
          <a:effectLst>
            <a:outerShdw blurRad="63500" dist="28398" dir="3806086" rotWithShape="0">
              <a:srgbClr val="B9CCE0">
                <a:alpha val="22000"/>
              </a:srgbClr>
            </a:outerShdw>
          </a:effectLst>
        </p:spPr>
        <p:txBody>
          <a:bodyPr wrap="square" lIns="101600" tIns="63500" rIns="101600" bIns="63500" rtlCol="0">
            <a:normAutofit/>
          </a:bodyPr>
          <a:lstStyle/>
          <a:p>
            <a:pPr algn="ctr"/>
            <a:r>
              <a:rPr lang="en-US" sz="1600" b="1" dirty="0">
                <a:solidFill>
                  <a:srgbClr val="566982"/>
                </a:solidFill>
                <a:latin typeface="Aptos" panose="020B0004020202020204" pitchFamily="34" charset="0"/>
              </a:rPr>
              <a:t>Capacity and cost management</a:t>
            </a:r>
          </a:p>
          <a:p>
            <a:pPr algn="ctr"/>
            <a:endParaRPr lang="en-US" sz="1600" b="1" dirty="0">
              <a:solidFill>
                <a:srgbClr val="566982"/>
              </a:solidFill>
              <a:latin typeface="Aptos" panose="020B0004020202020204" pitchFamily="34" charset="0"/>
            </a:endParaRPr>
          </a:p>
        </p:txBody>
      </p:sp>
      <p:sp>
        <p:nvSpPr>
          <p:cNvPr id="21" name="TextBox 20">
            <a:extLst>
              <a:ext uri="{FF2B5EF4-FFF2-40B4-BE49-F238E27FC236}">
                <a16:creationId xmlns:a16="http://schemas.microsoft.com/office/drawing/2014/main" id="{64486B62-CE66-9C5A-2B8E-D130D550319B}"/>
              </a:ext>
            </a:extLst>
          </p:cNvPr>
          <p:cNvSpPr txBox="1"/>
          <p:nvPr/>
        </p:nvSpPr>
        <p:spPr>
          <a:xfrm>
            <a:off x="1430083" y="2006600"/>
            <a:ext cx="3005730" cy="620683"/>
          </a:xfrm>
          <a:prstGeom prst="rect">
            <a:avLst/>
          </a:prstGeom>
          <a:noFill/>
          <a:ln w="15875">
            <a:solidFill>
              <a:srgbClr val="D6E8F6"/>
            </a:solidFill>
          </a:ln>
          <a:effectLst>
            <a:outerShdw blurRad="63500" dist="28398" dir="3806086" rotWithShape="0">
              <a:srgbClr val="B9CCE0">
                <a:alpha val="22000"/>
              </a:srgbClr>
            </a:outerShdw>
          </a:effectLst>
        </p:spPr>
        <p:txBody>
          <a:bodyPr wrap="square" lIns="101600" tIns="63500" rIns="101600" bIns="63500" rtlCol="0">
            <a:normAutofit/>
          </a:bodyPr>
          <a:lstStyle/>
          <a:p>
            <a:pPr algn="ctr"/>
            <a:r>
              <a:rPr lang="en-US" sz="1600" b="1" dirty="0">
                <a:solidFill>
                  <a:srgbClr val="566982"/>
                </a:solidFill>
                <a:latin typeface="Aptos" panose="020B0004020202020204" pitchFamily="34" charset="0"/>
              </a:rPr>
              <a:t>Production HA/DR path</a:t>
            </a:r>
          </a:p>
          <a:p>
            <a:pPr algn="ctr"/>
            <a:endParaRPr lang="en-US" sz="1600" b="1" dirty="0">
              <a:solidFill>
                <a:srgbClr val="566982"/>
              </a:solidFill>
              <a:latin typeface="Aptos" panose="020B0004020202020204" pitchFamily="34" charset="0"/>
            </a:endParaRPr>
          </a:p>
        </p:txBody>
      </p:sp>
      <p:sp>
        <p:nvSpPr>
          <p:cNvPr id="25" name="codex_template_top_accent">
            <a:extLst>
              <a:ext uri="{FF2B5EF4-FFF2-40B4-BE49-F238E27FC236}">
                <a16:creationId xmlns:a16="http://schemas.microsoft.com/office/drawing/2014/main" id="{25EB4F5F-77E0-712B-AED2-204E5DC110A5}"/>
              </a:ext>
            </a:extLst>
          </p:cNvPr>
          <p:cNvSpPr/>
          <p:nvPr/>
        </p:nvSpPr>
        <p:spPr>
          <a:xfrm>
            <a:off x="0" y="0"/>
            <a:ext cx="12192000" cy="88900"/>
          </a:xfrm>
          <a:prstGeom prst="rect">
            <a:avLst/>
          </a:prstGeom>
          <a:solidFill>
            <a:srgbClr val="00A9E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codex_template_footer">
            <a:extLst>
              <a:ext uri="{FF2B5EF4-FFF2-40B4-BE49-F238E27FC236}">
                <a16:creationId xmlns:a16="http://schemas.microsoft.com/office/drawing/2014/main" id="{79CAF20B-171C-0DE6-0102-98FFDBC5FE27}"/>
              </a:ext>
            </a:extLst>
          </p:cNvPr>
          <p:cNvSpPr txBox="1"/>
          <p:nvPr/>
        </p:nvSpPr>
        <p:spPr>
          <a:xfrm>
            <a:off x="355600" y="6553200"/>
            <a:ext cx="10668000" cy="215444"/>
          </a:xfrm>
          <a:prstGeom prst="rect">
            <a:avLst/>
          </a:prstGeom>
          <a:noFill/>
        </p:spPr>
        <p:txBody>
          <a:bodyPr vert="horz" rtlCol="0">
            <a:spAutoFit/>
          </a:bodyPr>
          <a:lstStyle/>
          <a:p>
            <a:r>
              <a:rPr lang="en-US" sz="800">
                <a:solidFill>
                  <a:srgbClr val="566982"/>
                </a:solidFill>
                <a:latin typeface="Aptos" panose="020B0004020202020204" pitchFamily="34" charset="0"/>
              </a:rPr>
              <a:t>Enterprise Reconciliation Platform | Principal Engineer / Architect Assessment</a:t>
            </a:r>
          </a:p>
        </p:txBody>
      </p:sp>
      <p:sp>
        <p:nvSpPr>
          <p:cNvPr id="28" name="codex_template_slide_number">
            <a:extLst>
              <a:ext uri="{FF2B5EF4-FFF2-40B4-BE49-F238E27FC236}">
                <a16:creationId xmlns:a16="http://schemas.microsoft.com/office/drawing/2014/main" id="{987CE57B-BEAF-27DD-3BB5-0C25D98BDE47}"/>
              </a:ext>
            </a:extLst>
          </p:cNvPr>
          <p:cNvSpPr txBox="1"/>
          <p:nvPr/>
        </p:nvSpPr>
        <p:spPr>
          <a:xfrm>
            <a:off x="11557000" y="6553200"/>
            <a:ext cx="355600" cy="215444"/>
          </a:xfrm>
          <a:prstGeom prst="rect">
            <a:avLst/>
          </a:prstGeom>
          <a:noFill/>
        </p:spPr>
        <p:txBody>
          <a:bodyPr vert="horz" rtlCol="0">
            <a:spAutoFit/>
          </a:bodyPr>
          <a:lstStyle/>
          <a:p>
            <a:r>
              <a:rPr lang="en-US" sz="800">
                <a:solidFill>
                  <a:srgbClr val="566982"/>
                </a:solidFill>
                <a:latin typeface="Aptos" panose="020B0004020202020204" pitchFamily="34" charset="0"/>
              </a:rPr>
              <a:t>19</a:t>
            </a:r>
          </a:p>
        </p:txBody>
      </p:sp>
      <p:cxnSp>
        <p:nvCxnSpPr>
          <p:cNvPr id="29" name="codex_template_title_rule">
            <a:extLst>
              <a:ext uri="{FF2B5EF4-FFF2-40B4-BE49-F238E27FC236}">
                <a16:creationId xmlns:a16="http://schemas.microsoft.com/office/drawing/2014/main" id="{C05FBD7A-CCE1-5632-E340-B0FDAEF4C7A3}"/>
              </a:ext>
            </a:extLst>
          </p:cNvPr>
          <p:cNvCxnSpPr/>
          <p:nvPr/>
        </p:nvCxnSpPr>
        <p:spPr>
          <a:xfrm>
            <a:off x="812800" y="1232739"/>
            <a:ext cx="4648200" cy="0"/>
          </a:xfrm>
          <a:prstGeom prst="line">
            <a:avLst/>
          </a:prstGeom>
          <a:ln w="27940">
            <a:solidFill>
              <a:srgbClr val="00A9E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84357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codex_template_header_band">
            <a:extLst>
              <a:ext uri="{FF2B5EF4-FFF2-40B4-BE49-F238E27FC236}">
                <a16:creationId xmlns:a16="http://schemas.microsoft.com/office/drawing/2014/main" id="{E14A5CDD-AF04-A249-86BA-AD2851DB087B}"/>
              </a:ext>
            </a:extLst>
          </p:cNvPr>
          <p:cNvSpPr/>
          <p:nvPr/>
        </p:nvSpPr>
        <p:spPr>
          <a:xfrm>
            <a:off x="0" y="-313562"/>
            <a:ext cx="12192000" cy="1439925"/>
          </a:xfrm>
          <a:prstGeom prst="rect">
            <a:avLst/>
          </a:prstGeom>
          <a:solidFill>
            <a:srgbClr val="ECF7FF">
              <a:alpha val="95000"/>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B62CD319-3397-4AF5-0733-9B3BABFDCF53}"/>
              </a:ext>
            </a:extLst>
          </p:cNvPr>
          <p:cNvSpPr txBox="1"/>
          <p:nvPr/>
        </p:nvSpPr>
        <p:spPr>
          <a:xfrm>
            <a:off x="508000" y="145160"/>
            <a:ext cx="4445000" cy="499809"/>
          </a:xfrm>
          <a:prstGeom prst="rect">
            <a:avLst/>
          </a:prstGeom>
          <a:noFill/>
          <a:ln w="15875">
            <a:solidFill>
              <a:srgbClr val="D6E8F6"/>
            </a:solidFill>
          </a:ln>
          <a:effectLst>
            <a:outerShdw blurRad="63500" dist="28398" dir="3806086" rotWithShape="0">
              <a:srgbClr val="B9CCE0">
                <a:alpha val="22000"/>
              </a:srgbClr>
            </a:outerShdw>
          </a:effectLst>
        </p:spPr>
        <p:txBody>
          <a:bodyPr vert="horz" wrap="square" lIns="101600" tIns="63500" rIns="101600" bIns="63500" rtlCol="0">
            <a:normAutofit/>
          </a:bodyPr>
          <a:lstStyle/>
          <a:p>
            <a:r>
              <a:rPr lang="en-US" sz="1000" b="1">
                <a:solidFill>
                  <a:srgbClr val="566982"/>
                </a:solidFill>
                <a:latin typeface="Aptos" panose="020B0004020202020204" pitchFamily="34" charset="0"/>
              </a:rPr>
              <a:t>OVERVIEW</a:t>
            </a:r>
          </a:p>
        </p:txBody>
      </p:sp>
      <p:sp>
        <p:nvSpPr>
          <p:cNvPr id="11" name="TextBox 10">
            <a:extLst>
              <a:ext uri="{FF2B5EF4-FFF2-40B4-BE49-F238E27FC236}">
                <a16:creationId xmlns:a16="http://schemas.microsoft.com/office/drawing/2014/main" id="{332E9F3A-D0AD-462A-0333-F9E14CCFA10A}"/>
              </a:ext>
            </a:extLst>
          </p:cNvPr>
          <p:cNvSpPr txBox="1"/>
          <p:nvPr/>
        </p:nvSpPr>
        <p:spPr>
          <a:xfrm>
            <a:off x="812800" y="683225"/>
            <a:ext cx="10414000" cy="944951"/>
          </a:xfrm>
          <a:prstGeom prst="rect">
            <a:avLst/>
          </a:prstGeom>
          <a:solidFill>
            <a:scrgbClr r="0" g="0" b="0">
              <a:alpha val="0"/>
            </a:scrgbClr>
          </a:solidFill>
          <a:ln w="15875">
            <a:noFill/>
          </a:ln>
          <a:effectLst/>
        </p:spPr>
        <p:txBody>
          <a:bodyPr vert="horz" wrap="square" lIns="0" tIns="0" rIns="0" bIns="0" rtlCol="0">
            <a:noAutofit/>
          </a:bodyPr>
          <a:lstStyle/>
          <a:p>
            <a:r>
              <a:rPr lang="en-US" sz="2800" b="1" dirty="0">
                <a:solidFill>
                  <a:srgbClr val="142D4E"/>
                </a:solidFill>
                <a:latin typeface="Aptos Display" panose="020B0004020202020204" pitchFamily="34" charset="0"/>
              </a:rPr>
              <a:t>Assessment Coverage and Evidence Map</a:t>
            </a:r>
          </a:p>
        </p:txBody>
      </p:sp>
      <p:sp>
        <p:nvSpPr>
          <p:cNvPr id="40" name="codex_template_top_accent">
            <a:extLst>
              <a:ext uri="{FF2B5EF4-FFF2-40B4-BE49-F238E27FC236}">
                <a16:creationId xmlns:a16="http://schemas.microsoft.com/office/drawing/2014/main" id="{5889D0E3-396C-F152-E0CA-287940FB41A2}"/>
              </a:ext>
            </a:extLst>
          </p:cNvPr>
          <p:cNvSpPr/>
          <p:nvPr/>
        </p:nvSpPr>
        <p:spPr>
          <a:xfrm>
            <a:off x="0" y="-34296"/>
            <a:ext cx="12192000" cy="157493"/>
          </a:xfrm>
          <a:prstGeom prst="rect">
            <a:avLst/>
          </a:prstGeom>
          <a:solidFill>
            <a:srgbClr val="00A9E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codex_template_footer">
            <a:extLst>
              <a:ext uri="{FF2B5EF4-FFF2-40B4-BE49-F238E27FC236}">
                <a16:creationId xmlns:a16="http://schemas.microsoft.com/office/drawing/2014/main" id="{80CFFB48-F6D6-A892-9F25-7AF31B4825EA}"/>
              </a:ext>
            </a:extLst>
          </p:cNvPr>
          <p:cNvSpPr txBox="1"/>
          <p:nvPr/>
        </p:nvSpPr>
        <p:spPr>
          <a:xfrm>
            <a:off x="355600" y="6470086"/>
            <a:ext cx="10668000" cy="381673"/>
          </a:xfrm>
          <a:prstGeom prst="rect">
            <a:avLst/>
          </a:prstGeom>
          <a:noFill/>
        </p:spPr>
        <p:txBody>
          <a:bodyPr vert="horz" rtlCol="0">
            <a:spAutoFit/>
          </a:bodyPr>
          <a:lstStyle/>
          <a:p>
            <a:r>
              <a:rPr lang="en-US" sz="800">
                <a:solidFill>
                  <a:srgbClr val="566982"/>
                </a:solidFill>
                <a:latin typeface="Aptos" panose="020B0004020202020204" pitchFamily="34" charset="0"/>
              </a:rPr>
              <a:t>Enterprise Reconciliation Platform | Principal Engineer / Architect Assessment</a:t>
            </a:r>
          </a:p>
        </p:txBody>
      </p:sp>
      <p:sp>
        <p:nvSpPr>
          <p:cNvPr id="43" name="codex_template_slide_number">
            <a:extLst>
              <a:ext uri="{FF2B5EF4-FFF2-40B4-BE49-F238E27FC236}">
                <a16:creationId xmlns:a16="http://schemas.microsoft.com/office/drawing/2014/main" id="{8A5C7EA4-63EC-8DE8-E227-350973A53EA6}"/>
              </a:ext>
            </a:extLst>
          </p:cNvPr>
          <p:cNvSpPr txBox="1"/>
          <p:nvPr/>
        </p:nvSpPr>
        <p:spPr>
          <a:xfrm>
            <a:off x="11557000" y="6470086"/>
            <a:ext cx="355600" cy="381673"/>
          </a:xfrm>
          <a:prstGeom prst="rect">
            <a:avLst/>
          </a:prstGeom>
          <a:noFill/>
        </p:spPr>
        <p:txBody>
          <a:bodyPr vert="horz" rtlCol="0">
            <a:spAutoFit/>
          </a:bodyPr>
          <a:lstStyle/>
          <a:p>
            <a:r>
              <a:rPr lang="en-US" sz="800">
                <a:solidFill>
                  <a:srgbClr val="566982"/>
                </a:solidFill>
                <a:latin typeface="Aptos" panose="020B0004020202020204" pitchFamily="34" charset="0"/>
              </a:rPr>
              <a:t>20</a:t>
            </a:r>
          </a:p>
        </p:txBody>
      </p:sp>
      <p:cxnSp>
        <p:nvCxnSpPr>
          <p:cNvPr id="44" name="codex_template_title_rule">
            <a:extLst>
              <a:ext uri="{FF2B5EF4-FFF2-40B4-BE49-F238E27FC236}">
                <a16:creationId xmlns:a16="http://schemas.microsoft.com/office/drawing/2014/main" id="{965CAC22-CE44-9804-C44E-190EB0491DEF}"/>
              </a:ext>
            </a:extLst>
          </p:cNvPr>
          <p:cNvCxnSpPr/>
          <p:nvPr/>
        </p:nvCxnSpPr>
        <p:spPr>
          <a:xfrm>
            <a:off x="812800" y="1218659"/>
            <a:ext cx="4648200" cy="0"/>
          </a:xfrm>
          <a:prstGeom prst="line">
            <a:avLst/>
          </a:prstGeom>
          <a:ln w="27940">
            <a:solidFill>
              <a:srgbClr val="00A9E0"/>
            </a:solidFill>
          </a:ln>
        </p:spPr>
        <p:style>
          <a:lnRef idx="1">
            <a:schemeClr val="accent1"/>
          </a:lnRef>
          <a:fillRef idx="0">
            <a:schemeClr val="accent1"/>
          </a:fillRef>
          <a:effectRef idx="0">
            <a:schemeClr val="accent1"/>
          </a:effectRef>
          <a:fontRef idx="minor">
            <a:schemeClr val="tx1"/>
          </a:fontRef>
        </p:style>
      </p:cxnSp>
      <p:sp>
        <p:nvSpPr>
          <p:cNvPr id="2" name="Rectangle: Rounded Corners 1">
            <a:extLst>
              <a:ext uri="{FF2B5EF4-FFF2-40B4-BE49-F238E27FC236}">
                <a16:creationId xmlns:a16="http://schemas.microsoft.com/office/drawing/2014/main" id="{C3B8EE99-7942-203F-DF37-DEA866207A13}"/>
              </a:ext>
            </a:extLst>
          </p:cNvPr>
          <p:cNvSpPr/>
          <p:nvPr/>
        </p:nvSpPr>
        <p:spPr>
          <a:xfrm>
            <a:off x="2984500" y="1796007"/>
            <a:ext cx="5461000" cy="533400"/>
          </a:xfrm>
          <a:prstGeom prst="roundRect">
            <a:avLst/>
          </a:prstGeom>
          <a:ln w="3175"/>
        </p:spPr>
        <p:style>
          <a:lnRef idx="2">
            <a:schemeClr val="dk1"/>
          </a:lnRef>
          <a:fillRef idx="1">
            <a:schemeClr val="lt1"/>
          </a:fillRef>
          <a:effectRef idx="0">
            <a:schemeClr val="dk1"/>
          </a:effectRef>
          <a:fontRef idx="minor">
            <a:schemeClr val="dk1"/>
          </a:fontRef>
        </p:style>
        <p:txBody>
          <a:bodyPr wrap="square" lIns="101600" tIns="76200" rIns="101600" bIns="76200" rtlCol="0" anchor="ctr"/>
          <a:lstStyle/>
          <a:p>
            <a:pPr algn="ctr"/>
            <a:r>
              <a:rPr lang="en-US" sz="1300" b="1" dirty="0">
                <a:solidFill>
                  <a:srgbClr val="566982"/>
                </a:solidFill>
                <a:latin typeface="Aptos" panose="020B0004020202020204" pitchFamily="34" charset="0"/>
              </a:rPr>
              <a:t>Evaluation Area</a:t>
            </a:r>
          </a:p>
        </p:txBody>
      </p:sp>
      <p:sp>
        <p:nvSpPr>
          <p:cNvPr id="3" name="Rectangle: Rounded Corners 2">
            <a:extLst>
              <a:ext uri="{FF2B5EF4-FFF2-40B4-BE49-F238E27FC236}">
                <a16:creationId xmlns:a16="http://schemas.microsoft.com/office/drawing/2014/main" id="{9DC12694-62EA-CE26-ACE6-EBB34009D3C2}"/>
              </a:ext>
            </a:extLst>
          </p:cNvPr>
          <p:cNvSpPr/>
          <p:nvPr/>
        </p:nvSpPr>
        <p:spPr>
          <a:xfrm>
            <a:off x="8445500" y="1796007"/>
            <a:ext cx="3175000" cy="533400"/>
          </a:xfrm>
          <a:prstGeom prst="roundRect">
            <a:avLst/>
          </a:prstGeom>
          <a:ln w="3175"/>
        </p:spPr>
        <p:style>
          <a:lnRef idx="2">
            <a:schemeClr val="dk1"/>
          </a:lnRef>
          <a:fillRef idx="1">
            <a:schemeClr val="lt1"/>
          </a:fillRef>
          <a:effectRef idx="0">
            <a:schemeClr val="dk1"/>
          </a:effectRef>
          <a:fontRef idx="minor">
            <a:schemeClr val="dk1"/>
          </a:fontRef>
        </p:style>
        <p:txBody>
          <a:bodyPr wrap="square" lIns="101600" tIns="76200" rIns="101600" bIns="76200" rtlCol="0" anchor="ctr"/>
          <a:lstStyle/>
          <a:p>
            <a:pPr algn="ctr"/>
            <a:r>
              <a:rPr lang="en-US" sz="1300" b="1" dirty="0">
                <a:solidFill>
                  <a:srgbClr val="566982"/>
                </a:solidFill>
                <a:latin typeface="Aptos" panose="020B0004020202020204" pitchFamily="34" charset="0"/>
              </a:rPr>
              <a:t>Where Demonstrated</a:t>
            </a:r>
            <a:r>
              <a:rPr lang="en-US" sz="1300" b="1" dirty="0">
                <a:solidFill>
                  <a:srgbClr val="FFFFFF"/>
                </a:solidFill>
                <a:latin typeface="Aptos" panose="020B0004020202020204" pitchFamily="34" charset="0"/>
              </a:rPr>
              <a:t> Demonstrated</a:t>
            </a:r>
          </a:p>
        </p:txBody>
      </p:sp>
      <p:sp>
        <p:nvSpPr>
          <p:cNvPr id="4" name="Rectangle: Rounded Corners 3">
            <a:extLst>
              <a:ext uri="{FF2B5EF4-FFF2-40B4-BE49-F238E27FC236}">
                <a16:creationId xmlns:a16="http://schemas.microsoft.com/office/drawing/2014/main" id="{F8F68F4C-3245-9D58-8C5E-40726E42F409}"/>
              </a:ext>
            </a:extLst>
          </p:cNvPr>
          <p:cNvSpPr/>
          <p:nvPr/>
        </p:nvSpPr>
        <p:spPr>
          <a:xfrm>
            <a:off x="571500" y="2329407"/>
            <a:ext cx="2413000" cy="660400"/>
          </a:xfrm>
          <a:prstGeom prst="roundRect">
            <a:avLst/>
          </a:prstGeom>
          <a:ln w="3175"/>
        </p:spPr>
        <p:style>
          <a:lnRef idx="2">
            <a:schemeClr val="dk1"/>
          </a:lnRef>
          <a:fillRef idx="1">
            <a:schemeClr val="lt1"/>
          </a:fillRef>
          <a:effectRef idx="0">
            <a:schemeClr val="dk1"/>
          </a:effectRef>
          <a:fontRef idx="minor">
            <a:schemeClr val="dk1"/>
          </a:fontRef>
        </p:style>
        <p:txBody>
          <a:bodyPr wrap="square" lIns="101600" tIns="76200" rIns="101600" bIns="76200" rtlCol="0" anchor="ctr"/>
          <a:lstStyle/>
          <a:p>
            <a:pPr algn="ctr"/>
            <a:r>
              <a:rPr lang="en-US" sz="1100" dirty="0">
                <a:solidFill>
                  <a:srgbClr val="18304E"/>
                </a:solidFill>
                <a:latin typeface="Aptos" panose="020B0004020202020204" pitchFamily="34" charset="0"/>
              </a:rPr>
              <a:t>Enterprise-grade design</a:t>
            </a:r>
          </a:p>
        </p:txBody>
      </p:sp>
      <p:sp>
        <p:nvSpPr>
          <p:cNvPr id="5" name="Rectangle: Rounded Corners 4">
            <a:extLst>
              <a:ext uri="{FF2B5EF4-FFF2-40B4-BE49-F238E27FC236}">
                <a16:creationId xmlns:a16="http://schemas.microsoft.com/office/drawing/2014/main" id="{A7C7B4AB-FF52-16FE-3021-17A26FBE1275}"/>
              </a:ext>
            </a:extLst>
          </p:cNvPr>
          <p:cNvSpPr/>
          <p:nvPr/>
        </p:nvSpPr>
        <p:spPr>
          <a:xfrm>
            <a:off x="2984500" y="2329407"/>
            <a:ext cx="5461000" cy="660400"/>
          </a:xfrm>
          <a:prstGeom prst="roundRect">
            <a:avLst/>
          </a:prstGeom>
          <a:ln w="3175"/>
        </p:spPr>
        <p:style>
          <a:lnRef idx="2">
            <a:schemeClr val="dk1"/>
          </a:lnRef>
          <a:fillRef idx="1">
            <a:schemeClr val="lt1"/>
          </a:fillRef>
          <a:effectRef idx="0">
            <a:schemeClr val="dk1"/>
          </a:effectRef>
          <a:fontRef idx="minor">
            <a:schemeClr val="dk1"/>
          </a:fontRef>
        </p:style>
        <p:txBody>
          <a:bodyPr wrap="square" lIns="101600" tIns="76200" rIns="101600" bIns="76200" rtlCol="0" anchor="ctr"/>
          <a:lstStyle/>
          <a:p>
            <a:pPr algn="ctr"/>
            <a:r>
              <a:rPr lang="en-US" sz="1100" dirty="0">
                <a:solidFill>
                  <a:srgbClr val="18304E"/>
                </a:solidFill>
                <a:latin typeface="Aptos" panose="020B0004020202020204" pitchFamily="34" charset="0"/>
              </a:rPr>
              <a:t>Separated producer, consumer and dashboard; MQ topology; security; HA/DR; capacity planning</a:t>
            </a:r>
          </a:p>
        </p:txBody>
      </p:sp>
      <p:sp>
        <p:nvSpPr>
          <p:cNvPr id="6" name="Rectangle: Rounded Corners 5">
            <a:extLst>
              <a:ext uri="{FF2B5EF4-FFF2-40B4-BE49-F238E27FC236}">
                <a16:creationId xmlns:a16="http://schemas.microsoft.com/office/drawing/2014/main" id="{21917496-1D4B-109B-C1BC-1EDC188F8953}"/>
              </a:ext>
            </a:extLst>
          </p:cNvPr>
          <p:cNvSpPr/>
          <p:nvPr/>
        </p:nvSpPr>
        <p:spPr>
          <a:xfrm>
            <a:off x="8445500" y="2329407"/>
            <a:ext cx="3175000" cy="660400"/>
          </a:xfrm>
          <a:prstGeom prst="roundRect">
            <a:avLst/>
          </a:prstGeom>
          <a:ln w="3175"/>
        </p:spPr>
        <p:style>
          <a:lnRef idx="2">
            <a:schemeClr val="dk1"/>
          </a:lnRef>
          <a:fillRef idx="1">
            <a:schemeClr val="lt1"/>
          </a:fillRef>
          <a:effectRef idx="0">
            <a:schemeClr val="dk1"/>
          </a:effectRef>
          <a:fontRef idx="minor">
            <a:schemeClr val="dk1"/>
          </a:fontRef>
        </p:style>
        <p:txBody>
          <a:bodyPr wrap="square" lIns="101600" tIns="76200" rIns="101600" bIns="76200" rtlCol="0" anchor="ctr"/>
          <a:lstStyle/>
          <a:p>
            <a:pPr algn="ctr"/>
            <a:r>
              <a:rPr lang="en-US" sz="1100" dirty="0">
                <a:solidFill>
                  <a:srgbClr val="18304E"/>
                </a:solidFill>
                <a:latin typeface="Aptos" panose="020B0004020202020204" pitchFamily="34" charset="0"/>
              </a:rPr>
              <a:t>Architecture docs + PPTX</a:t>
            </a:r>
          </a:p>
        </p:txBody>
      </p:sp>
      <p:sp>
        <p:nvSpPr>
          <p:cNvPr id="7" name="Rectangle: Rounded Corners 6">
            <a:extLst>
              <a:ext uri="{FF2B5EF4-FFF2-40B4-BE49-F238E27FC236}">
                <a16:creationId xmlns:a16="http://schemas.microsoft.com/office/drawing/2014/main" id="{C4D93DC9-F3A8-90A1-A27A-D218445C304E}"/>
              </a:ext>
            </a:extLst>
          </p:cNvPr>
          <p:cNvSpPr/>
          <p:nvPr/>
        </p:nvSpPr>
        <p:spPr>
          <a:xfrm>
            <a:off x="571500" y="2989807"/>
            <a:ext cx="2413000" cy="660400"/>
          </a:xfrm>
          <a:prstGeom prst="roundRect">
            <a:avLst/>
          </a:prstGeom>
          <a:ln w="3175"/>
        </p:spPr>
        <p:style>
          <a:lnRef idx="2">
            <a:schemeClr val="dk1"/>
          </a:lnRef>
          <a:fillRef idx="1">
            <a:schemeClr val="lt1"/>
          </a:fillRef>
          <a:effectRef idx="0">
            <a:schemeClr val="dk1"/>
          </a:effectRef>
          <a:fontRef idx="minor">
            <a:schemeClr val="dk1"/>
          </a:fontRef>
        </p:style>
        <p:txBody>
          <a:bodyPr wrap="square" lIns="101600" tIns="76200" rIns="101600" bIns="76200" rtlCol="0" anchor="ctr"/>
          <a:lstStyle/>
          <a:p>
            <a:pPr algn="ctr"/>
            <a:r>
              <a:rPr lang="en-US" sz="1100" dirty="0">
                <a:solidFill>
                  <a:srgbClr val="18304E"/>
                </a:solidFill>
                <a:latin typeface="Aptos" panose="020B0004020202020204" pitchFamily="34" charset="0"/>
              </a:rPr>
              <a:t>Hands-on production code</a:t>
            </a:r>
          </a:p>
        </p:txBody>
      </p:sp>
      <p:sp>
        <p:nvSpPr>
          <p:cNvPr id="8" name="Rectangle: Rounded Corners 7">
            <a:extLst>
              <a:ext uri="{FF2B5EF4-FFF2-40B4-BE49-F238E27FC236}">
                <a16:creationId xmlns:a16="http://schemas.microsoft.com/office/drawing/2014/main" id="{47E8CD7F-3EDF-8A8F-2D81-7A54DB40F92A}"/>
              </a:ext>
            </a:extLst>
          </p:cNvPr>
          <p:cNvSpPr/>
          <p:nvPr/>
        </p:nvSpPr>
        <p:spPr>
          <a:xfrm>
            <a:off x="2984500" y="2989807"/>
            <a:ext cx="5461000" cy="660400"/>
          </a:xfrm>
          <a:prstGeom prst="roundRect">
            <a:avLst/>
          </a:prstGeom>
          <a:ln w="3175"/>
        </p:spPr>
        <p:style>
          <a:lnRef idx="2">
            <a:schemeClr val="dk1"/>
          </a:lnRef>
          <a:fillRef idx="1">
            <a:schemeClr val="lt1"/>
          </a:fillRef>
          <a:effectRef idx="0">
            <a:schemeClr val="dk1"/>
          </a:effectRef>
          <a:fontRef idx="minor">
            <a:schemeClr val="dk1"/>
          </a:fontRef>
        </p:style>
        <p:txBody>
          <a:bodyPr wrap="square" lIns="101600" tIns="76200" rIns="101600" bIns="76200" rtlCol="0" anchor="ctr"/>
          <a:lstStyle/>
          <a:p>
            <a:pPr algn="ctr"/>
            <a:r>
              <a:rPr lang="en-US" sz="1100">
                <a:solidFill>
                  <a:srgbClr val="18304E"/>
                </a:solidFill>
                <a:latin typeface="Aptos" panose="020B0004020202020204" pitchFamily="34" charset="0"/>
              </a:rPr>
              <a:t>Java 17 Spring Boot apps, tests, exception handling, idempotency, Dockerfiles</a:t>
            </a:r>
          </a:p>
        </p:txBody>
      </p:sp>
      <p:sp>
        <p:nvSpPr>
          <p:cNvPr id="9" name="Rectangle: Rounded Corners 8">
            <a:extLst>
              <a:ext uri="{FF2B5EF4-FFF2-40B4-BE49-F238E27FC236}">
                <a16:creationId xmlns:a16="http://schemas.microsoft.com/office/drawing/2014/main" id="{A1520F6A-0519-FD13-3C97-203016B668D0}"/>
              </a:ext>
            </a:extLst>
          </p:cNvPr>
          <p:cNvSpPr/>
          <p:nvPr/>
        </p:nvSpPr>
        <p:spPr>
          <a:xfrm>
            <a:off x="8445500" y="2989807"/>
            <a:ext cx="3175000" cy="660400"/>
          </a:xfrm>
          <a:prstGeom prst="roundRect">
            <a:avLst/>
          </a:prstGeom>
          <a:ln w="3175"/>
        </p:spPr>
        <p:style>
          <a:lnRef idx="2">
            <a:schemeClr val="dk1"/>
          </a:lnRef>
          <a:fillRef idx="1">
            <a:schemeClr val="lt1"/>
          </a:fillRef>
          <a:effectRef idx="0">
            <a:schemeClr val="dk1"/>
          </a:effectRef>
          <a:fontRef idx="minor">
            <a:schemeClr val="dk1"/>
          </a:fontRef>
        </p:style>
        <p:txBody>
          <a:bodyPr wrap="square" lIns="101600" tIns="76200" rIns="101600" bIns="76200" rtlCol="0" anchor="ctr"/>
          <a:lstStyle/>
          <a:p>
            <a:pPr algn="ctr"/>
            <a:r>
              <a:rPr lang="en-US" sz="1100">
                <a:solidFill>
                  <a:srgbClr val="18304E"/>
                </a:solidFill>
                <a:latin typeface="Aptos" panose="020B0004020202020204" pitchFamily="34" charset="0"/>
              </a:rPr>
              <a:t>GitHub repository</a:t>
            </a:r>
          </a:p>
        </p:txBody>
      </p:sp>
      <p:sp>
        <p:nvSpPr>
          <p:cNvPr id="12" name="Rectangle: Rounded Corners 11">
            <a:extLst>
              <a:ext uri="{FF2B5EF4-FFF2-40B4-BE49-F238E27FC236}">
                <a16:creationId xmlns:a16="http://schemas.microsoft.com/office/drawing/2014/main" id="{BAFB93F9-C49A-EDB5-6CCA-CBFAC8E6C4BF}"/>
              </a:ext>
            </a:extLst>
          </p:cNvPr>
          <p:cNvSpPr/>
          <p:nvPr/>
        </p:nvSpPr>
        <p:spPr>
          <a:xfrm>
            <a:off x="571500" y="3650207"/>
            <a:ext cx="2413000" cy="660400"/>
          </a:xfrm>
          <a:prstGeom prst="roundRect">
            <a:avLst/>
          </a:prstGeom>
          <a:ln w="3175"/>
        </p:spPr>
        <p:style>
          <a:lnRef idx="2">
            <a:schemeClr val="dk1"/>
          </a:lnRef>
          <a:fillRef idx="1">
            <a:schemeClr val="lt1"/>
          </a:fillRef>
          <a:effectRef idx="0">
            <a:schemeClr val="dk1"/>
          </a:effectRef>
          <a:fontRef idx="minor">
            <a:schemeClr val="dk1"/>
          </a:fontRef>
        </p:style>
        <p:txBody>
          <a:bodyPr wrap="square" lIns="101600" tIns="76200" rIns="101600" bIns="76200" rtlCol="0" anchor="ctr"/>
          <a:lstStyle/>
          <a:p>
            <a:pPr algn="ctr"/>
            <a:r>
              <a:rPr lang="en-US" sz="1100">
                <a:solidFill>
                  <a:srgbClr val="18304E"/>
                </a:solidFill>
                <a:latin typeface="Aptos" panose="020B0004020202020204" pitchFamily="34" charset="0"/>
              </a:rPr>
              <a:t>Messaging and resiliency</a:t>
            </a:r>
          </a:p>
        </p:txBody>
      </p:sp>
      <p:sp>
        <p:nvSpPr>
          <p:cNvPr id="13" name="Rectangle: Rounded Corners 12">
            <a:extLst>
              <a:ext uri="{FF2B5EF4-FFF2-40B4-BE49-F238E27FC236}">
                <a16:creationId xmlns:a16="http://schemas.microsoft.com/office/drawing/2014/main" id="{69A2ECB3-84FF-27C4-2E0D-54FDE73633D4}"/>
              </a:ext>
            </a:extLst>
          </p:cNvPr>
          <p:cNvSpPr/>
          <p:nvPr/>
        </p:nvSpPr>
        <p:spPr>
          <a:xfrm>
            <a:off x="2984500" y="3650207"/>
            <a:ext cx="5461000" cy="660400"/>
          </a:xfrm>
          <a:prstGeom prst="roundRect">
            <a:avLst/>
          </a:prstGeom>
          <a:ln w="3175"/>
        </p:spPr>
        <p:style>
          <a:lnRef idx="2">
            <a:schemeClr val="dk1"/>
          </a:lnRef>
          <a:fillRef idx="1">
            <a:schemeClr val="lt1"/>
          </a:fillRef>
          <a:effectRef idx="0">
            <a:schemeClr val="dk1"/>
          </a:effectRef>
          <a:fontRef idx="minor">
            <a:schemeClr val="dk1"/>
          </a:fontRef>
        </p:style>
        <p:txBody>
          <a:bodyPr wrap="square" lIns="101600" tIns="76200" rIns="101600" bIns="76200" rtlCol="0" anchor="ctr"/>
          <a:lstStyle/>
          <a:p>
            <a:pPr algn="ctr"/>
            <a:r>
              <a:rPr lang="en-US" sz="1100">
                <a:solidFill>
                  <a:srgbClr val="18304E"/>
                </a:solidFill>
                <a:latin typeface="Aptos" panose="020B0004020202020204" pitchFamily="34" charset="0"/>
              </a:rPr>
              <a:t>Retry queues, backout, DLQ, replay, MQRC 2035 runbook, poison handling</a:t>
            </a:r>
          </a:p>
        </p:txBody>
      </p:sp>
      <p:sp>
        <p:nvSpPr>
          <p:cNvPr id="35" name="Rectangle: Rounded Corners 34">
            <a:extLst>
              <a:ext uri="{FF2B5EF4-FFF2-40B4-BE49-F238E27FC236}">
                <a16:creationId xmlns:a16="http://schemas.microsoft.com/office/drawing/2014/main" id="{BB136277-0928-73A1-72B6-B1F978B10216}"/>
              </a:ext>
            </a:extLst>
          </p:cNvPr>
          <p:cNvSpPr/>
          <p:nvPr/>
        </p:nvSpPr>
        <p:spPr>
          <a:xfrm>
            <a:off x="8445500" y="3650207"/>
            <a:ext cx="3175000" cy="660400"/>
          </a:xfrm>
          <a:prstGeom prst="roundRect">
            <a:avLst/>
          </a:prstGeom>
          <a:ln w="3175"/>
        </p:spPr>
        <p:style>
          <a:lnRef idx="2">
            <a:schemeClr val="dk1"/>
          </a:lnRef>
          <a:fillRef idx="1">
            <a:schemeClr val="lt1"/>
          </a:fillRef>
          <a:effectRef idx="0">
            <a:schemeClr val="dk1"/>
          </a:effectRef>
          <a:fontRef idx="minor">
            <a:schemeClr val="dk1"/>
          </a:fontRef>
        </p:style>
        <p:txBody>
          <a:bodyPr wrap="square" lIns="101600" tIns="76200" rIns="101600" bIns="76200" rtlCol="0" anchor="ctr"/>
          <a:lstStyle/>
          <a:p>
            <a:pPr algn="ctr"/>
            <a:r>
              <a:rPr lang="en-US" sz="1100">
                <a:solidFill>
                  <a:srgbClr val="18304E"/>
                </a:solidFill>
                <a:latin typeface="Aptos" panose="020B0004020202020204" pitchFamily="34" charset="0"/>
              </a:rPr>
              <a:t>Phase 2 docs and code</a:t>
            </a:r>
          </a:p>
        </p:txBody>
      </p:sp>
      <p:sp>
        <p:nvSpPr>
          <p:cNvPr id="36" name="Rectangle: Rounded Corners 35">
            <a:extLst>
              <a:ext uri="{FF2B5EF4-FFF2-40B4-BE49-F238E27FC236}">
                <a16:creationId xmlns:a16="http://schemas.microsoft.com/office/drawing/2014/main" id="{05994BC3-7DA2-A055-BBF6-F1D7B469964D}"/>
              </a:ext>
            </a:extLst>
          </p:cNvPr>
          <p:cNvSpPr/>
          <p:nvPr/>
        </p:nvSpPr>
        <p:spPr>
          <a:xfrm>
            <a:off x="571500" y="4310607"/>
            <a:ext cx="2413000" cy="660400"/>
          </a:xfrm>
          <a:prstGeom prst="roundRect">
            <a:avLst/>
          </a:prstGeom>
          <a:ln w="3175"/>
        </p:spPr>
        <p:style>
          <a:lnRef idx="2">
            <a:schemeClr val="dk1"/>
          </a:lnRef>
          <a:fillRef idx="1">
            <a:schemeClr val="lt1"/>
          </a:fillRef>
          <a:effectRef idx="0">
            <a:schemeClr val="dk1"/>
          </a:effectRef>
          <a:fontRef idx="minor">
            <a:schemeClr val="dk1"/>
          </a:fontRef>
        </p:style>
        <p:txBody>
          <a:bodyPr wrap="square" lIns="101600" tIns="76200" rIns="101600" bIns="76200" rtlCol="0" anchor="ctr"/>
          <a:lstStyle/>
          <a:p>
            <a:pPr algn="ctr"/>
            <a:r>
              <a:rPr lang="en-US" sz="1100">
                <a:solidFill>
                  <a:srgbClr val="18304E"/>
                </a:solidFill>
                <a:latin typeface="Aptos" panose="020B0004020202020204" pitchFamily="34" charset="0"/>
              </a:rPr>
              <a:t>Cloud-native deployment</a:t>
            </a:r>
          </a:p>
        </p:txBody>
      </p:sp>
      <p:sp>
        <p:nvSpPr>
          <p:cNvPr id="45" name="Rectangle: Rounded Corners 44">
            <a:extLst>
              <a:ext uri="{FF2B5EF4-FFF2-40B4-BE49-F238E27FC236}">
                <a16:creationId xmlns:a16="http://schemas.microsoft.com/office/drawing/2014/main" id="{3086EF14-2BB8-3742-8558-A4974848B3A2}"/>
              </a:ext>
            </a:extLst>
          </p:cNvPr>
          <p:cNvSpPr/>
          <p:nvPr/>
        </p:nvSpPr>
        <p:spPr>
          <a:xfrm>
            <a:off x="2984500" y="4310607"/>
            <a:ext cx="5461000" cy="660400"/>
          </a:xfrm>
          <a:prstGeom prst="roundRect">
            <a:avLst/>
          </a:prstGeom>
          <a:ln w="3175"/>
        </p:spPr>
        <p:style>
          <a:lnRef idx="2">
            <a:schemeClr val="dk1"/>
          </a:lnRef>
          <a:fillRef idx="1">
            <a:schemeClr val="lt1"/>
          </a:fillRef>
          <a:effectRef idx="0">
            <a:schemeClr val="dk1"/>
          </a:effectRef>
          <a:fontRef idx="minor">
            <a:schemeClr val="dk1"/>
          </a:fontRef>
        </p:style>
        <p:txBody>
          <a:bodyPr wrap="square" lIns="101600" tIns="76200" rIns="101600" bIns="76200" rtlCol="0" anchor="ctr"/>
          <a:lstStyle/>
          <a:p>
            <a:pPr algn="ctr"/>
            <a:r>
              <a:rPr lang="en-US" sz="1100">
                <a:solidFill>
                  <a:srgbClr val="18304E"/>
                </a:solidFill>
                <a:latin typeface="Aptos" panose="020B0004020202020204" pitchFamily="34" charset="0"/>
              </a:rPr>
              <a:t>AWS EKS, ECR, RDS PostgreSQL, Secrets Manager, raw Kubernetes manifests</a:t>
            </a:r>
          </a:p>
        </p:txBody>
      </p:sp>
      <p:sp>
        <p:nvSpPr>
          <p:cNvPr id="46" name="Rectangle: Rounded Corners 45">
            <a:extLst>
              <a:ext uri="{FF2B5EF4-FFF2-40B4-BE49-F238E27FC236}">
                <a16:creationId xmlns:a16="http://schemas.microsoft.com/office/drawing/2014/main" id="{39462D3B-4BA1-7CAD-879F-F91B32BA30D2}"/>
              </a:ext>
            </a:extLst>
          </p:cNvPr>
          <p:cNvSpPr/>
          <p:nvPr/>
        </p:nvSpPr>
        <p:spPr>
          <a:xfrm>
            <a:off x="8445500" y="4310607"/>
            <a:ext cx="3175000" cy="660400"/>
          </a:xfrm>
          <a:prstGeom prst="roundRect">
            <a:avLst/>
          </a:prstGeom>
          <a:ln w="3175"/>
        </p:spPr>
        <p:style>
          <a:lnRef idx="2">
            <a:schemeClr val="dk1"/>
          </a:lnRef>
          <a:fillRef idx="1">
            <a:schemeClr val="lt1"/>
          </a:fillRef>
          <a:effectRef idx="0">
            <a:schemeClr val="dk1"/>
          </a:effectRef>
          <a:fontRef idx="minor">
            <a:schemeClr val="dk1"/>
          </a:fontRef>
        </p:style>
        <p:txBody>
          <a:bodyPr wrap="square" lIns="101600" tIns="76200" rIns="101600" bIns="76200" rtlCol="0" anchor="ctr"/>
          <a:lstStyle/>
          <a:p>
            <a:pPr algn="ctr"/>
            <a:r>
              <a:rPr lang="en-US" sz="1100">
                <a:solidFill>
                  <a:srgbClr val="18304E"/>
                </a:solidFill>
                <a:latin typeface="Aptos" panose="020B0004020202020204" pitchFamily="34" charset="0"/>
              </a:rPr>
              <a:t>aws-kubernetes folder</a:t>
            </a:r>
          </a:p>
        </p:txBody>
      </p:sp>
      <p:sp>
        <p:nvSpPr>
          <p:cNvPr id="47" name="Rectangle: Rounded Corners 46">
            <a:extLst>
              <a:ext uri="{FF2B5EF4-FFF2-40B4-BE49-F238E27FC236}">
                <a16:creationId xmlns:a16="http://schemas.microsoft.com/office/drawing/2014/main" id="{7CF8DC1F-25F2-826F-181C-4AC868C5D4A7}"/>
              </a:ext>
            </a:extLst>
          </p:cNvPr>
          <p:cNvSpPr/>
          <p:nvPr/>
        </p:nvSpPr>
        <p:spPr>
          <a:xfrm>
            <a:off x="571500" y="4971007"/>
            <a:ext cx="2413000" cy="660400"/>
          </a:xfrm>
          <a:prstGeom prst="roundRect">
            <a:avLst/>
          </a:prstGeom>
          <a:ln w="3175"/>
        </p:spPr>
        <p:style>
          <a:lnRef idx="2">
            <a:schemeClr val="dk1"/>
          </a:lnRef>
          <a:fillRef idx="1">
            <a:schemeClr val="lt1"/>
          </a:fillRef>
          <a:effectRef idx="0">
            <a:schemeClr val="dk1"/>
          </a:effectRef>
          <a:fontRef idx="minor">
            <a:schemeClr val="dk1"/>
          </a:fontRef>
        </p:style>
        <p:txBody>
          <a:bodyPr wrap="square" lIns="101600" tIns="76200" rIns="101600" bIns="76200" rtlCol="0" anchor="ctr"/>
          <a:lstStyle/>
          <a:p>
            <a:pPr algn="ctr"/>
            <a:r>
              <a:rPr lang="en-US" sz="1100">
                <a:solidFill>
                  <a:srgbClr val="18304E"/>
                </a:solidFill>
                <a:latin typeface="Aptos" panose="020B0004020202020204" pitchFamily="34" charset="0"/>
              </a:rPr>
              <a:t>SRE and observability</a:t>
            </a:r>
          </a:p>
        </p:txBody>
      </p:sp>
      <p:sp>
        <p:nvSpPr>
          <p:cNvPr id="48" name="Rectangle: Rounded Corners 47">
            <a:extLst>
              <a:ext uri="{FF2B5EF4-FFF2-40B4-BE49-F238E27FC236}">
                <a16:creationId xmlns:a16="http://schemas.microsoft.com/office/drawing/2014/main" id="{6BF9169E-9145-0C90-5B87-AFC1AB3EC194}"/>
              </a:ext>
            </a:extLst>
          </p:cNvPr>
          <p:cNvSpPr/>
          <p:nvPr/>
        </p:nvSpPr>
        <p:spPr>
          <a:xfrm>
            <a:off x="2984500" y="4971007"/>
            <a:ext cx="5461000" cy="660400"/>
          </a:xfrm>
          <a:prstGeom prst="roundRect">
            <a:avLst/>
          </a:prstGeom>
          <a:ln w="3175"/>
        </p:spPr>
        <p:style>
          <a:lnRef idx="2">
            <a:schemeClr val="dk1"/>
          </a:lnRef>
          <a:fillRef idx="1">
            <a:schemeClr val="lt1"/>
          </a:fillRef>
          <a:effectRef idx="0">
            <a:schemeClr val="dk1"/>
          </a:effectRef>
          <a:fontRef idx="minor">
            <a:schemeClr val="dk1"/>
          </a:fontRef>
        </p:style>
        <p:txBody>
          <a:bodyPr wrap="square" lIns="101600" tIns="76200" rIns="101600" bIns="76200" rtlCol="0" anchor="ctr"/>
          <a:lstStyle/>
          <a:p>
            <a:pPr algn="ctr"/>
            <a:r>
              <a:rPr lang="en-US" sz="1100">
                <a:solidFill>
                  <a:srgbClr val="18304E"/>
                </a:solidFill>
                <a:latin typeface="Aptos" panose="020B0004020202020204" pitchFamily="34" charset="0"/>
              </a:rPr>
              <a:t>Prometheus, Grafana, Jaeger, OpenTelemetry, queue depth, TPS, alerts</a:t>
            </a:r>
          </a:p>
        </p:txBody>
      </p:sp>
      <p:sp>
        <p:nvSpPr>
          <p:cNvPr id="49" name="Rectangle: Rounded Corners 48">
            <a:extLst>
              <a:ext uri="{FF2B5EF4-FFF2-40B4-BE49-F238E27FC236}">
                <a16:creationId xmlns:a16="http://schemas.microsoft.com/office/drawing/2014/main" id="{F6492EE9-0A16-3E6D-0573-F5CAA67E18F0}"/>
              </a:ext>
            </a:extLst>
          </p:cNvPr>
          <p:cNvSpPr/>
          <p:nvPr/>
        </p:nvSpPr>
        <p:spPr>
          <a:xfrm>
            <a:off x="8445500" y="4971007"/>
            <a:ext cx="3175000" cy="660400"/>
          </a:xfrm>
          <a:prstGeom prst="roundRect">
            <a:avLst/>
          </a:prstGeom>
          <a:ln w="3175"/>
        </p:spPr>
        <p:style>
          <a:lnRef idx="2">
            <a:schemeClr val="dk1"/>
          </a:lnRef>
          <a:fillRef idx="1">
            <a:schemeClr val="lt1"/>
          </a:fillRef>
          <a:effectRef idx="0">
            <a:schemeClr val="dk1"/>
          </a:effectRef>
          <a:fontRef idx="minor">
            <a:schemeClr val="dk1"/>
          </a:fontRef>
        </p:style>
        <p:txBody>
          <a:bodyPr wrap="square" lIns="101600" tIns="76200" rIns="101600" bIns="76200" rtlCol="0" anchor="ctr"/>
          <a:lstStyle/>
          <a:p>
            <a:pPr algn="ctr"/>
            <a:r>
              <a:rPr lang="en-US" sz="1100">
                <a:solidFill>
                  <a:srgbClr val="18304E"/>
                </a:solidFill>
                <a:latin typeface="Aptos" panose="020B0004020202020204" pitchFamily="34" charset="0"/>
              </a:rPr>
              <a:t>Phase 6 docs + dashboard</a:t>
            </a:r>
          </a:p>
        </p:txBody>
      </p:sp>
      <p:sp>
        <p:nvSpPr>
          <p:cNvPr id="50" name="Rectangle: Rounded Corners 49">
            <a:extLst>
              <a:ext uri="{FF2B5EF4-FFF2-40B4-BE49-F238E27FC236}">
                <a16:creationId xmlns:a16="http://schemas.microsoft.com/office/drawing/2014/main" id="{3BE42525-9816-00EA-BD7D-939C457633FE}"/>
              </a:ext>
            </a:extLst>
          </p:cNvPr>
          <p:cNvSpPr/>
          <p:nvPr/>
        </p:nvSpPr>
        <p:spPr>
          <a:xfrm>
            <a:off x="571500" y="5631407"/>
            <a:ext cx="2413000" cy="660400"/>
          </a:xfrm>
          <a:prstGeom prst="roundRect">
            <a:avLst/>
          </a:prstGeom>
          <a:ln w="3175"/>
        </p:spPr>
        <p:style>
          <a:lnRef idx="2">
            <a:schemeClr val="dk1"/>
          </a:lnRef>
          <a:fillRef idx="1">
            <a:schemeClr val="lt1"/>
          </a:fillRef>
          <a:effectRef idx="0">
            <a:schemeClr val="dk1"/>
          </a:effectRef>
          <a:fontRef idx="minor">
            <a:schemeClr val="dk1"/>
          </a:fontRef>
        </p:style>
        <p:txBody>
          <a:bodyPr wrap="square" lIns="101600" tIns="76200" rIns="101600" bIns="76200" rtlCol="0" anchor="ctr"/>
          <a:lstStyle/>
          <a:p>
            <a:pPr algn="ctr"/>
            <a:r>
              <a:rPr lang="en-US" sz="1100">
                <a:solidFill>
                  <a:srgbClr val="18304E"/>
                </a:solidFill>
                <a:latin typeface="Aptos" panose="020B0004020202020204" pitchFamily="34" charset="0"/>
              </a:rPr>
              <a:t>AI-assisted workflow</a:t>
            </a:r>
          </a:p>
        </p:txBody>
      </p:sp>
      <p:sp>
        <p:nvSpPr>
          <p:cNvPr id="51" name="Rectangle: Rounded Corners 50">
            <a:extLst>
              <a:ext uri="{FF2B5EF4-FFF2-40B4-BE49-F238E27FC236}">
                <a16:creationId xmlns:a16="http://schemas.microsoft.com/office/drawing/2014/main" id="{12C88F02-00BA-17B9-78DC-FCA2917A2D1F}"/>
              </a:ext>
            </a:extLst>
          </p:cNvPr>
          <p:cNvSpPr/>
          <p:nvPr/>
        </p:nvSpPr>
        <p:spPr>
          <a:xfrm>
            <a:off x="2984500" y="5631407"/>
            <a:ext cx="5461000" cy="660400"/>
          </a:xfrm>
          <a:prstGeom prst="roundRect">
            <a:avLst/>
          </a:prstGeom>
          <a:ln w="3175"/>
        </p:spPr>
        <p:style>
          <a:lnRef idx="2">
            <a:schemeClr val="dk1"/>
          </a:lnRef>
          <a:fillRef idx="1">
            <a:schemeClr val="lt1"/>
          </a:fillRef>
          <a:effectRef idx="0">
            <a:schemeClr val="dk1"/>
          </a:effectRef>
          <a:fontRef idx="minor">
            <a:schemeClr val="dk1"/>
          </a:fontRef>
        </p:style>
        <p:txBody>
          <a:bodyPr wrap="square" lIns="101600" tIns="76200" rIns="101600" bIns="76200" rtlCol="0" anchor="ctr"/>
          <a:lstStyle/>
          <a:p>
            <a:pPr algn="ctr"/>
            <a:r>
              <a:rPr lang="en-US" sz="1100">
                <a:solidFill>
                  <a:srgbClr val="18304E"/>
                </a:solidFill>
                <a:latin typeface="Aptos" panose="020B0004020202020204" pitchFamily="34" charset="0"/>
              </a:rPr>
              <a:t>Prompting, generated-code validation, troubleshooting corrections, architecture prompt pack</a:t>
            </a:r>
          </a:p>
        </p:txBody>
      </p:sp>
      <p:sp>
        <p:nvSpPr>
          <p:cNvPr id="52" name="Rectangle: Rounded Corners 51">
            <a:extLst>
              <a:ext uri="{FF2B5EF4-FFF2-40B4-BE49-F238E27FC236}">
                <a16:creationId xmlns:a16="http://schemas.microsoft.com/office/drawing/2014/main" id="{4F047E29-A931-20A6-795D-15C9D762C051}"/>
              </a:ext>
            </a:extLst>
          </p:cNvPr>
          <p:cNvSpPr/>
          <p:nvPr/>
        </p:nvSpPr>
        <p:spPr>
          <a:xfrm>
            <a:off x="8445500" y="5631407"/>
            <a:ext cx="3175000" cy="660400"/>
          </a:xfrm>
          <a:prstGeom prst="roundRect">
            <a:avLst/>
          </a:prstGeom>
          <a:ln w="3175"/>
        </p:spPr>
        <p:style>
          <a:lnRef idx="2">
            <a:schemeClr val="dk1"/>
          </a:lnRef>
          <a:fillRef idx="1">
            <a:schemeClr val="lt1"/>
          </a:fillRef>
          <a:effectRef idx="0">
            <a:schemeClr val="dk1"/>
          </a:effectRef>
          <a:fontRef idx="minor">
            <a:schemeClr val="dk1"/>
          </a:fontRef>
        </p:style>
        <p:txBody>
          <a:bodyPr wrap="square" lIns="101600" tIns="76200" rIns="101600" bIns="76200" rtlCol="0" anchor="ctr"/>
          <a:lstStyle/>
          <a:p>
            <a:pPr algn="ctr"/>
            <a:r>
              <a:rPr lang="en-US" sz="1100">
                <a:solidFill>
                  <a:srgbClr val="18304E"/>
                </a:solidFill>
                <a:latin typeface="Aptos" panose="020B0004020202020204" pitchFamily="34" charset="0"/>
              </a:rPr>
              <a:t>Phase 5 slides</a:t>
            </a:r>
          </a:p>
        </p:txBody>
      </p:sp>
      <p:sp>
        <p:nvSpPr>
          <p:cNvPr id="53" name="Rectangle: Rounded Corners 52">
            <a:extLst>
              <a:ext uri="{FF2B5EF4-FFF2-40B4-BE49-F238E27FC236}">
                <a16:creationId xmlns:a16="http://schemas.microsoft.com/office/drawing/2014/main" id="{6C6349D9-C850-FC32-0AAC-B58A8A4D2CAA}"/>
              </a:ext>
            </a:extLst>
          </p:cNvPr>
          <p:cNvSpPr/>
          <p:nvPr/>
        </p:nvSpPr>
        <p:spPr>
          <a:xfrm>
            <a:off x="571500" y="1786763"/>
            <a:ext cx="2413000" cy="542644"/>
          </a:xfrm>
          <a:prstGeom prst="roundRect">
            <a:avLst/>
          </a:prstGeom>
          <a:ln w="3175"/>
        </p:spPr>
        <p:style>
          <a:lnRef idx="2">
            <a:schemeClr val="dk1"/>
          </a:lnRef>
          <a:fillRef idx="1">
            <a:schemeClr val="lt1"/>
          </a:fillRef>
          <a:effectRef idx="0">
            <a:schemeClr val="dk1"/>
          </a:effectRef>
          <a:fontRef idx="minor">
            <a:schemeClr val="dk1"/>
          </a:fontRef>
        </p:style>
        <p:txBody>
          <a:bodyPr wrap="square" lIns="101600" tIns="76200" rIns="101600" bIns="76200" rtlCol="0" anchor="ctr"/>
          <a:lstStyle/>
          <a:p>
            <a:pPr algn="ctr"/>
            <a:r>
              <a:rPr lang="en-US" sz="1300" b="1" dirty="0">
                <a:solidFill>
                  <a:srgbClr val="566982"/>
                </a:solidFill>
                <a:latin typeface="Aptos" panose="020B0004020202020204" pitchFamily="34" charset="0"/>
              </a:rPr>
              <a:t>Implemented Evidence</a:t>
            </a:r>
          </a:p>
        </p:txBody>
      </p:sp>
    </p:spTree>
    <p:extLst>
      <p:ext uri="{BB962C8B-B14F-4D97-AF65-F5344CB8AC3E}">
        <p14:creationId xmlns:p14="http://schemas.microsoft.com/office/powerpoint/2010/main" val="3687616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dex_template_right_wash">
            <a:extLst>
              <a:ext uri="{FF2B5EF4-FFF2-40B4-BE49-F238E27FC236}">
                <a16:creationId xmlns:a16="http://schemas.microsoft.com/office/drawing/2014/main" id="{BF9EAF00-D59D-E489-EA67-084CB23ED91B}"/>
              </a:ext>
            </a:extLst>
          </p:cNvPr>
          <p:cNvSpPr/>
          <p:nvPr/>
        </p:nvSpPr>
        <p:spPr>
          <a:xfrm>
            <a:off x="9509760" y="0"/>
            <a:ext cx="2682240" cy="6858000"/>
          </a:xfrm>
          <a:prstGeom prst="rect">
            <a:avLst/>
          </a:prstGeom>
          <a:solidFill>
            <a:srgbClr val="E7F6FF">
              <a:alpha val="92000"/>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dex_template_header_band">
            <a:extLst>
              <a:ext uri="{FF2B5EF4-FFF2-40B4-BE49-F238E27FC236}">
                <a16:creationId xmlns:a16="http://schemas.microsoft.com/office/drawing/2014/main" id="{C5A0CFF0-C1ED-D1A6-7C1C-D8C57ABDAEDE}"/>
              </a:ext>
            </a:extLst>
          </p:cNvPr>
          <p:cNvSpPr/>
          <p:nvPr/>
        </p:nvSpPr>
        <p:spPr>
          <a:xfrm>
            <a:off x="0" y="0"/>
            <a:ext cx="12192000" cy="812800"/>
          </a:xfrm>
          <a:prstGeom prst="rect">
            <a:avLst/>
          </a:prstGeom>
          <a:solidFill>
            <a:srgbClr val="ECF7FF">
              <a:alpha val="95000"/>
            </a:srgbClr>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dex_template_background">
            <a:extLst>
              <a:ext uri="{FF2B5EF4-FFF2-40B4-BE49-F238E27FC236}">
                <a16:creationId xmlns:a16="http://schemas.microsoft.com/office/drawing/2014/main" id="{14F4C67B-5D03-CB18-96D5-4B3E2349AF7B}"/>
              </a:ext>
            </a:extLst>
          </p:cNvPr>
          <p:cNvSpPr/>
          <p:nvPr/>
        </p:nvSpPr>
        <p:spPr>
          <a:xfrm>
            <a:off x="0" y="0"/>
            <a:ext cx="12192000" cy="6858000"/>
          </a:xfrm>
          <a:prstGeom prst="rect">
            <a:avLst/>
          </a:prstGeom>
          <a:solidFill>
            <a:srgbClr val="F8FBFF"/>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AutoShape 2">
            <a:extLst>
              <a:ext uri="{FF2B5EF4-FFF2-40B4-BE49-F238E27FC236}">
                <a16:creationId xmlns:a16="http://schemas.microsoft.com/office/drawing/2014/main" id="{94FD6F2E-BFDF-6E5E-AFAA-6D4675FA33D4}"/>
              </a:ext>
            </a:extLst>
          </p:cNvPr>
          <p:cNvSpPr/>
          <p:nvPr/>
        </p:nvSpPr>
        <p:spPr>
          <a:xfrm>
            <a:off x="0" y="2667000"/>
            <a:ext cx="12192000" cy="1524000"/>
          </a:xfrm>
          <a:prstGeom prst="roundRect">
            <a:avLst>
              <a:gd name="adj" fmla="val 0"/>
            </a:avLst>
          </a:prstGeom>
          <a:solidFill>
            <a:srgbClr val="1A365D">
              <a:alpha val="100000"/>
            </a:srgbClr>
          </a:solidFill>
          <a:ln w="25400" cap="flat" cmpd="sng">
            <a:noFill/>
            <a:prstDash val="solid"/>
            <a:round/>
          </a:ln>
        </p:spPr>
        <p:txBody>
          <a:bodyPr vert="horz" wrap="square" lIns="101600" tIns="63500" rIns="101600" bIns="63500" rtlCol="0" anchor="ctr">
            <a:normAutofit/>
          </a:bodyPr>
          <a:lstStyle/>
          <a:p>
            <a:pPr algn="ctr">
              <a:defRPr/>
            </a:pPr>
            <a:r>
              <a:rPr lang="en-US" sz="4000" dirty="0">
                <a:solidFill>
                  <a:schemeClr val="bg1"/>
                </a:solidFill>
                <a:latin typeface="Aptos Display" panose="020B0004020202020204" pitchFamily="34" charset="0"/>
              </a:rPr>
              <a:t>Thank You</a:t>
            </a:r>
            <a:endParaRPr sz="4000" dirty="0">
              <a:solidFill>
                <a:schemeClr val="bg1"/>
              </a:solidFill>
              <a:latin typeface="Aptos Display" panose="020B0004020202020204" pitchFamily="34" charset="0"/>
            </a:endParaRPr>
          </a:p>
        </p:txBody>
      </p:sp>
      <p:sp>
        <p:nvSpPr>
          <p:cNvPr id="6" name="codex_template_top_accent">
            <a:extLst>
              <a:ext uri="{FF2B5EF4-FFF2-40B4-BE49-F238E27FC236}">
                <a16:creationId xmlns:a16="http://schemas.microsoft.com/office/drawing/2014/main" id="{BFA00E01-55F7-9DC9-EA14-3D146244F478}"/>
              </a:ext>
            </a:extLst>
          </p:cNvPr>
          <p:cNvSpPr/>
          <p:nvPr/>
        </p:nvSpPr>
        <p:spPr>
          <a:xfrm>
            <a:off x="0" y="0"/>
            <a:ext cx="12192000" cy="88900"/>
          </a:xfrm>
          <a:prstGeom prst="rect">
            <a:avLst/>
          </a:prstGeom>
          <a:solidFill>
            <a:srgbClr val="00A9E0"/>
          </a:solidFill>
          <a:ln w="25400" cap="flat" cmpd="sng" algn="ctr">
            <a:noFill/>
            <a:prstDash val="solid"/>
          </a:ln>
          <a:effectLst/>
          <a:extLst>
            <a:ext uri="{91240B29-F687-4F45-9708-019B960494DF}">
              <a14:hiddenLine xmlns:a14="http://schemas.microsoft.com/office/drawing/2010/main" w="25400" cap="flat" cmpd="sng" algn="ctr">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codex_template_header_line">
            <a:extLst>
              <a:ext uri="{FF2B5EF4-FFF2-40B4-BE49-F238E27FC236}">
                <a16:creationId xmlns:a16="http://schemas.microsoft.com/office/drawing/2014/main" id="{736C040F-6018-A0C1-592D-38931175AEFE}"/>
              </a:ext>
            </a:extLst>
          </p:cNvPr>
          <p:cNvCxnSpPr/>
          <p:nvPr/>
        </p:nvCxnSpPr>
        <p:spPr>
          <a:xfrm>
            <a:off x="0" y="812800"/>
            <a:ext cx="12192000" cy="0"/>
          </a:xfrm>
          <a:prstGeom prst="line">
            <a:avLst/>
          </a:prstGeom>
          <a:ln w="12700">
            <a:solidFill>
              <a:srgbClr val="D6E8F6"/>
            </a:solidFill>
          </a:ln>
        </p:spPr>
        <p:style>
          <a:lnRef idx="1">
            <a:schemeClr val="accent1"/>
          </a:lnRef>
          <a:fillRef idx="0">
            <a:schemeClr val="accent1"/>
          </a:fillRef>
          <a:effectRef idx="0">
            <a:schemeClr val="accent1"/>
          </a:effectRef>
          <a:fontRef idx="minor">
            <a:schemeClr val="tx1"/>
          </a:fontRef>
        </p:style>
      </p:cxnSp>
      <p:sp>
        <p:nvSpPr>
          <p:cNvPr id="8" name="codex_template_footer">
            <a:extLst>
              <a:ext uri="{FF2B5EF4-FFF2-40B4-BE49-F238E27FC236}">
                <a16:creationId xmlns:a16="http://schemas.microsoft.com/office/drawing/2014/main" id="{3AF62EA3-3B15-9954-7947-F3AA88CB4BB6}"/>
              </a:ext>
            </a:extLst>
          </p:cNvPr>
          <p:cNvSpPr txBox="1"/>
          <p:nvPr/>
        </p:nvSpPr>
        <p:spPr>
          <a:xfrm>
            <a:off x="355600" y="6553200"/>
            <a:ext cx="10668000" cy="215444"/>
          </a:xfrm>
          <a:prstGeom prst="rect">
            <a:avLst/>
          </a:prstGeom>
          <a:noFill/>
        </p:spPr>
        <p:txBody>
          <a:bodyPr vert="horz" rtlCol="0">
            <a:spAutoFit/>
          </a:bodyPr>
          <a:lstStyle/>
          <a:p>
            <a:r>
              <a:rPr lang="en-US" sz="800">
                <a:solidFill>
                  <a:srgbClr val="566982"/>
                </a:solidFill>
                <a:latin typeface="Aptos" panose="020B0004020202020204" pitchFamily="34" charset="0"/>
              </a:rPr>
              <a:t>Enterprise Reconciliation Platform | Principal Engineer / Architect Assessment</a:t>
            </a:r>
          </a:p>
        </p:txBody>
      </p:sp>
      <p:sp>
        <p:nvSpPr>
          <p:cNvPr id="9" name="codex_template_slide_number">
            <a:extLst>
              <a:ext uri="{FF2B5EF4-FFF2-40B4-BE49-F238E27FC236}">
                <a16:creationId xmlns:a16="http://schemas.microsoft.com/office/drawing/2014/main" id="{D55B698C-FA31-7013-0537-B90B0709C50B}"/>
              </a:ext>
            </a:extLst>
          </p:cNvPr>
          <p:cNvSpPr txBox="1"/>
          <p:nvPr/>
        </p:nvSpPr>
        <p:spPr>
          <a:xfrm>
            <a:off x="11557000" y="6553200"/>
            <a:ext cx="355600" cy="215444"/>
          </a:xfrm>
          <a:prstGeom prst="rect">
            <a:avLst/>
          </a:prstGeom>
          <a:noFill/>
        </p:spPr>
        <p:txBody>
          <a:bodyPr vert="horz" rtlCol="0">
            <a:spAutoFit/>
          </a:bodyPr>
          <a:lstStyle/>
          <a:p>
            <a:r>
              <a:rPr lang="en-US" sz="800">
                <a:solidFill>
                  <a:srgbClr val="566982"/>
                </a:solidFill>
                <a:latin typeface="Aptos" panose="020B0004020202020204" pitchFamily="34" charset="0"/>
              </a:rPr>
              <a:t>21</a:t>
            </a:r>
          </a:p>
        </p:txBody>
      </p:sp>
    </p:spTree>
    <p:extLst>
      <p:ext uri="{BB962C8B-B14F-4D97-AF65-F5344CB8AC3E}">
        <p14:creationId xmlns:p14="http://schemas.microsoft.com/office/powerpoint/2010/main" val="279361671"/>
      </p:ext>
    </p:extLst>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178</TotalTime>
  <Words>1958</Words>
  <Application>Microsoft Office PowerPoint</Application>
  <PresentationFormat>Widescreen</PresentationFormat>
  <Paragraphs>298</Paragraphs>
  <Slides>20</Slides>
  <Notes>5</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20</vt:i4>
      </vt:variant>
    </vt:vector>
  </HeadingPairs>
  <TitlesOfParts>
    <vt:vector size="25" baseType="lpstr">
      <vt:lpstr>Aptos</vt:lpstr>
      <vt:lpstr>Aptos Display</vt:lpstr>
      <vt:lpstr>Arial</vt:lpstr>
      <vt:lpstr>Office 主题​​</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Ravi Kumar Kotapati</dc:creator>
  <cp:lastModifiedBy>Ravi Kumar Kotapati</cp:lastModifiedBy>
  <cp:revision>10</cp:revision>
  <dcterms:modified xsi:type="dcterms:W3CDTF">2026-05-10T06:39:24Z</dcterms:modified>
</cp:coreProperties>
</file>